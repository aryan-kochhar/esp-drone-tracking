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1" r:id="rId14"/>
    <p:sldId id="272" r:id="rId15"/>
    <p:sldId id="268" r:id="rId16"/>
    <p:sldId id="269" r:id="rId17"/>
    <p:sldId id="270"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4" d="100"/>
          <a:sy n="104" d="100"/>
        </p:scale>
        <p:origin x="284" y="8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55235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with the framing, not the title. One sentence: this measures how crowded a space is without ever forming an image of it. Introduce both names, then move on — do not read the chip grid aloud, it is there so the panel can see the whole pipeline at once.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four numbers are the design in miniature. Pause on the zero — it is a design constraint we chose, not a capability we lack. Say the warm box out loud; it pre-empts the novelty question before anyone asks it.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motivation slide, so do not rush it. Concrete framing: in a crush, the operator needs to know where pressure is building, not who is standing there. Be honest that cameras are more accurate — the argument is about what you give up to get that accuracy.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key technical fact is that probe requests are unencrypted and already in the air. Detection is a library call. The rust line is the actual project: turning a noisy scalar into a stable coordinate. If you only land one sentence on this slide, land that one.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objectives 1 and 3; summarise 2 and 4. If asked why four rather than one: they are strictly sequential, each a precondition for the next. Objective 2 is the one most likely to disappoint in practice, and saying so first is better than being caught by it.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the five stages left to right, once. The thing to land is the warm box — the nodes are stateless and none of them knows where it is, which is why adding a fourth node is a config change rather than a redesign.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 not read the code. Point at two lines only: the RSSI read, and the payload+10 offset that gets you addr2. The warm box is the honest limitation — one radio cannot listen and transmit at the same time, so every upload costs you capture.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Slowest slide in the deck. Do not rush the model. Be upfront that the backend currently uses the default values, −40 dBm and n = 2.0, not calibrated ones — slide 14 puts a number on why that matters. If the panel asks about accuracy, point forward to slide 14.</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the figure, not the equations. The line that matters: three circles essentially never meet at a point, and that is exactly why the solver is least squares rather than algebra. The equations are there for the record.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Move quickly here. Two claims: subtracting one equation linearises the system, and the solution is closed form so it costs nothing to run per frame. The weighted least squares box is your answer to 'how do you handle noise' — have it ready.</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stages. Spend your time on stage 2. The time window is the thing that stops a device which left the building an hour ago from being confidently plotted somewhere plausible and wrong.</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Short slide, keep it short. The canvas drawn here is a mock — the next slide shows the real solver running on a simulated crowd. The one substantive point: the node anchors are read from the same config file the solver uses, so there is a single source of truth for geometry.</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Let it play — 42 seconds, and it loops, so talk over it. The five chips top-right light up in order: deploy, listen, range, solve, map. Say two things out loud. First: every estimate in the right-hand panel is computed by our backend's own trilateration code from simulated signal strengths — this is the real algorithm running, not an animation of it. Second: left is ground truth, right is what the system believes, and the gap between them is the error. If asked why the map lags a moving crowd: the backend averages five frames per node, so it trails by a few probe intervals. Real phones probe far less often than in this time-accelerated run, so in the field that lag would be much longer — an honest limitation worth naming.</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This is the deck's quantitative result, and it is simulated — say that first. 282,240 runs of our own solver over the whole area, with 4 dB of signal noise per frame. Median error is 2.8 m inside the node triangle and 4.8 m outside it — same noise, worse geometry. The number to land is the rust one: if the room actually decays at n = 2.7 while the backend assumes 2.0, median error jumps to about 35 m. That one constant decides whether the system works, which is why calibrating it on site is the first step of a real deployment. The map also says how to fly: put the triangle over the area you care about.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Deliver all three unprompted and at pace — a panel trusts a proposal that names its own weaknesses first. Volunteer MAC randomisation especially, because it is the sharpest attack available and the warm box is your answer to it.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 not read all four applications. Pick crowd safety and disaster response and let the other two sit on the slide. The warm box is the framing to land: this system trades an exact count for a relative density that is available in the dark.</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on what is real: the hardware streams, the backend solves, the dashboard draws, and the simulation shows the whole deployment end to end with our own solver. Then be direct about what is not done: no field accuracy number yet, because n has not been calibrated on site. Naming that yourself is a stronger close than being asked for it.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5096" cy="182880"/>
          </a:xfrm>
          <a:prstGeom prst="rect">
            <a:avLst/>
          </a:prstGeom>
          <a:noFill/>
        </p:spPr>
        <p:txBody>
          <a:bodyPr wrap="square" lIns="0" tIns="0" rIns="0" bIns="0">
            <a:spAutoFit/>
          </a:bodyPr>
          <a:lstStyle/>
          <a:p>
            <a:r>
              <a:rPr sz="1050" b="1">
                <a:solidFill>
                  <a:srgbClr val="16416E"/>
                </a:solidFill>
                <a:latin typeface="Arial"/>
              </a:rPr>
              <a:t>FINAL REVIEW  /  AUTONOMOUS DRONES  /  FALL 2026-27</a:t>
            </a:r>
          </a:p>
        </p:txBody>
      </p:sp>
      <p:sp>
        <p:nvSpPr>
          <p:cNvPr id="3" name="TextBox 2"/>
          <p:cNvSpPr txBox="1"/>
          <p:nvPr/>
        </p:nvSpPr>
        <p:spPr>
          <a:xfrm>
            <a:off x="566928" y="914400"/>
            <a:ext cx="11055096" cy="713232"/>
          </a:xfrm>
          <a:prstGeom prst="rect">
            <a:avLst/>
          </a:prstGeom>
          <a:noFill/>
        </p:spPr>
        <p:txBody>
          <a:bodyPr wrap="square" lIns="0" tIns="0" rIns="0" bIns="0">
            <a:spAutoFit/>
          </a:bodyPr>
          <a:lstStyle/>
          <a:p>
            <a:r>
              <a:rPr sz="4600" b="1">
                <a:solidFill>
                  <a:srgbClr val="101823"/>
                </a:solidFill>
                <a:latin typeface="Arial"/>
              </a:rPr>
              <a:t>Drone-Based Crowd Monitoring,</a:t>
            </a:r>
          </a:p>
        </p:txBody>
      </p:sp>
      <p:sp>
        <p:nvSpPr>
          <p:cNvPr id="4" name="TextBox 3"/>
          <p:cNvSpPr txBox="1"/>
          <p:nvPr/>
        </p:nvSpPr>
        <p:spPr>
          <a:xfrm>
            <a:off x="566928" y="1591056"/>
            <a:ext cx="11055096" cy="713232"/>
          </a:xfrm>
          <a:prstGeom prst="rect">
            <a:avLst/>
          </a:prstGeom>
          <a:noFill/>
        </p:spPr>
        <p:txBody>
          <a:bodyPr wrap="square" lIns="0" tIns="0" rIns="0" bIns="0">
            <a:spAutoFit/>
          </a:bodyPr>
          <a:lstStyle/>
          <a:p>
            <a:r>
              <a:rPr sz="4600" b="0">
                <a:solidFill>
                  <a:srgbClr val="5C6875"/>
                </a:solidFill>
                <a:latin typeface="Arial"/>
              </a:rPr>
              <a:t>Without a Single Camera</a:t>
            </a:r>
          </a:p>
        </p:txBody>
      </p:sp>
      <p:sp>
        <p:nvSpPr>
          <p:cNvPr id="5" name="TextBox 4"/>
          <p:cNvSpPr txBox="1"/>
          <p:nvPr/>
        </p:nvSpPr>
        <p:spPr>
          <a:xfrm>
            <a:off x="566928" y="2395728"/>
            <a:ext cx="11055096" cy="365760"/>
          </a:xfrm>
          <a:prstGeom prst="rect">
            <a:avLst/>
          </a:prstGeom>
          <a:noFill/>
        </p:spPr>
        <p:txBody>
          <a:bodyPr wrap="square" lIns="0" tIns="0" rIns="0" bIns="0">
            <a:spAutoFit/>
          </a:bodyPr>
          <a:lstStyle/>
          <a:p>
            <a:r>
              <a:rPr sz="1600" b="0">
                <a:solidFill>
                  <a:srgbClr val="5C6875"/>
                </a:solidFill>
                <a:latin typeface="Calibri"/>
              </a:rPr>
              <a:t>Locating people by the WiFi their phones already broadcast — ESP32 packet sniffing, RSSI trilateration, and a live density map.</a:t>
            </a:r>
          </a:p>
        </p:txBody>
      </p:sp>
      <p:sp>
        <p:nvSpPr>
          <p:cNvPr id="6" name="TextBox 5"/>
          <p:cNvSpPr txBox="1"/>
          <p:nvPr/>
        </p:nvSpPr>
        <p:spPr>
          <a:xfrm>
            <a:off x="566928" y="2944368"/>
            <a:ext cx="7315200" cy="219456"/>
          </a:xfrm>
          <a:prstGeom prst="rect">
            <a:avLst/>
          </a:prstGeom>
          <a:noFill/>
        </p:spPr>
        <p:txBody>
          <a:bodyPr wrap="square" lIns="0" tIns="0" rIns="0" bIns="0">
            <a:spAutoFit/>
          </a:bodyPr>
          <a:lstStyle/>
          <a:p>
            <a:r>
              <a:rPr sz="1000" b="1">
                <a:solidFill>
                  <a:srgbClr val="5C6875"/>
                </a:solidFill>
                <a:latin typeface="Arial"/>
              </a:rPr>
              <a:t>MEASUREMENT CHAIN  —  THREE STAGES BUILT FOR THIS REVIEW</a:t>
            </a:r>
          </a:p>
        </p:txBody>
      </p:sp>
      <p:sp>
        <p:nvSpPr>
          <p:cNvPr id="7" name="TextBox 6"/>
          <p:cNvSpPr txBox="1"/>
          <p:nvPr/>
        </p:nvSpPr>
        <p:spPr>
          <a:xfrm>
            <a:off x="566928" y="3310128"/>
            <a:ext cx="914400" cy="237744"/>
          </a:xfrm>
          <a:prstGeom prst="rect">
            <a:avLst/>
          </a:prstGeom>
          <a:noFill/>
        </p:spPr>
        <p:txBody>
          <a:bodyPr wrap="square" lIns="0" tIns="0" rIns="0" bIns="0">
            <a:spAutoFit/>
          </a:bodyPr>
          <a:lstStyle/>
          <a:p>
            <a:r>
              <a:rPr sz="950" b="1">
                <a:solidFill>
                  <a:srgbClr val="5C6875"/>
                </a:solidFill>
                <a:latin typeface="Arial"/>
              </a:rPr>
              <a:t>CAPTURE</a:t>
            </a:r>
          </a:p>
        </p:txBody>
      </p:sp>
      <p:sp>
        <p:nvSpPr>
          <p:cNvPr id="8" name="Rectangle 7"/>
          <p:cNvSpPr/>
          <p:nvPr/>
        </p:nvSpPr>
        <p:spPr>
          <a:xfrm>
            <a:off x="1554480" y="3236976"/>
            <a:ext cx="1645920" cy="310896"/>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554480" y="3310128"/>
            <a:ext cx="1645920" cy="219456"/>
          </a:xfrm>
          <a:prstGeom prst="rect">
            <a:avLst/>
          </a:prstGeom>
          <a:noFill/>
        </p:spPr>
        <p:txBody>
          <a:bodyPr wrap="square" lIns="0" tIns="0" rIns="0" bIns="0">
            <a:spAutoFit/>
          </a:bodyPr>
          <a:lstStyle/>
          <a:p>
            <a:pPr algn="ctr"/>
            <a:r>
              <a:rPr sz="1000" b="0">
                <a:solidFill>
                  <a:srgbClr val="101823"/>
                </a:solidFill>
                <a:latin typeface="Consolas"/>
              </a:rPr>
              <a:t>promiscuous</a:t>
            </a:r>
          </a:p>
        </p:txBody>
      </p:sp>
      <p:sp>
        <p:nvSpPr>
          <p:cNvPr id="10" name="Rectangle 9"/>
          <p:cNvSpPr/>
          <p:nvPr/>
        </p:nvSpPr>
        <p:spPr>
          <a:xfrm>
            <a:off x="3291839" y="3236976"/>
            <a:ext cx="1645920" cy="310896"/>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3291839" y="3310128"/>
            <a:ext cx="1645920" cy="219456"/>
          </a:xfrm>
          <a:prstGeom prst="rect">
            <a:avLst/>
          </a:prstGeom>
          <a:noFill/>
        </p:spPr>
        <p:txBody>
          <a:bodyPr wrap="square" lIns="0" tIns="0" rIns="0" bIns="0">
            <a:spAutoFit/>
          </a:bodyPr>
          <a:lstStyle/>
          <a:p>
            <a:pPr algn="ctr"/>
            <a:r>
              <a:rPr sz="1000" b="0">
                <a:solidFill>
                  <a:srgbClr val="101823"/>
                </a:solidFill>
                <a:latin typeface="Consolas"/>
              </a:rPr>
              <a:t>MAC + RSSI</a:t>
            </a:r>
          </a:p>
        </p:txBody>
      </p:sp>
      <p:sp>
        <p:nvSpPr>
          <p:cNvPr id="12" name="Rectangle 11"/>
          <p:cNvSpPr/>
          <p:nvPr/>
        </p:nvSpPr>
        <p:spPr>
          <a:xfrm>
            <a:off x="5029200" y="3236976"/>
            <a:ext cx="1645920" cy="310896"/>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5029200" y="3310128"/>
            <a:ext cx="1645920" cy="219456"/>
          </a:xfrm>
          <a:prstGeom prst="rect">
            <a:avLst/>
          </a:prstGeom>
          <a:noFill/>
        </p:spPr>
        <p:txBody>
          <a:bodyPr wrap="square" lIns="0" tIns="0" rIns="0" bIns="0">
            <a:spAutoFit/>
          </a:bodyPr>
          <a:lstStyle/>
          <a:p>
            <a:pPr algn="ctr"/>
            <a:r>
              <a:rPr sz="1000" b="0">
                <a:solidFill>
                  <a:srgbClr val="101823"/>
                </a:solidFill>
                <a:latin typeface="Consolas"/>
              </a:rPr>
              <a:t>no handshake</a:t>
            </a:r>
          </a:p>
        </p:txBody>
      </p:sp>
      <p:sp>
        <p:nvSpPr>
          <p:cNvPr id="14" name="TextBox 13"/>
          <p:cNvSpPr txBox="1"/>
          <p:nvPr/>
        </p:nvSpPr>
        <p:spPr>
          <a:xfrm>
            <a:off x="566928" y="3785616"/>
            <a:ext cx="914400" cy="237744"/>
          </a:xfrm>
          <a:prstGeom prst="rect">
            <a:avLst/>
          </a:prstGeom>
          <a:noFill/>
        </p:spPr>
        <p:txBody>
          <a:bodyPr wrap="square" lIns="0" tIns="0" rIns="0" bIns="0">
            <a:spAutoFit/>
          </a:bodyPr>
          <a:lstStyle/>
          <a:p>
            <a:r>
              <a:rPr sz="950" b="1">
                <a:solidFill>
                  <a:srgbClr val="5C6875"/>
                </a:solidFill>
                <a:latin typeface="Arial"/>
              </a:rPr>
              <a:t>RANGE</a:t>
            </a:r>
          </a:p>
        </p:txBody>
      </p:sp>
      <p:sp>
        <p:nvSpPr>
          <p:cNvPr id="15" name="Rectangle 14"/>
          <p:cNvSpPr/>
          <p:nvPr/>
        </p:nvSpPr>
        <p:spPr>
          <a:xfrm>
            <a:off x="1554480" y="3712464"/>
            <a:ext cx="1645920" cy="310896"/>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1554480" y="3785616"/>
            <a:ext cx="1645920" cy="219456"/>
          </a:xfrm>
          <a:prstGeom prst="rect">
            <a:avLst/>
          </a:prstGeom>
          <a:noFill/>
        </p:spPr>
        <p:txBody>
          <a:bodyPr wrap="square" lIns="0" tIns="0" rIns="0" bIns="0">
            <a:spAutoFit/>
          </a:bodyPr>
          <a:lstStyle/>
          <a:p>
            <a:pPr algn="ctr"/>
            <a:r>
              <a:rPr sz="1000" b="0">
                <a:solidFill>
                  <a:srgbClr val="101823"/>
                </a:solidFill>
                <a:latin typeface="Consolas"/>
              </a:rPr>
              <a:t>log-distance</a:t>
            </a:r>
          </a:p>
        </p:txBody>
      </p:sp>
      <p:sp>
        <p:nvSpPr>
          <p:cNvPr id="17" name="Rectangle 16"/>
          <p:cNvSpPr/>
          <p:nvPr/>
        </p:nvSpPr>
        <p:spPr>
          <a:xfrm>
            <a:off x="3291839" y="3712464"/>
            <a:ext cx="1645920" cy="310896"/>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3291839" y="3785616"/>
            <a:ext cx="1645920" cy="219456"/>
          </a:xfrm>
          <a:prstGeom prst="rect">
            <a:avLst/>
          </a:prstGeom>
          <a:noFill/>
        </p:spPr>
        <p:txBody>
          <a:bodyPr wrap="square" lIns="0" tIns="0" rIns="0" bIns="0">
            <a:spAutoFit/>
          </a:bodyPr>
          <a:lstStyle/>
          <a:p>
            <a:pPr algn="ctr"/>
            <a:r>
              <a:rPr sz="1000" b="0">
                <a:solidFill>
                  <a:srgbClr val="101823"/>
                </a:solidFill>
                <a:latin typeface="Consolas"/>
              </a:rPr>
              <a:t>path loss n</a:t>
            </a:r>
          </a:p>
        </p:txBody>
      </p:sp>
      <p:sp>
        <p:nvSpPr>
          <p:cNvPr id="19" name="Rectangle 18"/>
          <p:cNvSpPr/>
          <p:nvPr/>
        </p:nvSpPr>
        <p:spPr>
          <a:xfrm>
            <a:off x="5029200" y="3712464"/>
            <a:ext cx="1645920" cy="310896"/>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5029200" y="3785616"/>
            <a:ext cx="1645920" cy="219456"/>
          </a:xfrm>
          <a:prstGeom prst="rect">
            <a:avLst/>
          </a:prstGeom>
          <a:noFill/>
        </p:spPr>
        <p:txBody>
          <a:bodyPr wrap="square" lIns="0" tIns="0" rIns="0" bIns="0">
            <a:spAutoFit/>
          </a:bodyPr>
          <a:lstStyle/>
          <a:p>
            <a:pPr algn="ctr"/>
            <a:r>
              <a:rPr sz="1000" b="0">
                <a:solidFill>
                  <a:srgbClr val="101823"/>
                </a:solidFill>
                <a:latin typeface="Consolas"/>
              </a:rPr>
              <a:t>→ metres</a:t>
            </a:r>
          </a:p>
        </p:txBody>
      </p:sp>
      <p:sp>
        <p:nvSpPr>
          <p:cNvPr id="21" name="TextBox 20"/>
          <p:cNvSpPr txBox="1"/>
          <p:nvPr/>
        </p:nvSpPr>
        <p:spPr>
          <a:xfrm>
            <a:off x="566928" y="4261104"/>
            <a:ext cx="914400" cy="237744"/>
          </a:xfrm>
          <a:prstGeom prst="rect">
            <a:avLst/>
          </a:prstGeom>
          <a:noFill/>
        </p:spPr>
        <p:txBody>
          <a:bodyPr wrap="square" lIns="0" tIns="0" rIns="0" bIns="0">
            <a:spAutoFit/>
          </a:bodyPr>
          <a:lstStyle/>
          <a:p>
            <a:r>
              <a:rPr sz="950" b="1">
                <a:solidFill>
                  <a:srgbClr val="5C6875"/>
                </a:solidFill>
                <a:latin typeface="Arial"/>
              </a:rPr>
              <a:t>RESOLVE</a:t>
            </a:r>
          </a:p>
        </p:txBody>
      </p:sp>
      <p:sp>
        <p:nvSpPr>
          <p:cNvPr id="22" name="Rectangle 21"/>
          <p:cNvSpPr/>
          <p:nvPr/>
        </p:nvSpPr>
        <p:spPr>
          <a:xfrm>
            <a:off x="1554480" y="4187952"/>
            <a:ext cx="1645920" cy="310896"/>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1554480" y="4261104"/>
            <a:ext cx="1645920" cy="219456"/>
          </a:xfrm>
          <a:prstGeom prst="rect">
            <a:avLst/>
          </a:prstGeom>
          <a:noFill/>
        </p:spPr>
        <p:txBody>
          <a:bodyPr wrap="square" lIns="0" tIns="0" rIns="0" bIns="0">
            <a:spAutoFit/>
          </a:bodyPr>
          <a:lstStyle/>
          <a:p>
            <a:pPr algn="ctr"/>
            <a:r>
              <a:rPr sz="1000" b="0">
                <a:solidFill>
                  <a:srgbClr val="101823"/>
                </a:solidFill>
                <a:latin typeface="Consolas"/>
              </a:rPr>
              <a:t>three circles</a:t>
            </a:r>
          </a:p>
        </p:txBody>
      </p:sp>
      <p:sp>
        <p:nvSpPr>
          <p:cNvPr id="24" name="Rectangle 23"/>
          <p:cNvSpPr/>
          <p:nvPr/>
        </p:nvSpPr>
        <p:spPr>
          <a:xfrm>
            <a:off x="3291839" y="4187952"/>
            <a:ext cx="1645920" cy="310896"/>
          </a:xfrm>
          <a:prstGeom prst="rect">
            <a:avLst/>
          </a:prstGeom>
          <a:solidFill>
            <a:srgbClr val="F6E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3291839" y="4261104"/>
            <a:ext cx="1645920" cy="219456"/>
          </a:xfrm>
          <a:prstGeom prst="rect">
            <a:avLst/>
          </a:prstGeom>
          <a:noFill/>
        </p:spPr>
        <p:txBody>
          <a:bodyPr wrap="square" lIns="0" tIns="0" rIns="0" bIns="0">
            <a:spAutoFit/>
          </a:bodyPr>
          <a:lstStyle/>
          <a:p>
            <a:pPr algn="ctr"/>
            <a:r>
              <a:rPr sz="1000" b="1">
                <a:solidFill>
                  <a:srgbClr val="B14A20"/>
                </a:solidFill>
                <a:latin typeface="Consolas"/>
              </a:rPr>
              <a:t>least squares</a:t>
            </a:r>
          </a:p>
        </p:txBody>
      </p:sp>
      <p:sp>
        <p:nvSpPr>
          <p:cNvPr id="26" name="Rectangle 25"/>
          <p:cNvSpPr/>
          <p:nvPr/>
        </p:nvSpPr>
        <p:spPr>
          <a:xfrm>
            <a:off x="5029200" y="4187952"/>
            <a:ext cx="1645920" cy="310896"/>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029200" y="4261104"/>
            <a:ext cx="1645920" cy="219456"/>
          </a:xfrm>
          <a:prstGeom prst="rect">
            <a:avLst/>
          </a:prstGeom>
          <a:noFill/>
        </p:spPr>
        <p:txBody>
          <a:bodyPr wrap="square" lIns="0" tIns="0" rIns="0" bIns="0">
            <a:spAutoFit/>
          </a:bodyPr>
          <a:lstStyle/>
          <a:p>
            <a:pPr algn="ctr"/>
            <a:r>
              <a:rPr sz="1000" b="0">
                <a:solidFill>
                  <a:srgbClr val="101823"/>
                </a:solidFill>
                <a:latin typeface="Consolas"/>
              </a:rPr>
              <a:t>→ (x, y)</a:t>
            </a:r>
          </a:p>
        </p:txBody>
      </p:sp>
      <p:sp>
        <p:nvSpPr>
          <p:cNvPr id="28" name="TextBox 27"/>
          <p:cNvSpPr txBox="1"/>
          <p:nvPr/>
        </p:nvSpPr>
        <p:spPr>
          <a:xfrm>
            <a:off x="6903720" y="3310128"/>
            <a:ext cx="2926080" cy="274320"/>
          </a:xfrm>
          <a:prstGeom prst="rect">
            <a:avLst/>
          </a:prstGeom>
          <a:noFill/>
        </p:spPr>
        <p:txBody>
          <a:bodyPr wrap="square" lIns="0" tIns="0" rIns="0" bIns="0">
            <a:spAutoFit/>
          </a:bodyPr>
          <a:lstStyle/>
          <a:p>
            <a:r>
              <a:rPr sz="1100" b="0">
                <a:solidFill>
                  <a:srgbClr val="5C6875"/>
                </a:solidFill>
                <a:latin typeface="Calibri"/>
              </a:rPr>
              <a:t>3 nodes, 1 solver</a:t>
            </a:r>
          </a:p>
        </p:txBody>
      </p:sp>
      <p:sp>
        <p:nvSpPr>
          <p:cNvPr id="29" name="TextBox 28"/>
          <p:cNvSpPr txBox="1"/>
          <p:nvPr/>
        </p:nvSpPr>
        <p:spPr>
          <a:xfrm>
            <a:off x="6903720" y="3785615"/>
            <a:ext cx="2926080" cy="274320"/>
          </a:xfrm>
          <a:prstGeom prst="rect">
            <a:avLst/>
          </a:prstGeom>
          <a:noFill/>
        </p:spPr>
        <p:txBody>
          <a:bodyPr wrap="square" lIns="0" tIns="0" rIns="0" bIns="0">
            <a:spAutoFit/>
          </a:bodyPr>
          <a:lstStyle/>
          <a:p>
            <a:r>
              <a:rPr sz="1100" b="0">
                <a:solidFill>
                  <a:srgbClr val="5C6875"/>
                </a:solidFill>
                <a:latin typeface="Calibri"/>
              </a:rPr>
              <a:t>&lt; 1 s capture to map</a:t>
            </a:r>
          </a:p>
        </p:txBody>
      </p:sp>
      <p:sp>
        <p:nvSpPr>
          <p:cNvPr id="30" name="TextBox 29"/>
          <p:cNvSpPr txBox="1"/>
          <p:nvPr/>
        </p:nvSpPr>
        <p:spPr>
          <a:xfrm>
            <a:off x="6903720" y="4261104"/>
            <a:ext cx="3291840" cy="274320"/>
          </a:xfrm>
          <a:prstGeom prst="rect">
            <a:avLst/>
          </a:prstGeom>
          <a:noFill/>
        </p:spPr>
        <p:txBody>
          <a:bodyPr wrap="square" lIns="0" tIns="0" rIns="0" bIns="0">
            <a:spAutoFit/>
          </a:bodyPr>
          <a:lstStyle/>
          <a:p>
            <a:r>
              <a:rPr sz="1100" b="0">
                <a:solidFill>
                  <a:srgbClr val="B14A20"/>
                </a:solidFill>
                <a:latin typeface="Calibri"/>
              </a:rPr>
              <a:t>0 cameras anywhere in the loop</a:t>
            </a:r>
          </a:p>
        </p:txBody>
      </p:sp>
      <p:sp>
        <p:nvSpPr>
          <p:cNvPr id="31" name="Rectangle 30"/>
          <p:cNvSpPr/>
          <p:nvPr/>
        </p:nvSpPr>
        <p:spPr>
          <a:xfrm>
            <a:off x="566928" y="5047488"/>
            <a:ext cx="11055096" cy="10972"/>
          </a:xfrm>
          <a:prstGeom prst="rect">
            <a:avLst/>
          </a:prstGeom>
          <a:solidFill>
            <a:srgbClr val="DF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566928" y="5266944"/>
            <a:ext cx="2743200" cy="219456"/>
          </a:xfrm>
          <a:prstGeom prst="rect">
            <a:avLst/>
          </a:prstGeom>
          <a:noFill/>
        </p:spPr>
        <p:txBody>
          <a:bodyPr wrap="square" lIns="0" tIns="0" rIns="0" bIns="0">
            <a:spAutoFit/>
          </a:bodyPr>
          <a:lstStyle/>
          <a:p>
            <a:r>
              <a:rPr sz="950" b="1">
                <a:solidFill>
                  <a:srgbClr val="5C6875"/>
                </a:solidFill>
                <a:latin typeface="Arial"/>
              </a:rPr>
              <a:t>TEAM</a:t>
            </a:r>
          </a:p>
        </p:txBody>
      </p:sp>
      <p:sp>
        <p:nvSpPr>
          <p:cNvPr id="33" name="TextBox 32"/>
          <p:cNvSpPr txBox="1"/>
          <p:nvPr/>
        </p:nvSpPr>
        <p:spPr>
          <a:xfrm>
            <a:off x="566928" y="5559552"/>
            <a:ext cx="3840480" cy="274320"/>
          </a:xfrm>
          <a:prstGeom prst="rect">
            <a:avLst/>
          </a:prstGeom>
          <a:noFill/>
        </p:spPr>
        <p:txBody>
          <a:bodyPr wrap="square" lIns="0" tIns="0" rIns="0" bIns="0">
            <a:spAutoFit/>
          </a:bodyPr>
          <a:lstStyle/>
          <a:p>
            <a:r>
              <a:rPr sz="1350" b="1">
                <a:solidFill>
                  <a:srgbClr val="101823"/>
                </a:solidFill>
                <a:latin typeface="Calibri"/>
              </a:rPr>
              <a:t>Aryan Kochhar</a:t>
            </a:r>
            <a:r>
              <a:rPr sz="1100" b="0">
                <a:solidFill>
                  <a:srgbClr val="5C6875"/>
                </a:solidFill>
                <a:latin typeface="Consolas"/>
              </a:rPr>
              <a:t>   23BAI1533</a:t>
            </a:r>
          </a:p>
        </p:txBody>
      </p:sp>
      <p:sp>
        <p:nvSpPr>
          <p:cNvPr id="34" name="TextBox 33"/>
          <p:cNvSpPr txBox="1"/>
          <p:nvPr/>
        </p:nvSpPr>
        <p:spPr>
          <a:xfrm>
            <a:off x="566928" y="5888736"/>
            <a:ext cx="3840480" cy="274320"/>
          </a:xfrm>
          <a:prstGeom prst="rect">
            <a:avLst/>
          </a:prstGeom>
          <a:noFill/>
        </p:spPr>
        <p:txBody>
          <a:bodyPr wrap="square" lIns="0" tIns="0" rIns="0" bIns="0">
            <a:spAutoFit/>
          </a:bodyPr>
          <a:lstStyle/>
          <a:p>
            <a:r>
              <a:rPr sz="1350" b="1">
                <a:solidFill>
                  <a:srgbClr val="101823"/>
                </a:solidFill>
                <a:latin typeface="Calibri"/>
              </a:rPr>
              <a:t>Hari Samhita</a:t>
            </a:r>
            <a:r>
              <a:rPr sz="1100" b="0">
                <a:solidFill>
                  <a:srgbClr val="5C6875"/>
                </a:solidFill>
                <a:latin typeface="Consolas"/>
              </a:rPr>
              <a:t>   23BAI1473</a:t>
            </a:r>
          </a:p>
        </p:txBody>
      </p:sp>
      <p:sp>
        <p:nvSpPr>
          <p:cNvPr id="37" name="TextBox 36"/>
          <p:cNvSpPr txBox="1"/>
          <p:nvPr/>
        </p:nvSpPr>
        <p:spPr>
          <a:xfrm>
            <a:off x="10981944" y="6437376"/>
            <a:ext cx="640080" cy="256032"/>
          </a:xfrm>
          <a:prstGeom prst="rect">
            <a:avLst/>
          </a:prstGeom>
          <a:noFill/>
        </p:spPr>
        <p:txBody>
          <a:bodyPr wrap="square" lIns="0" tIns="0" rIns="0" bIns="0">
            <a:spAutoFit/>
          </a:bodyPr>
          <a:lstStyle/>
          <a:p>
            <a:pPr algn="r"/>
            <a:r>
              <a:rPr sz="900" b="0">
                <a:solidFill>
                  <a:srgbClr val="5C6875"/>
                </a:solidFill>
                <a:latin typeface="Arial"/>
              </a:rP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5096" cy="237744"/>
          </a:xfrm>
          <a:prstGeom prst="rect">
            <a:avLst/>
          </a:prstGeom>
          <a:noFill/>
        </p:spPr>
        <p:txBody>
          <a:bodyPr wrap="square" lIns="0" tIns="0" rIns="0" bIns="0">
            <a:spAutoFit/>
          </a:bodyPr>
          <a:lstStyle/>
          <a:p>
            <a:r>
              <a:rPr sz="1050" b="1">
                <a:solidFill>
                  <a:srgbClr val="16416E"/>
                </a:solidFill>
                <a:latin typeface="Arial"/>
              </a:rPr>
              <a:t>SCOPE</a:t>
            </a:r>
          </a:p>
        </p:txBody>
      </p:sp>
      <p:sp>
        <p:nvSpPr>
          <p:cNvPr id="3" name="TextBox 2"/>
          <p:cNvSpPr txBox="1"/>
          <p:nvPr/>
        </p:nvSpPr>
        <p:spPr>
          <a:xfrm>
            <a:off x="566928" y="713232"/>
            <a:ext cx="11055096" cy="868680"/>
          </a:xfrm>
          <a:prstGeom prst="rect">
            <a:avLst/>
          </a:prstGeom>
          <a:noFill/>
        </p:spPr>
        <p:txBody>
          <a:bodyPr wrap="square" lIns="0" tIns="0" rIns="0" bIns="0">
            <a:spAutoFit/>
          </a:bodyPr>
          <a:lstStyle/>
          <a:p>
            <a:pPr>
              <a:lnSpc>
                <a:spcPct val="105000"/>
              </a:lnSpc>
            </a:pPr>
            <a:r>
              <a:rPr sz="3200" b="1">
                <a:solidFill>
                  <a:srgbClr val="101823"/>
                </a:solidFill>
                <a:latin typeface="Arial"/>
              </a:rPr>
              <a:t>Three radios, one solver, and no camera in the loop.</a:t>
            </a:r>
          </a:p>
        </p:txBody>
      </p:sp>
      <p:sp>
        <p:nvSpPr>
          <p:cNvPr id="4" name="TextBox 3"/>
          <p:cNvSpPr txBox="1"/>
          <p:nvPr/>
        </p:nvSpPr>
        <p:spPr>
          <a:xfrm>
            <a:off x="566928" y="1463040"/>
            <a:ext cx="11055096" cy="457200"/>
          </a:xfrm>
          <a:prstGeom prst="rect">
            <a:avLst/>
          </a:prstGeom>
          <a:noFill/>
        </p:spPr>
        <p:txBody>
          <a:bodyPr wrap="square" lIns="0" tIns="0" rIns="0" bIns="0">
            <a:spAutoFit/>
          </a:bodyPr>
          <a:lstStyle/>
          <a:p>
            <a:r>
              <a:rPr sz="1250" b="0">
                <a:solidFill>
                  <a:srgbClr val="5C6875"/>
                </a:solidFill>
                <a:latin typeface="Calibri"/>
              </a:rPr>
              <a:t>Everything below is fixed for the final build. The numbers are the design in miniature.</a:t>
            </a:r>
          </a:p>
        </p:txBody>
      </p:sp>
      <p:sp>
        <p:nvSpPr>
          <p:cNvPr id="5" name="Rectangle 4"/>
          <p:cNvSpPr/>
          <p:nvPr/>
        </p:nvSpPr>
        <p:spPr>
          <a:xfrm>
            <a:off x="566928" y="2084831"/>
            <a:ext cx="2560320" cy="221284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786384" y="2231136"/>
            <a:ext cx="2121408" cy="786384"/>
          </a:xfrm>
          <a:prstGeom prst="rect">
            <a:avLst/>
          </a:prstGeom>
          <a:noFill/>
        </p:spPr>
        <p:txBody>
          <a:bodyPr wrap="square" lIns="0" tIns="0" rIns="0" bIns="0">
            <a:spAutoFit/>
          </a:bodyPr>
          <a:lstStyle/>
          <a:p>
            <a:r>
              <a:rPr sz="5400" b="1">
                <a:solidFill>
                  <a:srgbClr val="16416E"/>
                </a:solidFill>
                <a:latin typeface="Arial"/>
              </a:rPr>
              <a:t>3</a:t>
            </a:r>
          </a:p>
        </p:txBody>
      </p:sp>
      <p:sp>
        <p:nvSpPr>
          <p:cNvPr id="7" name="TextBox 6"/>
          <p:cNvSpPr txBox="1"/>
          <p:nvPr/>
        </p:nvSpPr>
        <p:spPr>
          <a:xfrm>
            <a:off x="786384" y="3072384"/>
            <a:ext cx="2121408" cy="237744"/>
          </a:xfrm>
          <a:prstGeom prst="rect">
            <a:avLst/>
          </a:prstGeom>
          <a:noFill/>
        </p:spPr>
        <p:txBody>
          <a:bodyPr wrap="square" lIns="0" tIns="0" rIns="0" bIns="0">
            <a:spAutoFit/>
          </a:bodyPr>
          <a:lstStyle/>
          <a:p>
            <a:r>
              <a:rPr sz="950" b="1">
                <a:solidFill>
                  <a:srgbClr val="101823"/>
                </a:solidFill>
                <a:latin typeface="Arial"/>
              </a:rPr>
              <a:t>ESP32 NODES</a:t>
            </a:r>
          </a:p>
        </p:txBody>
      </p:sp>
      <p:sp>
        <p:nvSpPr>
          <p:cNvPr id="8" name="TextBox 7"/>
          <p:cNvSpPr txBox="1"/>
          <p:nvPr/>
        </p:nvSpPr>
        <p:spPr>
          <a:xfrm>
            <a:off x="786384" y="3383280"/>
            <a:ext cx="2121408" cy="822960"/>
          </a:xfrm>
          <a:prstGeom prst="rect">
            <a:avLst/>
          </a:prstGeom>
          <a:noFill/>
        </p:spPr>
        <p:txBody>
          <a:bodyPr wrap="square" lIns="0" tIns="0" rIns="0" bIns="0">
            <a:spAutoFit/>
          </a:bodyPr>
          <a:lstStyle/>
          <a:p>
            <a:pPr>
              <a:lnSpc>
                <a:spcPct val="112000"/>
              </a:lnSpc>
            </a:pPr>
            <a:r>
              <a:rPr sz="1100" b="0">
                <a:solidFill>
                  <a:srgbClr val="5C6875"/>
                </a:solidFill>
                <a:latin typeface="Calibri"/>
              </a:rPr>
              <a:t>The minimum for a unique two-dimensional fix. Each node captures independently and never talks to the others.</a:t>
            </a:r>
          </a:p>
        </p:txBody>
      </p:sp>
      <p:sp>
        <p:nvSpPr>
          <p:cNvPr id="9" name="Rectangle 8"/>
          <p:cNvSpPr/>
          <p:nvPr/>
        </p:nvSpPr>
        <p:spPr>
          <a:xfrm>
            <a:off x="3364992" y="2084831"/>
            <a:ext cx="2560320" cy="221284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3584448" y="2231136"/>
            <a:ext cx="2121408" cy="786384"/>
          </a:xfrm>
          <a:prstGeom prst="rect">
            <a:avLst/>
          </a:prstGeom>
          <a:noFill/>
        </p:spPr>
        <p:txBody>
          <a:bodyPr wrap="square" lIns="0" tIns="0" rIns="0" bIns="0">
            <a:spAutoFit/>
          </a:bodyPr>
          <a:lstStyle/>
          <a:p>
            <a:r>
              <a:rPr sz="5400" b="1">
                <a:solidFill>
                  <a:srgbClr val="16416E"/>
                </a:solidFill>
                <a:latin typeface="Arial"/>
              </a:rPr>
              <a:t>2K</a:t>
            </a:r>
          </a:p>
        </p:txBody>
      </p:sp>
      <p:sp>
        <p:nvSpPr>
          <p:cNvPr id="11" name="TextBox 10"/>
          <p:cNvSpPr txBox="1"/>
          <p:nvPr/>
        </p:nvSpPr>
        <p:spPr>
          <a:xfrm>
            <a:off x="3584448" y="3072384"/>
            <a:ext cx="2121408" cy="237744"/>
          </a:xfrm>
          <a:prstGeom prst="rect">
            <a:avLst/>
          </a:prstGeom>
          <a:noFill/>
        </p:spPr>
        <p:txBody>
          <a:bodyPr wrap="square" lIns="0" tIns="0" rIns="0" bIns="0">
            <a:spAutoFit/>
          </a:bodyPr>
          <a:lstStyle/>
          <a:p>
            <a:r>
              <a:rPr sz="950" b="1">
                <a:solidFill>
                  <a:srgbClr val="101823"/>
                </a:solidFill>
                <a:latin typeface="Arial"/>
              </a:rPr>
              <a:t>RUPEES OF HARDWARE</a:t>
            </a:r>
          </a:p>
        </p:txBody>
      </p:sp>
      <p:sp>
        <p:nvSpPr>
          <p:cNvPr id="12" name="TextBox 11"/>
          <p:cNvSpPr txBox="1"/>
          <p:nvPr/>
        </p:nvSpPr>
        <p:spPr>
          <a:xfrm>
            <a:off x="3584448" y="3383280"/>
            <a:ext cx="2121408" cy="822960"/>
          </a:xfrm>
          <a:prstGeom prst="rect">
            <a:avLst/>
          </a:prstGeom>
          <a:noFill/>
        </p:spPr>
        <p:txBody>
          <a:bodyPr wrap="square" lIns="0" tIns="0" rIns="0" bIns="0">
            <a:spAutoFit/>
          </a:bodyPr>
          <a:lstStyle/>
          <a:p>
            <a:pPr>
              <a:lnSpc>
                <a:spcPct val="112000"/>
              </a:lnSpc>
            </a:pPr>
            <a:r>
              <a:rPr sz="1100" b="0">
                <a:solidFill>
                  <a:srgbClr val="5C6875"/>
                </a:solidFill>
                <a:latin typeface="Calibri"/>
              </a:rPr>
              <a:t>Complete three-node cluster, power included — roughly two orders of magnitude under a camera install.</a:t>
            </a:r>
          </a:p>
        </p:txBody>
      </p:sp>
      <p:sp>
        <p:nvSpPr>
          <p:cNvPr id="13" name="Rectangle 12"/>
          <p:cNvSpPr/>
          <p:nvPr/>
        </p:nvSpPr>
        <p:spPr>
          <a:xfrm>
            <a:off x="6163056" y="2084831"/>
            <a:ext cx="2560320" cy="221284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382512" y="2231136"/>
            <a:ext cx="2121408" cy="786384"/>
          </a:xfrm>
          <a:prstGeom prst="rect">
            <a:avLst/>
          </a:prstGeom>
          <a:noFill/>
        </p:spPr>
        <p:txBody>
          <a:bodyPr wrap="square" lIns="0" tIns="0" rIns="0" bIns="0">
            <a:spAutoFit/>
          </a:bodyPr>
          <a:lstStyle/>
          <a:p>
            <a:r>
              <a:rPr sz="5400" b="1">
                <a:solidFill>
                  <a:srgbClr val="16416E"/>
                </a:solidFill>
                <a:latin typeface="Arial"/>
              </a:rPr>
              <a:t>&lt;1s</a:t>
            </a:r>
          </a:p>
        </p:txBody>
      </p:sp>
      <p:sp>
        <p:nvSpPr>
          <p:cNvPr id="15" name="TextBox 14"/>
          <p:cNvSpPr txBox="1"/>
          <p:nvPr/>
        </p:nvSpPr>
        <p:spPr>
          <a:xfrm>
            <a:off x="6382512" y="3072384"/>
            <a:ext cx="2121408" cy="237744"/>
          </a:xfrm>
          <a:prstGeom prst="rect">
            <a:avLst/>
          </a:prstGeom>
          <a:noFill/>
        </p:spPr>
        <p:txBody>
          <a:bodyPr wrap="square" lIns="0" tIns="0" rIns="0" bIns="0">
            <a:spAutoFit/>
          </a:bodyPr>
          <a:lstStyle/>
          <a:p>
            <a:r>
              <a:rPr sz="950" b="1">
                <a:solidFill>
                  <a:srgbClr val="101823"/>
                </a:solidFill>
                <a:latin typeface="Arial"/>
              </a:rPr>
              <a:t>CAPTURE TO MAP</a:t>
            </a:r>
          </a:p>
        </p:txBody>
      </p:sp>
      <p:sp>
        <p:nvSpPr>
          <p:cNvPr id="16" name="TextBox 15"/>
          <p:cNvSpPr txBox="1"/>
          <p:nvPr/>
        </p:nvSpPr>
        <p:spPr>
          <a:xfrm>
            <a:off x="6382512" y="3383280"/>
            <a:ext cx="2121408" cy="822960"/>
          </a:xfrm>
          <a:prstGeom prst="rect">
            <a:avLst/>
          </a:prstGeom>
          <a:noFill/>
        </p:spPr>
        <p:txBody>
          <a:bodyPr wrap="square" lIns="0" tIns="0" rIns="0" bIns="0">
            <a:spAutoFit/>
          </a:bodyPr>
          <a:lstStyle/>
          <a:p>
            <a:pPr>
              <a:lnSpc>
                <a:spcPct val="112000"/>
              </a:lnSpc>
            </a:pPr>
            <a:r>
              <a:rPr sz="1100" b="0">
                <a:solidFill>
                  <a:srgbClr val="5C6875"/>
                </a:solidFill>
                <a:latin typeface="Calibri"/>
              </a:rPr>
              <a:t>Frame seen, distance solved, marker moved. Fast enough to follow a crowd that is actually moving.</a:t>
            </a:r>
          </a:p>
        </p:txBody>
      </p:sp>
      <p:sp>
        <p:nvSpPr>
          <p:cNvPr id="17" name="Rectangle 16"/>
          <p:cNvSpPr/>
          <p:nvPr/>
        </p:nvSpPr>
        <p:spPr>
          <a:xfrm>
            <a:off x="8961119" y="2084831"/>
            <a:ext cx="2560320" cy="221284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9180576" y="2231136"/>
            <a:ext cx="2121408" cy="786384"/>
          </a:xfrm>
          <a:prstGeom prst="rect">
            <a:avLst/>
          </a:prstGeom>
          <a:noFill/>
        </p:spPr>
        <p:txBody>
          <a:bodyPr wrap="square" lIns="0" tIns="0" rIns="0" bIns="0">
            <a:spAutoFit/>
          </a:bodyPr>
          <a:lstStyle/>
          <a:p>
            <a:r>
              <a:rPr sz="5400" b="1">
                <a:solidFill>
                  <a:srgbClr val="B14A20"/>
                </a:solidFill>
                <a:latin typeface="Arial"/>
              </a:rPr>
              <a:t>0</a:t>
            </a:r>
          </a:p>
        </p:txBody>
      </p:sp>
      <p:sp>
        <p:nvSpPr>
          <p:cNvPr id="19" name="TextBox 18"/>
          <p:cNvSpPr txBox="1"/>
          <p:nvPr/>
        </p:nvSpPr>
        <p:spPr>
          <a:xfrm>
            <a:off x="9180576" y="3072384"/>
            <a:ext cx="2121408" cy="237744"/>
          </a:xfrm>
          <a:prstGeom prst="rect">
            <a:avLst/>
          </a:prstGeom>
          <a:noFill/>
        </p:spPr>
        <p:txBody>
          <a:bodyPr wrap="square" lIns="0" tIns="0" rIns="0" bIns="0">
            <a:spAutoFit/>
          </a:bodyPr>
          <a:lstStyle/>
          <a:p>
            <a:r>
              <a:rPr sz="950" b="1">
                <a:solidFill>
                  <a:srgbClr val="101823"/>
                </a:solidFill>
                <a:latin typeface="Arial"/>
              </a:rPr>
              <a:t>IMAGES RETAINED</a:t>
            </a:r>
          </a:p>
        </p:txBody>
      </p:sp>
      <p:sp>
        <p:nvSpPr>
          <p:cNvPr id="20" name="TextBox 19"/>
          <p:cNvSpPr txBox="1"/>
          <p:nvPr/>
        </p:nvSpPr>
        <p:spPr>
          <a:xfrm>
            <a:off x="9180576" y="3383280"/>
            <a:ext cx="2121408" cy="822960"/>
          </a:xfrm>
          <a:prstGeom prst="rect">
            <a:avLst/>
          </a:prstGeom>
          <a:noFill/>
        </p:spPr>
        <p:txBody>
          <a:bodyPr wrap="square" lIns="0" tIns="0" rIns="0" bIns="0">
            <a:spAutoFit/>
          </a:bodyPr>
          <a:lstStyle/>
          <a:p>
            <a:pPr>
              <a:lnSpc>
                <a:spcPct val="112000"/>
              </a:lnSpc>
            </a:pPr>
            <a:r>
              <a:rPr sz="1100" b="0">
                <a:solidFill>
                  <a:srgbClr val="5C6875"/>
                </a:solidFill>
                <a:latin typeface="Calibri"/>
              </a:rPr>
              <a:t>No picture is ever formed. The system reads only what every device already announces in the clear.</a:t>
            </a:r>
          </a:p>
        </p:txBody>
      </p:sp>
      <p:sp>
        <p:nvSpPr>
          <p:cNvPr id="21" name="Rectangle 20"/>
          <p:cNvSpPr/>
          <p:nvPr/>
        </p:nvSpPr>
        <p:spPr>
          <a:xfrm>
            <a:off x="566928" y="4590288"/>
            <a:ext cx="11055096" cy="841248"/>
          </a:xfrm>
          <a:prstGeom prst="rect">
            <a:avLst/>
          </a:prstGeom>
          <a:solidFill>
            <a:srgbClr val="F6E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68096" y="4791455"/>
            <a:ext cx="10652760" cy="438912"/>
          </a:xfrm>
          <a:prstGeom prst="rect">
            <a:avLst/>
          </a:prstGeom>
          <a:noFill/>
        </p:spPr>
        <p:txBody>
          <a:bodyPr wrap="square" lIns="0" tIns="0" rIns="0" bIns="0">
            <a:spAutoFit/>
          </a:bodyPr>
          <a:lstStyle/>
          <a:p>
            <a:pPr>
              <a:lnSpc>
                <a:spcPct val="115000"/>
              </a:lnSpc>
            </a:pPr>
            <a:r>
              <a:rPr sz="1350" b="0">
                <a:solidFill>
                  <a:srgbClr val="5C6875"/>
                </a:solidFill>
                <a:latin typeface="Calibri"/>
              </a:rPr>
              <a:t>The contribution is integration, not invention. Promiscuous-mode sniffing, the log-distance path-loss model and least-squares trilateration are all established individually. What this project builds is the working path from a raw 802.11 frame to a plotted coordinate on commodity hardware.</a:t>
            </a:r>
          </a:p>
        </p:txBody>
      </p:sp>
      <p:sp>
        <p:nvSpPr>
          <p:cNvPr id="23" name="TextBox 22"/>
          <p:cNvSpPr txBox="1"/>
          <p:nvPr/>
        </p:nvSpPr>
        <p:spPr>
          <a:xfrm>
            <a:off x="10981944" y="6437376"/>
            <a:ext cx="640080" cy="256032"/>
          </a:xfrm>
          <a:prstGeom prst="rect">
            <a:avLst/>
          </a:prstGeom>
          <a:noFill/>
        </p:spPr>
        <p:txBody>
          <a:bodyPr wrap="square" lIns="0" tIns="0" rIns="0" bIns="0">
            <a:spAutoFit/>
          </a:bodyPr>
          <a:lstStyle/>
          <a:p>
            <a:pPr algn="r"/>
            <a:r>
              <a:rPr sz="900" b="0">
                <a:solidFill>
                  <a:srgbClr val="5C6875"/>
                </a:solidFill>
                <a:latin typeface="Arial"/>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5096" cy="237744"/>
          </a:xfrm>
          <a:prstGeom prst="rect">
            <a:avLst/>
          </a:prstGeom>
          <a:noFill/>
        </p:spPr>
        <p:txBody>
          <a:bodyPr wrap="square" lIns="0" tIns="0" rIns="0" bIns="0">
            <a:spAutoFit/>
          </a:bodyPr>
          <a:lstStyle/>
          <a:p>
            <a:r>
              <a:rPr sz="1050" b="1">
                <a:solidFill>
                  <a:srgbClr val="16416E"/>
                </a:solidFill>
                <a:latin typeface="Arial"/>
              </a:rPr>
              <a:t>MOTIVATION</a:t>
            </a:r>
          </a:p>
        </p:txBody>
      </p:sp>
      <p:sp>
        <p:nvSpPr>
          <p:cNvPr id="3" name="TextBox 2"/>
          <p:cNvSpPr txBox="1"/>
          <p:nvPr/>
        </p:nvSpPr>
        <p:spPr>
          <a:xfrm>
            <a:off x="566928" y="713232"/>
            <a:ext cx="11055096" cy="868680"/>
          </a:xfrm>
          <a:prstGeom prst="rect">
            <a:avLst/>
          </a:prstGeom>
          <a:noFill/>
        </p:spPr>
        <p:txBody>
          <a:bodyPr wrap="square" lIns="0" tIns="0" rIns="0" bIns="0">
            <a:spAutoFit/>
          </a:bodyPr>
          <a:lstStyle/>
          <a:p>
            <a:pPr>
              <a:lnSpc>
                <a:spcPct val="105000"/>
              </a:lnSpc>
            </a:pPr>
            <a:r>
              <a:rPr sz="3200" b="1">
                <a:solidFill>
                  <a:srgbClr val="101823"/>
                </a:solidFill>
                <a:latin typeface="Arial"/>
              </a:rPr>
              <a:t>Counting a crowd usually means watching it.</a:t>
            </a:r>
          </a:p>
        </p:txBody>
      </p:sp>
      <p:sp>
        <p:nvSpPr>
          <p:cNvPr id="4" name="TextBox 3"/>
          <p:cNvSpPr txBox="1"/>
          <p:nvPr/>
        </p:nvSpPr>
        <p:spPr>
          <a:xfrm>
            <a:off x="566928" y="1737360"/>
            <a:ext cx="4937760" cy="2651760"/>
          </a:xfrm>
          <a:prstGeom prst="rect">
            <a:avLst/>
          </a:prstGeom>
          <a:noFill/>
        </p:spPr>
        <p:txBody>
          <a:bodyPr wrap="square" lIns="0" tIns="0" rIns="0" bIns="0">
            <a:spAutoFit/>
          </a:bodyPr>
          <a:lstStyle/>
          <a:p>
            <a:pPr>
              <a:lnSpc>
                <a:spcPct val="115000"/>
              </a:lnSpc>
              <a:spcAft>
                <a:spcPts val="1100"/>
              </a:spcAft>
            </a:pPr>
            <a:r>
              <a:rPr sz="1450" b="0">
                <a:solidFill>
                  <a:srgbClr val="5C6875"/>
                </a:solidFill>
                <a:latin typeface="Calibri"/>
              </a:rPr>
              <a:t>Crowd density is a safety variable. At concerts, transit hubs and religious gatherings, the distance between a manageable crowd and a crush is measured in people per square metre.</a:t>
            </a:r>
          </a:p>
          <a:p>
            <a:pPr>
              <a:lnSpc>
                <a:spcPct val="115000"/>
              </a:lnSpc>
              <a:spcAft>
                <a:spcPts val="1100"/>
              </a:spcAft>
            </a:pPr>
            <a:r>
              <a:rPr sz="1450" b="0">
                <a:solidFill>
                  <a:srgbClr val="5C6875"/>
                </a:solidFill>
                <a:latin typeface="Calibri"/>
              </a:rPr>
              <a:t>The standard instrument for measuring it is the camera. Cameras work — and they also produce a permanent, identifiable record of everyone who walked through the space.</a:t>
            </a:r>
          </a:p>
          <a:p>
            <a:pPr>
              <a:lnSpc>
                <a:spcPct val="115000"/>
              </a:lnSpc>
              <a:spcAft>
                <a:spcPts val="1100"/>
              </a:spcAft>
            </a:pPr>
            <a:r>
              <a:rPr sz="1450" b="0">
                <a:solidFill>
                  <a:srgbClr val="5C6875"/>
                </a:solidFill>
                <a:latin typeface="Calibri"/>
              </a:rPr>
              <a:t>The quantity an operator actually acts on is far smaller than what a camera collects: how many people, and roughly where they are standing.</a:t>
            </a:r>
          </a:p>
        </p:txBody>
      </p:sp>
      <p:sp>
        <p:nvSpPr>
          <p:cNvPr id="5" name="TextBox 4"/>
          <p:cNvSpPr txBox="1"/>
          <p:nvPr/>
        </p:nvSpPr>
        <p:spPr>
          <a:xfrm>
            <a:off x="6053328" y="1737360"/>
            <a:ext cx="5568696" cy="219456"/>
          </a:xfrm>
          <a:prstGeom prst="rect">
            <a:avLst/>
          </a:prstGeom>
          <a:noFill/>
        </p:spPr>
        <p:txBody>
          <a:bodyPr wrap="square" lIns="0" tIns="0" rIns="0" bIns="0">
            <a:spAutoFit/>
          </a:bodyPr>
          <a:lstStyle/>
          <a:p>
            <a:r>
              <a:rPr sz="1000" b="1">
                <a:solidFill>
                  <a:srgbClr val="5C6875"/>
                </a:solidFill>
                <a:latin typeface="Arial"/>
              </a:rPr>
              <a:t>TWO INSTRUMENTS FOR THE SAME QUANTITY</a:t>
            </a:r>
          </a:p>
        </p:txBody>
      </p:sp>
      <p:sp>
        <p:nvSpPr>
          <p:cNvPr id="6" name="Rectangle 5"/>
          <p:cNvSpPr/>
          <p:nvPr/>
        </p:nvSpPr>
        <p:spPr>
          <a:xfrm>
            <a:off x="6053328" y="2029968"/>
            <a:ext cx="5568696" cy="1060704"/>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6254496" y="2212848"/>
            <a:ext cx="5166360" cy="274320"/>
          </a:xfrm>
          <a:prstGeom prst="rect">
            <a:avLst/>
          </a:prstGeom>
          <a:noFill/>
        </p:spPr>
        <p:txBody>
          <a:bodyPr wrap="square" lIns="0" tIns="0" rIns="0" bIns="0">
            <a:spAutoFit/>
          </a:bodyPr>
          <a:lstStyle/>
          <a:p>
            <a:r>
              <a:rPr sz="1000" b="1">
                <a:solidFill>
                  <a:srgbClr val="16416E"/>
                </a:solidFill>
                <a:latin typeface="Arial"/>
              </a:rPr>
              <a:t>CAMERA + COMPUTER VISION</a:t>
            </a:r>
          </a:p>
        </p:txBody>
      </p:sp>
      <p:sp>
        <p:nvSpPr>
          <p:cNvPr id="8" name="TextBox 7"/>
          <p:cNvSpPr txBox="1"/>
          <p:nvPr/>
        </p:nvSpPr>
        <p:spPr>
          <a:xfrm>
            <a:off x="6254496" y="2487168"/>
            <a:ext cx="5166360" cy="530352"/>
          </a:xfrm>
          <a:prstGeom prst="rect">
            <a:avLst/>
          </a:prstGeom>
          <a:noFill/>
        </p:spPr>
        <p:txBody>
          <a:bodyPr wrap="square" lIns="0" tIns="0" rIns="0" bIns="0">
            <a:spAutoFit/>
          </a:bodyPr>
          <a:lstStyle/>
          <a:p>
            <a:pPr>
              <a:lnSpc>
                <a:spcPct val="112000"/>
              </a:lnSpc>
            </a:pPr>
            <a:r>
              <a:rPr sz="1350" b="0">
                <a:solidFill>
                  <a:srgbClr val="5C6875"/>
                </a:solidFill>
                <a:latin typeface="Calibri"/>
              </a:rPr>
              <a:t>Counts precisely. Needs light and line of sight, and creates a retention liability the moment it records.</a:t>
            </a:r>
          </a:p>
        </p:txBody>
      </p:sp>
      <p:sp>
        <p:nvSpPr>
          <p:cNvPr id="9" name="Rectangle 8"/>
          <p:cNvSpPr/>
          <p:nvPr/>
        </p:nvSpPr>
        <p:spPr>
          <a:xfrm>
            <a:off x="6053328" y="3218688"/>
            <a:ext cx="5568696" cy="1060704"/>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254496" y="3401568"/>
            <a:ext cx="5166360" cy="274320"/>
          </a:xfrm>
          <a:prstGeom prst="rect">
            <a:avLst/>
          </a:prstGeom>
          <a:noFill/>
        </p:spPr>
        <p:txBody>
          <a:bodyPr wrap="square" lIns="0" tIns="0" rIns="0" bIns="0">
            <a:spAutoFit/>
          </a:bodyPr>
          <a:lstStyle/>
          <a:p>
            <a:r>
              <a:rPr sz="1000" b="1">
                <a:solidFill>
                  <a:srgbClr val="16416E"/>
                </a:solidFill>
                <a:latin typeface="Arial"/>
              </a:rPr>
              <a:t>PASSIVE RADIO</a:t>
            </a:r>
          </a:p>
        </p:txBody>
      </p:sp>
      <p:sp>
        <p:nvSpPr>
          <p:cNvPr id="11" name="TextBox 10"/>
          <p:cNvSpPr txBox="1"/>
          <p:nvPr/>
        </p:nvSpPr>
        <p:spPr>
          <a:xfrm>
            <a:off x="6254496" y="3675887"/>
            <a:ext cx="5166360" cy="530352"/>
          </a:xfrm>
          <a:prstGeom prst="rect">
            <a:avLst/>
          </a:prstGeom>
          <a:noFill/>
        </p:spPr>
        <p:txBody>
          <a:bodyPr wrap="square" lIns="0" tIns="0" rIns="0" bIns="0">
            <a:spAutoFit/>
          </a:bodyPr>
          <a:lstStyle/>
          <a:p>
            <a:pPr>
              <a:lnSpc>
                <a:spcPct val="112000"/>
              </a:lnSpc>
            </a:pPr>
            <a:r>
              <a:rPr sz="1350" b="0">
                <a:solidFill>
                  <a:srgbClr val="5C6875"/>
                </a:solidFill>
                <a:latin typeface="Calibri"/>
              </a:rPr>
              <a:t>Counts approximately. Works in darkness and smoke, and carries no image — only a rotating hardware address.</a:t>
            </a:r>
          </a:p>
        </p:txBody>
      </p:sp>
      <p:sp>
        <p:nvSpPr>
          <p:cNvPr id="12" name="Rectangle 11"/>
          <p:cNvSpPr/>
          <p:nvPr/>
        </p:nvSpPr>
        <p:spPr>
          <a:xfrm>
            <a:off x="6053328" y="4407408"/>
            <a:ext cx="5568696" cy="1005840"/>
          </a:xfrm>
          <a:prstGeom prst="rect">
            <a:avLst/>
          </a:prstGeom>
          <a:solidFill>
            <a:srgbClr val="F6E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254496" y="4608576"/>
            <a:ext cx="5166359" cy="603504"/>
          </a:xfrm>
          <a:prstGeom prst="rect">
            <a:avLst/>
          </a:prstGeom>
          <a:noFill/>
        </p:spPr>
        <p:txBody>
          <a:bodyPr wrap="square" lIns="0" tIns="0" rIns="0" bIns="0">
            <a:spAutoFit/>
          </a:bodyPr>
          <a:lstStyle/>
          <a:p>
            <a:pPr>
              <a:lnSpc>
                <a:spcPct val="115000"/>
              </a:lnSpc>
            </a:pPr>
            <a:r>
              <a:rPr sz="1350" b="0">
                <a:solidFill>
                  <a:srgbClr val="5C6875"/>
                </a:solidFill>
                <a:latin typeface="Calibri"/>
              </a:rPr>
              <a:t>Both answer how many, and where. Only one of them also answers who — a question crowd safety never needed to ask.</a:t>
            </a:r>
          </a:p>
        </p:txBody>
      </p:sp>
      <p:sp>
        <p:nvSpPr>
          <p:cNvPr id="14" name="TextBox 13"/>
          <p:cNvSpPr txBox="1"/>
          <p:nvPr/>
        </p:nvSpPr>
        <p:spPr>
          <a:xfrm>
            <a:off x="10981944" y="6437376"/>
            <a:ext cx="640080" cy="256032"/>
          </a:xfrm>
          <a:prstGeom prst="rect">
            <a:avLst/>
          </a:prstGeom>
          <a:noFill/>
        </p:spPr>
        <p:txBody>
          <a:bodyPr wrap="square" lIns="0" tIns="0" rIns="0" bIns="0">
            <a:spAutoFit/>
          </a:bodyPr>
          <a:lstStyle/>
          <a:p>
            <a:pPr algn="r"/>
            <a:r>
              <a:rPr sz="900" b="0">
                <a:solidFill>
                  <a:srgbClr val="5C6875"/>
                </a:solidFill>
                <a:latin typeface="Arial"/>
              </a:rP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5096" cy="237744"/>
          </a:xfrm>
          <a:prstGeom prst="rect">
            <a:avLst/>
          </a:prstGeom>
          <a:noFill/>
        </p:spPr>
        <p:txBody>
          <a:bodyPr wrap="square" lIns="0" tIns="0" rIns="0" bIns="0">
            <a:spAutoFit/>
          </a:bodyPr>
          <a:lstStyle/>
          <a:p>
            <a:r>
              <a:rPr sz="1050" b="1">
                <a:solidFill>
                  <a:srgbClr val="16416E"/>
                </a:solidFill>
                <a:latin typeface="Arial"/>
              </a:rPr>
              <a:t>PROBLEM</a:t>
            </a:r>
          </a:p>
        </p:txBody>
      </p:sp>
      <p:sp>
        <p:nvSpPr>
          <p:cNvPr id="3" name="TextBox 2"/>
          <p:cNvSpPr txBox="1"/>
          <p:nvPr/>
        </p:nvSpPr>
        <p:spPr>
          <a:xfrm>
            <a:off x="566928" y="713232"/>
            <a:ext cx="11055096" cy="960120"/>
          </a:xfrm>
          <a:prstGeom prst="rect">
            <a:avLst/>
          </a:prstGeom>
          <a:noFill/>
        </p:spPr>
        <p:txBody>
          <a:bodyPr wrap="square" lIns="0" tIns="0" rIns="0" bIns="0">
            <a:spAutoFit/>
          </a:bodyPr>
          <a:lstStyle/>
          <a:p>
            <a:pPr>
              <a:lnSpc>
                <a:spcPct val="105000"/>
              </a:lnSpc>
            </a:pPr>
            <a:r>
              <a:rPr sz="3000" b="1">
                <a:solidFill>
                  <a:srgbClr val="101823"/>
                </a:solidFill>
                <a:latin typeface="Arial"/>
              </a:rPr>
              <a:t>A phone announces itself long before it joins any network.</a:t>
            </a:r>
          </a:p>
        </p:txBody>
      </p:sp>
      <p:sp>
        <p:nvSpPr>
          <p:cNvPr id="4" name="TextBox 3"/>
          <p:cNvSpPr txBox="1"/>
          <p:nvPr/>
        </p:nvSpPr>
        <p:spPr>
          <a:xfrm>
            <a:off x="566928" y="1828800"/>
            <a:ext cx="4937760" cy="2651760"/>
          </a:xfrm>
          <a:prstGeom prst="rect">
            <a:avLst/>
          </a:prstGeom>
          <a:noFill/>
        </p:spPr>
        <p:txBody>
          <a:bodyPr wrap="square" lIns="0" tIns="0" rIns="0" bIns="0">
            <a:spAutoFit/>
          </a:bodyPr>
          <a:lstStyle/>
          <a:p>
            <a:pPr>
              <a:lnSpc>
                <a:spcPct val="115000"/>
              </a:lnSpc>
              <a:spcAft>
                <a:spcPts val="1100"/>
              </a:spcAft>
            </a:pPr>
            <a:r>
              <a:rPr sz="1450" b="0">
                <a:solidFill>
                  <a:srgbClr val="5C6875"/>
                </a:solidFill>
                <a:latin typeface="Calibri"/>
              </a:rPr>
              <a:t>Every WiFi-enabled device periodically broadcasts probe requests — unencrypted management frames that carry a source address and are readable by any radio within range.</a:t>
            </a:r>
          </a:p>
          <a:p>
            <a:pPr>
              <a:lnSpc>
                <a:spcPct val="115000"/>
              </a:lnSpc>
              <a:spcAft>
                <a:spcPts val="1100"/>
              </a:spcAft>
            </a:pPr>
            <a:r>
              <a:rPr sz="1450" b="0">
                <a:solidFill>
                  <a:srgbClr val="5C6875"/>
                </a:solidFill>
                <a:latin typeface="Calibri"/>
              </a:rPr>
              <a:t>That signal is already in the air. No association, no authentication and no cooperation from the device is required in order to hear it.</a:t>
            </a:r>
          </a:p>
          <a:p>
            <a:pPr>
              <a:lnSpc>
                <a:spcPct val="115000"/>
              </a:lnSpc>
              <a:spcAft>
                <a:spcPts val="1100"/>
              </a:spcAft>
            </a:pPr>
            <a:r>
              <a:rPr sz="1450" b="0">
                <a:solidFill>
                  <a:srgbClr val="5C6875"/>
                </a:solidFill>
                <a:latin typeface="Calibri"/>
              </a:rPr>
              <a:t>What does not exist yet is the path from that raw frame to a coordinate stable enough to plot.</a:t>
            </a:r>
          </a:p>
        </p:txBody>
      </p:sp>
      <p:sp>
        <p:nvSpPr>
          <p:cNvPr id="5" name="TextBox 4"/>
          <p:cNvSpPr txBox="1"/>
          <p:nvPr/>
        </p:nvSpPr>
        <p:spPr>
          <a:xfrm>
            <a:off x="6053328" y="1828800"/>
            <a:ext cx="5568696" cy="219456"/>
          </a:xfrm>
          <a:prstGeom prst="rect">
            <a:avLst/>
          </a:prstGeom>
          <a:noFill/>
        </p:spPr>
        <p:txBody>
          <a:bodyPr wrap="square" lIns="0" tIns="0" rIns="0" bIns="0">
            <a:spAutoFit/>
          </a:bodyPr>
          <a:lstStyle/>
          <a:p>
            <a:r>
              <a:rPr sz="1000" b="1">
                <a:solidFill>
                  <a:srgbClr val="5C6875"/>
                </a:solidFill>
                <a:latin typeface="Arial"/>
              </a:rPr>
              <a:t>WHAT THE RADIO HANDS YOU, AND WHAT IT DOES NOT</a:t>
            </a:r>
          </a:p>
        </p:txBody>
      </p:sp>
      <p:sp>
        <p:nvSpPr>
          <p:cNvPr id="6" name="Rectangle 5"/>
          <p:cNvSpPr/>
          <p:nvPr/>
        </p:nvSpPr>
        <p:spPr>
          <a:xfrm>
            <a:off x="6053328" y="2121408"/>
            <a:ext cx="5568696" cy="2103120"/>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6254496" y="2322576"/>
            <a:ext cx="5166360" cy="237744"/>
          </a:xfrm>
          <a:prstGeom prst="rect">
            <a:avLst/>
          </a:prstGeom>
          <a:noFill/>
        </p:spPr>
        <p:txBody>
          <a:bodyPr wrap="square" lIns="0" tIns="0" rIns="0" bIns="0">
            <a:spAutoFit/>
          </a:bodyPr>
          <a:lstStyle/>
          <a:p>
            <a:r>
              <a:rPr sz="1200" b="1">
                <a:solidFill>
                  <a:srgbClr val="101823"/>
                </a:solidFill>
                <a:latin typeface="Consolas"/>
              </a:rPr>
              <a:t>PER FRAME   MAC · RSSI · CHANNEL · TIME</a:t>
            </a:r>
          </a:p>
        </p:txBody>
      </p:sp>
      <p:sp>
        <p:nvSpPr>
          <p:cNvPr id="8" name="TextBox 7"/>
          <p:cNvSpPr txBox="1"/>
          <p:nvPr/>
        </p:nvSpPr>
        <p:spPr>
          <a:xfrm>
            <a:off x="6254496" y="2670048"/>
            <a:ext cx="5166360" cy="310896"/>
          </a:xfrm>
          <a:prstGeom prst="rect">
            <a:avLst/>
          </a:prstGeom>
          <a:noFill/>
        </p:spPr>
        <p:txBody>
          <a:bodyPr wrap="square" lIns="0" tIns="0" rIns="0" bIns="0">
            <a:spAutoFit/>
          </a:bodyPr>
          <a:lstStyle/>
          <a:p>
            <a:r>
              <a:rPr sz="1250" b="0">
                <a:solidFill>
                  <a:srgbClr val="5C6875"/>
                </a:solidFill>
                <a:latin typeface="Calibri"/>
              </a:rPr>
              <a:t>Directly measured. Costs nothing to collect.</a:t>
            </a:r>
          </a:p>
        </p:txBody>
      </p:sp>
      <p:sp>
        <p:nvSpPr>
          <p:cNvPr id="9" name="Rectangle 8"/>
          <p:cNvSpPr/>
          <p:nvPr/>
        </p:nvSpPr>
        <p:spPr>
          <a:xfrm>
            <a:off x="6254496" y="3072384"/>
            <a:ext cx="5166360" cy="10972"/>
          </a:xfrm>
          <a:prstGeom prst="rect">
            <a:avLst/>
          </a:prstGeom>
          <a:solidFill>
            <a:srgbClr val="DF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254496" y="3236976"/>
            <a:ext cx="5166360" cy="237744"/>
          </a:xfrm>
          <a:prstGeom prst="rect">
            <a:avLst/>
          </a:prstGeom>
          <a:noFill/>
        </p:spPr>
        <p:txBody>
          <a:bodyPr wrap="square" lIns="0" tIns="0" rIns="0" bIns="0">
            <a:spAutoFit/>
          </a:bodyPr>
          <a:lstStyle/>
          <a:p>
            <a:r>
              <a:rPr sz="1150" b="0">
                <a:solidFill>
                  <a:srgbClr val="5C6875"/>
                </a:solidFill>
                <a:latin typeface="Calibri"/>
              </a:rPr>
              <a:t>RSSI IS NOT DISTANCE   →  needs a propagation model</a:t>
            </a:r>
          </a:p>
        </p:txBody>
      </p:sp>
      <p:sp>
        <p:nvSpPr>
          <p:cNvPr id="11" name="TextBox 10"/>
          <p:cNvSpPr txBox="1"/>
          <p:nvPr/>
        </p:nvSpPr>
        <p:spPr>
          <a:xfrm>
            <a:off x="6254496" y="3529584"/>
            <a:ext cx="5166360" cy="237744"/>
          </a:xfrm>
          <a:prstGeom prst="rect">
            <a:avLst/>
          </a:prstGeom>
          <a:noFill/>
        </p:spPr>
        <p:txBody>
          <a:bodyPr wrap="square" lIns="0" tIns="0" rIns="0" bIns="0">
            <a:spAutoFit/>
          </a:bodyPr>
          <a:lstStyle/>
          <a:p>
            <a:r>
              <a:rPr sz="1150" b="0">
                <a:solidFill>
                  <a:srgbClr val="5C6875"/>
                </a:solidFill>
                <a:latin typeface="Calibri"/>
              </a:rPr>
              <a:t>ONE NODE IS NOT A FIX   →  needs three, and a solver</a:t>
            </a:r>
          </a:p>
        </p:txBody>
      </p:sp>
      <p:sp>
        <p:nvSpPr>
          <p:cNvPr id="12" name="TextBox 11"/>
          <p:cNvSpPr txBox="1"/>
          <p:nvPr/>
        </p:nvSpPr>
        <p:spPr>
          <a:xfrm>
            <a:off x="6254496" y="3822191"/>
            <a:ext cx="5166360" cy="274320"/>
          </a:xfrm>
          <a:prstGeom prst="rect">
            <a:avLst/>
          </a:prstGeom>
          <a:noFill/>
        </p:spPr>
        <p:txBody>
          <a:bodyPr wrap="square" lIns="0" tIns="0" rIns="0" bIns="0">
            <a:spAutoFit/>
          </a:bodyPr>
          <a:lstStyle/>
          <a:p>
            <a:r>
              <a:rPr sz="1250" b="1">
                <a:solidFill>
                  <a:srgbClr val="B14A20"/>
                </a:solidFill>
                <a:latin typeface="Calibri"/>
              </a:rPr>
              <a:t>Inferred. This is the part that has to be built.</a:t>
            </a:r>
          </a:p>
        </p:txBody>
      </p:sp>
      <p:sp>
        <p:nvSpPr>
          <p:cNvPr id="13" name="Rectangle 12"/>
          <p:cNvSpPr/>
          <p:nvPr/>
        </p:nvSpPr>
        <p:spPr>
          <a:xfrm>
            <a:off x="6053328" y="4370832"/>
            <a:ext cx="5568696" cy="1024128"/>
          </a:xfrm>
          <a:prstGeom prst="rect">
            <a:avLst/>
          </a:prstGeom>
          <a:solidFill>
            <a:srgbClr val="F6E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254496" y="4572000"/>
            <a:ext cx="5166359" cy="621792"/>
          </a:xfrm>
          <a:prstGeom prst="rect">
            <a:avLst/>
          </a:prstGeom>
          <a:noFill/>
        </p:spPr>
        <p:txBody>
          <a:bodyPr wrap="square" lIns="0" tIns="0" rIns="0" bIns="0">
            <a:spAutoFit/>
          </a:bodyPr>
          <a:lstStyle/>
          <a:p>
            <a:pPr>
              <a:lnSpc>
                <a:spcPct val="115000"/>
              </a:lnSpc>
            </a:pPr>
            <a:r>
              <a:rPr sz="1350" b="0">
                <a:solidFill>
                  <a:srgbClr val="5C6875"/>
                </a:solidFill>
                <a:latin typeface="Calibri"/>
              </a:rPr>
              <a:t>The engineering problem is not detection — that is a library call. It is turning a noisy scalar, signal strength, into a coordinate that holds still enough to be useful.</a:t>
            </a:r>
          </a:p>
        </p:txBody>
      </p:sp>
      <p:sp>
        <p:nvSpPr>
          <p:cNvPr id="15" name="TextBox 14"/>
          <p:cNvSpPr txBox="1"/>
          <p:nvPr/>
        </p:nvSpPr>
        <p:spPr>
          <a:xfrm>
            <a:off x="10981944" y="6437376"/>
            <a:ext cx="640080" cy="256032"/>
          </a:xfrm>
          <a:prstGeom prst="rect">
            <a:avLst/>
          </a:prstGeom>
          <a:noFill/>
        </p:spPr>
        <p:txBody>
          <a:bodyPr wrap="square" lIns="0" tIns="0" rIns="0" bIns="0">
            <a:spAutoFit/>
          </a:bodyPr>
          <a:lstStyle/>
          <a:p>
            <a:pPr algn="r"/>
            <a:r>
              <a:rPr sz="900" b="0">
                <a:solidFill>
                  <a:srgbClr val="5C6875"/>
                </a:solidFill>
                <a:latin typeface="Arial"/>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5096" cy="237744"/>
          </a:xfrm>
          <a:prstGeom prst="rect">
            <a:avLst/>
          </a:prstGeom>
          <a:noFill/>
        </p:spPr>
        <p:txBody>
          <a:bodyPr wrap="square" lIns="0" tIns="0" rIns="0" bIns="0">
            <a:spAutoFit/>
          </a:bodyPr>
          <a:lstStyle/>
          <a:p>
            <a:r>
              <a:rPr sz="1050" b="1">
                <a:solidFill>
                  <a:srgbClr val="16416E"/>
                </a:solidFill>
                <a:latin typeface="Arial"/>
              </a:rPr>
              <a:t>OBJECTIVES</a:t>
            </a:r>
          </a:p>
        </p:txBody>
      </p:sp>
      <p:sp>
        <p:nvSpPr>
          <p:cNvPr id="3" name="TextBox 2"/>
          <p:cNvSpPr txBox="1"/>
          <p:nvPr/>
        </p:nvSpPr>
        <p:spPr>
          <a:xfrm>
            <a:off x="566928" y="713232"/>
            <a:ext cx="11055096" cy="868680"/>
          </a:xfrm>
          <a:prstGeom prst="rect">
            <a:avLst/>
          </a:prstGeom>
          <a:noFill/>
        </p:spPr>
        <p:txBody>
          <a:bodyPr wrap="square" lIns="0" tIns="0" rIns="0" bIns="0">
            <a:spAutoFit/>
          </a:bodyPr>
          <a:lstStyle/>
          <a:p>
            <a:pPr>
              <a:lnSpc>
                <a:spcPct val="105000"/>
              </a:lnSpc>
            </a:pPr>
            <a:r>
              <a:rPr sz="3200" b="1">
                <a:solidFill>
                  <a:srgbClr val="101823"/>
                </a:solidFill>
                <a:latin typeface="Arial"/>
              </a:rPr>
              <a:t>Four objectives, fixed before implementation began.</a:t>
            </a:r>
          </a:p>
        </p:txBody>
      </p:sp>
      <p:sp>
        <p:nvSpPr>
          <p:cNvPr id="4" name="TextBox 3"/>
          <p:cNvSpPr txBox="1"/>
          <p:nvPr/>
        </p:nvSpPr>
        <p:spPr>
          <a:xfrm>
            <a:off x="566928" y="1463040"/>
            <a:ext cx="11055096" cy="457200"/>
          </a:xfrm>
          <a:prstGeom prst="rect">
            <a:avLst/>
          </a:prstGeom>
          <a:noFill/>
        </p:spPr>
        <p:txBody>
          <a:bodyPr wrap="square" lIns="0" tIns="0" rIns="0" bIns="0">
            <a:spAutoFit/>
          </a:bodyPr>
          <a:lstStyle/>
          <a:p>
            <a:r>
              <a:rPr sz="1250" b="0">
                <a:solidFill>
                  <a:srgbClr val="5C6875"/>
                </a:solidFill>
                <a:latin typeface="Calibri"/>
              </a:rPr>
              <a:t>Each one has to work before the next is meaningful — the chain is strictly sequential.</a:t>
            </a:r>
          </a:p>
        </p:txBody>
      </p:sp>
      <p:sp>
        <p:nvSpPr>
          <p:cNvPr id="5" name="Rectangle 4"/>
          <p:cNvSpPr/>
          <p:nvPr/>
        </p:nvSpPr>
        <p:spPr>
          <a:xfrm>
            <a:off x="566928" y="2103120"/>
            <a:ext cx="5394960" cy="175564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04672" y="2322576"/>
            <a:ext cx="731520" cy="457200"/>
          </a:xfrm>
          <a:prstGeom prst="rect">
            <a:avLst/>
          </a:prstGeom>
          <a:noFill/>
        </p:spPr>
        <p:txBody>
          <a:bodyPr wrap="square" lIns="0" tIns="0" rIns="0" bIns="0">
            <a:spAutoFit/>
          </a:bodyPr>
          <a:lstStyle/>
          <a:p>
            <a:r>
              <a:rPr sz="3000" b="1">
                <a:solidFill>
                  <a:srgbClr val="16416E"/>
                </a:solidFill>
                <a:latin typeface="Arial"/>
              </a:rPr>
              <a:t>01</a:t>
            </a:r>
          </a:p>
        </p:txBody>
      </p:sp>
      <p:sp>
        <p:nvSpPr>
          <p:cNvPr id="7" name="TextBox 6"/>
          <p:cNvSpPr txBox="1"/>
          <p:nvPr/>
        </p:nvSpPr>
        <p:spPr>
          <a:xfrm>
            <a:off x="1664207" y="2359152"/>
            <a:ext cx="4059936" cy="292608"/>
          </a:xfrm>
          <a:prstGeom prst="rect">
            <a:avLst/>
          </a:prstGeom>
          <a:noFill/>
        </p:spPr>
        <p:txBody>
          <a:bodyPr wrap="square" lIns="0" tIns="0" rIns="0" bIns="0">
            <a:spAutoFit/>
          </a:bodyPr>
          <a:lstStyle/>
          <a:p>
            <a:r>
              <a:rPr sz="1500" b="1">
                <a:solidFill>
                  <a:srgbClr val="101823"/>
                </a:solidFill>
                <a:latin typeface="Arial"/>
              </a:rPr>
              <a:t>Passive capture</a:t>
            </a:r>
          </a:p>
        </p:txBody>
      </p:sp>
      <p:sp>
        <p:nvSpPr>
          <p:cNvPr id="8" name="TextBox 7"/>
          <p:cNvSpPr txBox="1"/>
          <p:nvPr/>
        </p:nvSpPr>
        <p:spPr>
          <a:xfrm>
            <a:off x="1664207" y="2724912"/>
            <a:ext cx="4059936" cy="914400"/>
          </a:xfrm>
          <a:prstGeom prst="rect">
            <a:avLst/>
          </a:prstGeom>
          <a:noFill/>
        </p:spPr>
        <p:txBody>
          <a:bodyPr wrap="square" lIns="0" tIns="0" rIns="0" bIns="0">
            <a:spAutoFit/>
          </a:bodyPr>
          <a:lstStyle/>
          <a:p>
            <a:pPr>
              <a:lnSpc>
                <a:spcPct val="115000"/>
              </a:lnSpc>
            </a:pPr>
            <a:r>
              <a:rPr sz="1200" b="0">
                <a:solidFill>
                  <a:srgbClr val="5C6875"/>
                </a:solidFill>
                <a:latin typeface="Calibri"/>
              </a:rPr>
              <a:t>Drive three ESP32 nodes in promiscuous mode and extract (MAC, RSSI) from 802.11 management frames without associating to any device.</a:t>
            </a:r>
          </a:p>
        </p:txBody>
      </p:sp>
      <p:sp>
        <p:nvSpPr>
          <p:cNvPr id="9" name="Rectangle 8"/>
          <p:cNvSpPr/>
          <p:nvPr/>
        </p:nvSpPr>
        <p:spPr>
          <a:xfrm>
            <a:off x="6227064" y="2103120"/>
            <a:ext cx="5394960" cy="175564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464808" y="2322576"/>
            <a:ext cx="731520" cy="457200"/>
          </a:xfrm>
          <a:prstGeom prst="rect">
            <a:avLst/>
          </a:prstGeom>
          <a:noFill/>
        </p:spPr>
        <p:txBody>
          <a:bodyPr wrap="square" lIns="0" tIns="0" rIns="0" bIns="0">
            <a:spAutoFit/>
          </a:bodyPr>
          <a:lstStyle/>
          <a:p>
            <a:r>
              <a:rPr sz="3000" b="1">
                <a:solidFill>
                  <a:srgbClr val="16416E"/>
                </a:solidFill>
                <a:latin typeface="Arial"/>
              </a:rPr>
              <a:t>02</a:t>
            </a:r>
          </a:p>
        </p:txBody>
      </p:sp>
      <p:sp>
        <p:nvSpPr>
          <p:cNvPr id="11" name="TextBox 10"/>
          <p:cNvSpPr txBox="1"/>
          <p:nvPr/>
        </p:nvSpPr>
        <p:spPr>
          <a:xfrm>
            <a:off x="7324344" y="2359152"/>
            <a:ext cx="4059936" cy="292608"/>
          </a:xfrm>
          <a:prstGeom prst="rect">
            <a:avLst/>
          </a:prstGeom>
          <a:noFill/>
        </p:spPr>
        <p:txBody>
          <a:bodyPr wrap="square" lIns="0" tIns="0" rIns="0" bIns="0">
            <a:spAutoFit/>
          </a:bodyPr>
          <a:lstStyle/>
          <a:p>
            <a:r>
              <a:rPr sz="1500" b="1">
                <a:solidFill>
                  <a:srgbClr val="101823"/>
                </a:solidFill>
                <a:latin typeface="Arial"/>
              </a:rPr>
              <a:t>Calibrated ranging</a:t>
            </a:r>
          </a:p>
        </p:txBody>
      </p:sp>
      <p:sp>
        <p:nvSpPr>
          <p:cNvPr id="12" name="TextBox 11"/>
          <p:cNvSpPr txBox="1"/>
          <p:nvPr/>
        </p:nvSpPr>
        <p:spPr>
          <a:xfrm>
            <a:off x="7324344" y="2724912"/>
            <a:ext cx="4059936" cy="914400"/>
          </a:xfrm>
          <a:prstGeom prst="rect">
            <a:avLst/>
          </a:prstGeom>
          <a:noFill/>
        </p:spPr>
        <p:txBody>
          <a:bodyPr wrap="square" lIns="0" tIns="0" rIns="0" bIns="0">
            <a:spAutoFit/>
          </a:bodyPr>
          <a:lstStyle/>
          <a:p>
            <a:pPr>
              <a:lnSpc>
                <a:spcPct val="115000"/>
              </a:lnSpc>
            </a:pPr>
            <a:r>
              <a:rPr sz="1200" b="0">
                <a:solidFill>
                  <a:srgbClr val="5C6875"/>
                </a:solidFill>
                <a:latin typeface="Calibri"/>
              </a:rPr>
              <a:t>Fit the log-distance path-loss model to the deployment environment and convert each RSSI reading into a distance in metres.</a:t>
            </a:r>
          </a:p>
        </p:txBody>
      </p:sp>
      <p:sp>
        <p:nvSpPr>
          <p:cNvPr id="13" name="Rectangle 12"/>
          <p:cNvSpPr/>
          <p:nvPr/>
        </p:nvSpPr>
        <p:spPr>
          <a:xfrm>
            <a:off x="566928" y="4078224"/>
            <a:ext cx="5394960" cy="175564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804672" y="4297680"/>
            <a:ext cx="731520" cy="457200"/>
          </a:xfrm>
          <a:prstGeom prst="rect">
            <a:avLst/>
          </a:prstGeom>
          <a:noFill/>
        </p:spPr>
        <p:txBody>
          <a:bodyPr wrap="square" lIns="0" tIns="0" rIns="0" bIns="0">
            <a:spAutoFit/>
          </a:bodyPr>
          <a:lstStyle/>
          <a:p>
            <a:r>
              <a:rPr sz="3000" b="1">
                <a:solidFill>
                  <a:srgbClr val="16416E"/>
                </a:solidFill>
                <a:latin typeface="Arial"/>
              </a:rPr>
              <a:t>03</a:t>
            </a:r>
          </a:p>
        </p:txBody>
      </p:sp>
      <p:sp>
        <p:nvSpPr>
          <p:cNvPr id="15" name="TextBox 14"/>
          <p:cNvSpPr txBox="1"/>
          <p:nvPr/>
        </p:nvSpPr>
        <p:spPr>
          <a:xfrm>
            <a:off x="1664207" y="4334256"/>
            <a:ext cx="4059936" cy="292608"/>
          </a:xfrm>
          <a:prstGeom prst="rect">
            <a:avLst/>
          </a:prstGeom>
          <a:noFill/>
        </p:spPr>
        <p:txBody>
          <a:bodyPr wrap="square" lIns="0" tIns="0" rIns="0" bIns="0">
            <a:spAutoFit/>
          </a:bodyPr>
          <a:lstStyle/>
          <a:p>
            <a:r>
              <a:rPr sz="1500" b="1">
                <a:solidFill>
                  <a:srgbClr val="101823"/>
                </a:solidFill>
                <a:latin typeface="Arial"/>
              </a:rPr>
              <a:t>Position solving</a:t>
            </a:r>
          </a:p>
        </p:txBody>
      </p:sp>
      <p:sp>
        <p:nvSpPr>
          <p:cNvPr id="16" name="TextBox 15"/>
          <p:cNvSpPr txBox="1"/>
          <p:nvPr/>
        </p:nvSpPr>
        <p:spPr>
          <a:xfrm>
            <a:off x="1664207" y="4700016"/>
            <a:ext cx="4059936" cy="914400"/>
          </a:xfrm>
          <a:prstGeom prst="rect">
            <a:avLst/>
          </a:prstGeom>
          <a:noFill/>
        </p:spPr>
        <p:txBody>
          <a:bodyPr wrap="square" lIns="0" tIns="0" rIns="0" bIns="0">
            <a:spAutoFit/>
          </a:bodyPr>
          <a:lstStyle/>
          <a:p>
            <a:pPr>
              <a:lnSpc>
                <a:spcPct val="115000"/>
              </a:lnSpc>
            </a:pPr>
            <a:r>
              <a:rPr sz="1200" b="0">
                <a:solidFill>
                  <a:srgbClr val="5C6875"/>
                </a:solidFill>
                <a:latin typeface="Calibri"/>
              </a:rPr>
              <a:t>Combine three simultaneous range estimates into one (x, y) fix through linearised least squares, and degrade sensibly when a reading is bad.</a:t>
            </a:r>
          </a:p>
        </p:txBody>
      </p:sp>
      <p:sp>
        <p:nvSpPr>
          <p:cNvPr id="17" name="Rectangle 16"/>
          <p:cNvSpPr/>
          <p:nvPr/>
        </p:nvSpPr>
        <p:spPr>
          <a:xfrm>
            <a:off x="6227064" y="4078224"/>
            <a:ext cx="5394960" cy="175564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464808" y="4297680"/>
            <a:ext cx="731520" cy="457200"/>
          </a:xfrm>
          <a:prstGeom prst="rect">
            <a:avLst/>
          </a:prstGeom>
          <a:noFill/>
        </p:spPr>
        <p:txBody>
          <a:bodyPr wrap="square" lIns="0" tIns="0" rIns="0" bIns="0">
            <a:spAutoFit/>
          </a:bodyPr>
          <a:lstStyle/>
          <a:p>
            <a:r>
              <a:rPr sz="3000" b="1">
                <a:solidFill>
                  <a:srgbClr val="16416E"/>
                </a:solidFill>
                <a:latin typeface="Arial"/>
              </a:rPr>
              <a:t>04</a:t>
            </a:r>
          </a:p>
        </p:txBody>
      </p:sp>
      <p:sp>
        <p:nvSpPr>
          <p:cNvPr id="19" name="TextBox 18"/>
          <p:cNvSpPr txBox="1"/>
          <p:nvPr/>
        </p:nvSpPr>
        <p:spPr>
          <a:xfrm>
            <a:off x="7324344" y="4334256"/>
            <a:ext cx="4059936" cy="292608"/>
          </a:xfrm>
          <a:prstGeom prst="rect">
            <a:avLst/>
          </a:prstGeom>
          <a:noFill/>
        </p:spPr>
        <p:txBody>
          <a:bodyPr wrap="square" lIns="0" tIns="0" rIns="0" bIns="0">
            <a:spAutoFit/>
          </a:bodyPr>
          <a:lstStyle/>
          <a:p>
            <a:r>
              <a:rPr sz="1500" b="1">
                <a:solidFill>
                  <a:srgbClr val="101823"/>
                </a:solidFill>
                <a:latin typeface="Arial"/>
              </a:rPr>
              <a:t>Live visualisation</a:t>
            </a:r>
          </a:p>
        </p:txBody>
      </p:sp>
      <p:sp>
        <p:nvSpPr>
          <p:cNvPr id="20" name="TextBox 19"/>
          <p:cNvSpPr txBox="1"/>
          <p:nvPr/>
        </p:nvSpPr>
        <p:spPr>
          <a:xfrm>
            <a:off x="7324344" y="4700016"/>
            <a:ext cx="4059936" cy="914400"/>
          </a:xfrm>
          <a:prstGeom prst="rect">
            <a:avLst/>
          </a:prstGeom>
          <a:noFill/>
        </p:spPr>
        <p:txBody>
          <a:bodyPr wrap="square" lIns="0" tIns="0" rIns="0" bIns="0">
            <a:spAutoFit/>
          </a:bodyPr>
          <a:lstStyle/>
          <a:p>
            <a:pPr>
              <a:lnSpc>
                <a:spcPct val="115000"/>
              </a:lnSpc>
            </a:pPr>
            <a:r>
              <a:rPr sz="1200" b="0">
                <a:solidFill>
                  <a:srgbClr val="5C6875"/>
                </a:solidFill>
                <a:latin typeface="Calibri"/>
              </a:rPr>
              <a:t>Stream solved positions to a browser canvas that repaints at sub-second cadence and renders density rather than bare points.</a:t>
            </a:r>
          </a:p>
        </p:txBody>
      </p:sp>
      <p:sp>
        <p:nvSpPr>
          <p:cNvPr id="21" name="TextBox 20"/>
          <p:cNvSpPr txBox="1"/>
          <p:nvPr/>
        </p:nvSpPr>
        <p:spPr>
          <a:xfrm>
            <a:off x="10981944" y="6437376"/>
            <a:ext cx="640080" cy="256032"/>
          </a:xfrm>
          <a:prstGeom prst="rect">
            <a:avLst/>
          </a:prstGeom>
          <a:noFill/>
        </p:spPr>
        <p:txBody>
          <a:bodyPr wrap="square" lIns="0" tIns="0" rIns="0" bIns="0">
            <a:spAutoFit/>
          </a:bodyPr>
          <a:lstStyle/>
          <a:p>
            <a:pPr algn="r"/>
            <a:r>
              <a:rPr sz="900" b="0">
                <a:solidFill>
                  <a:srgbClr val="5C6875"/>
                </a:solidFill>
                <a:latin typeface="Arial"/>
              </a:rP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5096" cy="237744"/>
          </a:xfrm>
          <a:prstGeom prst="rect">
            <a:avLst/>
          </a:prstGeom>
          <a:noFill/>
        </p:spPr>
        <p:txBody>
          <a:bodyPr wrap="square" lIns="0" tIns="0" rIns="0" bIns="0">
            <a:spAutoFit/>
          </a:bodyPr>
          <a:lstStyle/>
          <a:p>
            <a:r>
              <a:rPr sz="1050" b="1">
                <a:solidFill>
                  <a:srgbClr val="16416E"/>
                </a:solidFill>
                <a:latin typeface="Arial"/>
              </a:rPr>
              <a:t>METHOD / ARCHITECTURE</a:t>
            </a:r>
          </a:p>
        </p:txBody>
      </p:sp>
      <p:sp>
        <p:nvSpPr>
          <p:cNvPr id="3" name="TextBox 2"/>
          <p:cNvSpPr txBox="1"/>
          <p:nvPr/>
        </p:nvSpPr>
        <p:spPr>
          <a:xfrm>
            <a:off x="566928" y="713232"/>
            <a:ext cx="11055096" cy="868680"/>
          </a:xfrm>
          <a:prstGeom prst="rect">
            <a:avLst/>
          </a:prstGeom>
          <a:noFill/>
        </p:spPr>
        <p:txBody>
          <a:bodyPr wrap="square" lIns="0" tIns="0" rIns="0" bIns="0">
            <a:spAutoFit/>
          </a:bodyPr>
          <a:lstStyle/>
          <a:p>
            <a:pPr>
              <a:lnSpc>
                <a:spcPct val="105000"/>
              </a:lnSpc>
            </a:pPr>
            <a:r>
              <a:rPr sz="3200" b="1">
                <a:solidFill>
                  <a:srgbClr val="101823"/>
                </a:solidFill>
                <a:latin typeface="Arial"/>
              </a:rPr>
              <a:t>Five stages from broadcast frame to plotted dot.</a:t>
            </a:r>
          </a:p>
        </p:txBody>
      </p:sp>
      <p:sp>
        <p:nvSpPr>
          <p:cNvPr id="4" name="TextBox 3"/>
          <p:cNvSpPr txBox="1"/>
          <p:nvPr/>
        </p:nvSpPr>
        <p:spPr>
          <a:xfrm>
            <a:off x="566928" y="1463040"/>
            <a:ext cx="11055096" cy="457200"/>
          </a:xfrm>
          <a:prstGeom prst="rect">
            <a:avLst/>
          </a:prstGeom>
          <a:noFill/>
        </p:spPr>
        <p:txBody>
          <a:bodyPr wrap="square" lIns="0" tIns="0" rIns="0" bIns="0">
            <a:spAutoFit/>
          </a:bodyPr>
          <a:lstStyle/>
          <a:p>
            <a:r>
              <a:rPr sz="1250" b="0">
                <a:solidFill>
                  <a:srgbClr val="5C6875"/>
                </a:solidFill>
                <a:latin typeface="Calibri"/>
              </a:rPr>
              <a:t>The nodes are deliberately dumb. Every decision that needs more than one radio happens server-side.</a:t>
            </a:r>
          </a:p>
        </p:txBody>
      </p:sp>
      <p:sp>
        <p:nvSpPr>
          <p:cNvPr id="5" name="Rectangle 4"/>
          <p:cNvSpPr/>
          <p:nvPr/>
        </p:nvSpPr>
        <p:spPr>
          <a:xfrm>
            <a:off x="566928" y="2139696"/>
            <a:ext cx="1984248" cy="969264"/>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731520" y="2304288"/>
            <a:ext cx="1655064" cy="219456"/>
          </a:xfrm>
          <a:prstGeom prst="rect">
            <a:avLst/>
          </a:prstGeom>
          <a:noFill/>
        </p:spPr>
        <p:txBody>
          <a:bodyPr wrap="square" lIns="0" tIns="0" rIns="0" bIns="0">
            <a:spAutoFit/>
          </a:bodyPr>
          <a:lstStyle/>
          <a:p>
            <a:r>
              <a:rPr sz="1000" b="1">
                <a:solidFill>
                  <a:srgbClr val="16416E"/>
                </a:solidFill>
                <a:latin typeface="Consolas"/>
              </a:rPr>
              <a:t>01</a:t>
            </a:r>
          </a:p>
        </p:txBody>
      </p:sp>
      <p:sp>
        <p:nvSpPr>
          <p:cNvPr id="7" name="TextBox 6"/>
          <p:cNvSpPr txBox="1"/>
          <p:nvPr/>
        </p:nvSpPr>
        <p:spPr>
          <a:xfrm>
            <a:off x="731520" y="2578608"/>
            <a:ext cx="1655064" cy="365760"/>
          </a:xfrm>
          <a:prstGeom prst="rect">
            <a:avLst/>
          </a:prstGeom>
          <a:noFill/>
        </p:spPr>
        <p:txBody>
          <a:bodyPr wrap="square" lIns="0" tIns="0" rIns="0" bIns="0">
            <a:spAutoFit/>
          </a:bodyPr>
          <a:lstStyle/>
          <a:p>
            <a:r>
              <a:rPr sz="1100" b="1">
                <a:solidFill>
                  <a:srgbClr val="101823"/>
                </a:solidFill>
                <a:latin typeface="Arial"/>
              </a:rPr>
              <a:t>DEVICES</a:t>
            </a:r>
          </a:p>
        </p:txBody>
      </p:sp>
      <p:sp>
        <p:nvSpPr>
          <p:cNvPr id="8" name="TextBox 7"/>
          <p:cNvSpPr txBox="1"/>
          <p:nvPr/>
        </p:nvSpPr>
        <p:spPr>
          <a:xfrm>
            <a:off x="731520" y="3255264"/>
            <a:ext cx="1655064" cy="1005840"/>
          </a:xfrm>
          <a:prstGeom prst="rect">
            <a:avLst/>
          </a:prstGeom>
          <a:noFill/>
        </p:spPr>
        <p:txBody>
          <a:bodyPr wrap="square" lIns="0" tIns="0" rIns="0" bIns="0">
            <a:spAutoFit/>
          </a:bodyPr>
          <a:lstStyle/>
          <a:p>
            <a:pPr>
              <a:lnSpc>
                <a:spcPct val="115000"/>
              </a:lnSpc>
            </a:pPr>
            <a:r>
              <a:rPr sz="1050" b="0">
                <a:solidFill>
                  <a:srgbClr val="5C6875"/>
                </a:solidFill>
                <a:latin typeface="Calibri"/>
              </a:rPr>
              <a:t>Phones and laptops emit probe requests across channels 1–13, unprompted.</a:t>
            </a:r>
          </a:p>
        </p:txBody>
      </p:sp>
      <p:sp>
        <p:nvSpPr>
          <p:cNvPr id="9" name="TextBox 8"/>
          <p:cNvSpPr txBox="1"/>
          <p:nvPr/>
        </p:nvSpPr>
        <p:spPr>
          <a:xfrm>
            <a:off x="2551176" y="2487168"/>
            <a:ext cx="283464" cy="274320"/>
          </a:xfrm>
          <a:prstGeom prst="rect">
            <a:avLst/>
          </a:prstGeom>
          <a:noFill/>
        </p:spPr>
        <p:txBody>
          <a:bodyPr wrap="square" lIns="0" tIns="0" rIns="0" bIns="0">
            <a:spAutoFit/>
          </a:bodyPr>
          <a:lstStyle/>
          <a:p>
            <a:pPr algn="ctr"/>
            <a:r>
              <a:rPr sz="1300" b="0">
                <a:solidFill>
                  <a:srgbClr val="5C6875"/>
                </a:solidFill>
                <a:latin typeface="Calibri"/>
              </a:rPr>
              <a:t>→</a:t>
            </a:r>
          </a:p>
        </p:txBody>
      </p:sp>
      <p:sp>
        <p:nvSpPr>
          <p:cNvPr id="10" name="Rectangle 9"/>
          <p:cNvSpPr/>
          <p:nvPr/>
        </p:nvSpPr>
        <p:spPr>
          <a:xfrm>
            <a:off x="2834640" y="2139696"/>
            <a:ext cx="1984248" cy="969264"/>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2999232" y="2304288"/>
            <a:ext cx="1655064" cy="219456"/>
          </a:xfrm>
          <a:prstGeom prst="rect">
            <a:avLst/>
          </a:prstGeom>
          <a:noFill/>
        </p:spPr>
        <p:txBody>
          <a:bodyPr wrap="square" lIns="0" tIns="0" rIns="0" bIns="0">
            <a:spAutoFit/>
          </a:bodyPr>
          <a:lstStyle/>
          <a:p>
            <a:r>
              <a:rPr sz="1000" b="1">
                <a:solidFill>
                  <a:srgbClr val="16416E"/>
                </a:solidFill>
                <a:latin typeface="Consolas"/>
              </a:rPr>
              <a:t>02</a:t>
            </a:r>
          </a:p>
        </p:txBody>
      </p:sp>
      <p:sp>
        <p:nvSpPr>
          <p:cNvPr id="12" name="TextBox 11"/>
          <p:cNvSpPr txBox="1"/>
          <p:nvPr/>
        </p:nvSpPr>
        <p:spPr>
          <a:xfrm>
            <a:off x="2999232" y="2578608"/>
            <a:ext cx="1655064" cy="365760"/>
          </a:xfrm>
          <a:prstGeom prst="rect">
            <a:avLst/>
          </a:prstGeom>
          <a:noFill/>
        </p:spPr>
        <p:txBody>
          <a:bodyPr wrap="square" lIns="0" tIns="0" rIns="0" bIns="0">
            <a:spAutoFit/>
          </a:bodyPr>
          <a:lstStyle/>
          <a:p>
            <a:r>
              <a:rPr sz="1100" b="1">
                <a:solidFill>
                  <a:srgbClr val="101823"/>
                </a:solidFill>
                <a:latin typeface="Arial"/>
              </a:rPr>
              <a:t>ESP32 NODES</a:t>
            </a:r>
          </a:p>
        </p:txBody>
      </p:sp>
      <p:sp>
        <p:nvSpPr>
          <p:cNvPr id="13" name="TextBox 12"/>
          <p:cNvSpPr txBox="1"/>
          <p:nvPr/>
        </p:nvSpPr>
        <p:spPr>
          <a:xfrm>
            <a:off x="2999232" y="3255264"/>
            <a:ext cx="1655064" cy="1005840"/>
          </a:xfrm>
          <a:prstGeom prst="rect">
            <a:avLst/>
          </a:prstGeom>
          <a:noFill/>
        </p:spPr>
        <p:txBody>
          <a:bodyPr wrap="square" lIns="0" tIns="0" rIns="0" bIns="0">
            <a:spAutoFit/>
          </a:bodyPr>
          <a:lstStyle/>
          <a:p>
            <a:pPr>
              <a:lnSpc>
                <a:spcPct val="115000"/>
              </a:lnSpc>
            </a:pPr>
            <a:r>
              <a:rPr sz="1050" b="0">
                <a:solidFill>
                  <a:srgbClr val="5C6875"/>
                </a:solidFill>
                <a:latin typeface="Calibri"/>
              </a:rPr>
              <a:t>Three radios in promiscuous mode read each frame's source MAC and RSSI.</a:t>
            </a:r>
          </a:p>
        </p:txBody>
      </p:sp>
      <p:sp>
        <p:nvSpPr>
          <p:cNvPr id="14" name="TextBox 13"/>
          <p:cNvSpPr txBox="1"/>
          <p:nvPr/>
        </p:nvSpPr>
        <p:spPr>
          <a:xfrm>
            <a:off x="4818888" y="2487168"/>
            <a:ext cx="283464" cy="274320"/>
          </a:xfrm>
          <a:prstGeom prst="rect">
            <a:avLst/>
          </a:prstGeom>
          <a:noFill/>
        </p:spPr>
        <p:txBody>
          <a:bodyPr wrap="square" lIns="0" tIns="0" rIns="0" bIns="0">
            <a:spAutoFit/>
          </a:bodyPr>
          <a:lstStyle/>
          <a:p>
            <a:pPr algn="ctr"/>
            <a:r>
              <a:rPr sz="1300" b="0">
                <a:solidFill>
                  <a:srgbClr val="5C6875"/>
                </a:solidFill>
                <a:latin typeface="Calibri"/>
              </a:rPr>
              <a:t>→</a:t>
            </a:r>
          </a:p>
        </p:txBody>
      </p:sp>
      <p:sp>
        <p:nvSpPr>
          <p:cNvPr id="15" name="Rectangle 14"/>
          <p:cNvSpPr/>
          <p:nvPr/>
        </p:nvSpPr>
        <p:spPr>
          <a:xfrm>
            <a:off x="5102352" y="2139696"/>
            <a:ext cx="1984248" cy="969264"/>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5266944" y="2304288"/>
            <a:ext cx="1655064" cy="219456"/>
          </a:xfrm>
          <a:prstGeom prst="rect">
            <a:avLst/>
          </a:prstGeom>
          <a:noFill/>
        </p:spPr>
        <p:txBody>
          <a:bodyPr wrap="square" lIns="0" tIns="0" rIns="0" bIns="0">
            <a:spAutoFit/>
          </a:bodyPr>
          <a:lstStyle/>
          <a:p>
            <a:r>
              <a:rPr sz="1000" b="1">
                <a:solidFill>
                  <a:srgbClr val="16416E"/>
                </a:solidFill>
                <a:latin typeface="Consolas"/>
              </a:rPr>
              <a:t>03</a:t>
            </a:r>
          </a:p>
        </p:txBody>
      </p:sp>
      <p:sp>
        <p:nvSpPr>
          <p:cNvPr id="17" name="TextBox 16"/>
          <p:cNvSpPr txBox="1"/>
          <p:nvPr/>
        </p:nvSpPr>
        <p:spPr>
          <a:xfrm>
            <a:off x="5266944" y="2578608"/>
            <a:ext cx="1655064" cy="365760"/>
          </a:xfrm>
          <a:prstGeom prst="rect">
            <a:avLst/>
          </a:prstGeom>
          <a:noFill/>
        </p:spPr>
        <p:txBody>
          <a:bodyPr wrap="square" lIns="0" tIns="0" rIns="0" bIns="0">
            <a:spAutoFit/>
          </a:bodyPr>
          <a:lstStyle/>
          <a:p>
            <a:r>
              <a:rPr sz="1100" b="1">
                <a:solidFill>
                  <a:srgbClr val="101823"/>
                </a:solidFill>
                <a:latin typeface="Arial"/>
              </a:rPr>
              <a:t>BACKEND</a:t>
            </a:r>
          </a:p>
        </p:txBody>
      </p:sp>
      <p:sp>
        <p:nvSpPr>
          <p:cNvPr id="18" name="TextBox 17"/>
          <p:cNvSpPr txBox="1"/>
          <p:nvPr/>
        </p:nvSpPr>
        <p:spPr>
          <a:xfrm>
            <a:off x="5266944" y="3255264"/>
            <a:ext cx="1655064" cy="1005840"/>
          </a:xfrm>
          <a:prstGeom prst="rect">
            <a:avLst/>
          </a:prstGeom>
          <a:noFill/>
        </p:spPr>
        <p:txBody>
          <a:bodyPr wrap="square" lIns="0" tIns="0" rIns="0" bIns="0">
            <a:spAutoFit/>
          </a:bodyPr>
          <a:lstStyle/>
          <a:p>
            <a:pPr>
              <a:lnSpc>
                <a:spcPct val="115000"/>
              </a:lnSpc>
            </a:pPr>
            <a:r>
              <a:rPr sz="1050" b="0">
                <a:solidFill>
                  <a:srgbClr val="5C6875"/>
                </a:solidFill>
                <a:latin typeface="Calibri"/>
              </a:rPr>
              <a:t>A Flask server groups readings by MAC inside a bounded time window.</a:t>
            </a:r>
          </a:p>
        </p:txBody>
      </p:sp>
      <p:sp>
        <p:nvSpPr>
          <p:cNvPr id="19" name="TextBox 18"/>
          <p:cNvSpPr txBox="1"/>
          <p:nvPr/>
        </p:nvSpPr>
        <p:spPr>
          <a:xfrm>
            <a:off x="7086600" y="2487168"/>
            <a:ext cx="283464" cy="274320"/>
          </a:xfrm>
          <a:prstGeom prst="rect">
            <a:avLst/>
          </a:prstGeom>
          <a:noFill/>
        </p:spPr>
        <p:txBody>
          <a:bodyPr wrap="square" lIns="0" tIns="0" rIns="0" bIns="0">
            <a:spAutoFit/>
          </a:bodyPr>
          <a:lstStyle/>
          <a:p>
            <a:pPr algn="ctr"/>
            <a:r>
              <a:rPr sz="1300" b="0">
                <a:solidFill>
                  <a:srgbClr val="5C6875"/>
                </a:solidFill>
                <a:latin typeface="Calibri"/>
              </a:rPr>
              <a:t>→</a:t>
            </a:r>
          </a:p>
        </p:txBody>
      </p:sp>
      <p:sp>
        <p:nvSpPr>
          <p:cNvPr id="20" name="Rectangle 19"/>
          <p:cNvSpPr/>
          <p:nvPr/>
        </p:nvSpPr>
        <p:spPr>
          <a:xfrm>
            <a:off x="7370063" y="2139696"/>
            <a:ext cx="1984248" cy="969264"/>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7534655" y="2304288"/>
            <a:ext cx="1655064" cy="219456"/>
          </a:xfrm>
          <a:prstGeom prst="rect">
            <a:avLst/>
          </a:prstGeom>
          <a:noFill/>
        </p:spPr>
        <p:txBody>
          <a:bodyPr wrap="square" lIns="0" tIns="0" rIns="0" bIns="0">
            <a:spAutoFit/>
          </a:bodyPr>
          <a:lstStyle/>
          <a:p>
            <a:r>
              <a:rPr sz="1000" b="1">
                <a:solidFill>
                  <a:srgbClr val="16416E"/>
                </a:solidFill>
                <a:latin typeface="Consolas"/>
              </a:rPr>
              <a:t>04</a:t>
            </a:r>
          </a:p>
        </p:txBody>
      </p:sp>
      <p:sp>
        <p:nvSpPr>
          <p:cNvPr id="22" name="TextBox 21"/>
          <p:cNvSpPr txBox="1"/>
          <p:nvPr/>
        </p:nvSpPr>
        <p:spPr>
          <a:xfrm>
            <a:off x="7534655" y="2578608"/>
            <a:ext cx="1655064" cy="365760"/>
          </a:xfrm>
          <a:prstGeom prst="rect">
            <a:avLst/>
          </a:prstGeom>
          <a:noFill/>
        </p:spPr>
        <p:txBody>
          <a:bodyPr wrap="square" lIns="0" tIns="0" rIns="0" bIns="0">
            <a:spAutoFit/>
          </a:bodyPr>
          <a:lstStyle/>
          <a:p>
            <a:r>
              <a:rPr sz="1100" b="1">
                <a:solidFill>
                  <a:srgbClr val="101823"/>
                </a:solidFill>
                <a:latin typeface="Arial"/>
              </a:rPr>
              <a:t>TRILATERATION</a:t>
            </a:r>
          </a:p>
        </p:txBody>
      </p:sp>
      <p:sp>
        <p:nvSpPr>
          <p:cNvPr id="23" name="TextBox 22"/>
          <p:cNvSpPr txBox="1"/>
          <p:nvPr/>
        </p:nvSpPr>
        <p:spPr>
          <a:xfrm>
            <a:off x="7534655" y="3255264"/>
            <a:ext cx="1655064" cy="1005840"/>
          </a:xfrm>
          <a:prstGeom prst="rect">
            <a:avLst/>
          </a:prstGeom>
          <a:noFill/>
        </p:spPr>
        <p:txBody>
          <a:bodyPr wrap="square" lIns="0" tIns="0" rIns="0" bIns="0">
            <a:spAutoFit/>
          </a:bodyPr>
          <a:lstStyle/>
          <a:p>
            <a:pPr>
              <a:lnSpc>
                <a:spcPct val="115000"/>
              </a:lnSpc>
            </a:pPr>
            <a:r>
              <a:rPr sz="1050" b="0">
                <a:solidFill>
                  <a:srgbClr val="5C6875"/>
                </a:solidFill>
                <a:latin typeface="Calibri"/>
              </a:rPr>
              <a:t>Least squares turns three range estimates into one (x, y) fix.</a:t>
            </a:r>
          </a:p>
        </p:txBody>
      </p:sp>
      <p:sp>
        <p:nvSpPr>
          <p:cNvPr id="24" name="TextBox 23"/>
          <p:cNvSpPr txBox="1"/>
          <p:nvPr/>
        </p:nvSpPr>
        <p:spPr>
          <a:xfrm>
            <a:off x="9354311" y="2487168"/>
            <a:ext cx="283464" cy="274320"/>
          </a:xfrm>
          <a:prstGeom prst="rect">
            <a:avLst/>
          </a:prstGeom>
          <a:noFill/>
        </p:spPr>
        <p:txBody>
          <a:bodyPr wrap="square" lIns="0" tIns="0" rIns="0" bIns="0">
            <a:spAutoFit/>
          </a:bodyPr>
          <a:lstStyle/>
          <a:p>
            <a:pPr algn="ctr"/>
            <a:r>
              <a:rPr sz="1300" b="0">
                <a:solidFill>
                  <a:srgbClr val="5C6875"/>
                </a:solidFill>
                <a:latin typeface="Calibri"/>
              </a:rPr>
              <a:t>→</a:t>
            </a:r>
          </a:p>
        </p:txBody>
      </p:sp>
      <p:sp>
        <p:nvSpPr>
          <p:cNvPr id="25" name="Rectangle 24"/>
          <p:cNvSpPr/>
          <p:nvPr/>
        </p:nvSpPr>
        <p:spPr>
          <a:xfrm>
            <a:off x="9637776" y="2139696"/>
            <a:ext cx="1984248" cy="969264"/>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9802367" y="2304288"/>
            <a:ext cx="1655064" cy="219456"/>
          </a:xfrm>
          <a:prstGeom prst="rect">
            <a:avLst/>
          </a:prstGeom>
          <a:noFill/>
        </p:spPr>
        <p:txBody>
          <a:bodyPr wrap="square" lIns="0" tIns="0" rIns="0" bIns="0">
            <a:spAutoFit/>
          </a:bodyPr>
          <a:lstStyle/>
          <a:p>
            <a:r>
              <a:rPr sz="1000" b="1">
                <a:solidFill>
                  <a:srgbClr val="16416E"/>
                </a:solidFill>
                <a:latin typeface="Consolas"/>
              </a:rPr>
              <a:t>05</a:t>
            </a:r>
          </a:p>
        </p:txBody>
      </p:sp>
      <p:sp>
        <p:nvSpPr>
          <p:cNvPr id="27" name="TextBox 26"/>
          <p:cNvSpPr txBox="1"/>
          <p:nvPr/>
        </p:nvSpPr>
        <p:spPr>
          <a:xfrm>
            <a:off x="9802367" y="2578608"/>
            <a:ext cx="1655064" cy="365760"/>
          </a:xfrm>
          <a:prstGeom prst="rect">
            <a:avLst/>
          </a:prstGeom>
          <a:noFill/>
        </p:spPr>
        <p:txBody>
          <a:bodyPr wrap="square" lIns="0" tIns="0" rIns="0" bIns="0">
            <a:spAutoFit/>
          </a:bodyPr>
          <a:lstStyle/>
          <a:p>
            <a:r>
              <a:rPr sz="1100" b="1">
                <a:solidFill>
                  <a:srgbClr val="101823"/>
                </a:solidFill>
                <a:latin typeface="Arial"/>
              </a:rPr>
              <a:t>LIVE MAP</a:t>
            </a:r>
          </a:p>
        </p:txBody>
      </p:sp>
      <p:sp>
        <p:nvSpPr>
          <p:cNvPr id="28" name="TextBox 27"/>
          <p:cNvSpPr txBox="1"/>
          <p:nvPr/>
        </p:nvSpPr>
        <p:spPr>
          <a:xfrm>
            <a:off x="9802367" y="3255264"/>
            <a:ext cx="1655064" cy="1005840"/>
          </a:xfrm>
          <a:prstGeom prst="rect">
            <a:avLst/>
          </a:prstGeom>
          <a:noFill/>
        </p:spPr>
        <p:txBody>
          <a:bodyPr wrap="square" lIns="0" tIns="0" rIns="0" bIns="0">
            <a:spAutoFit/>
          </a:bodyPr>
          <a:lstStyle/>
          <a:p>
            <a:pPr>
              <a:lnSpc>
                <a:spcPct val="115000"/>
              </a:lnSpc>
            </a:pPr>
            <a:r>
              <a:rPr sz="1050" b="0">
                <a:solidFill>
                  <a:srgbClr val="5C6875"/>
                </a:solidFill>
                <a:latin typeface="Calibri"/>
              </a:rPr>
              <a:t>A browser canvas repaints positions and density once per second.</a:t>
            </a:r>
          </a:p>
        </p:txBody>
      </p:sp>
      <p:sp>
        <p:nvSpPr>
          <p:cNvPr id="29" name="Rectangle 28"/>
          <p:cNvSpPr/>
          <p:nvPr/>
        </p:nvSpPr>
        <p:spPr>
          <a:xfrm>
            <a:off x="566928" y="4498848"/>
            <a:ext cx="11055096" cy="10972"/>
          </a:xfrm>
          <a:prstGeom prst="rect">
            <a:avLst/>
          </a:prstGeom>
          <a:solidFill>
            <a:srgbClr val="DF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566928" y="4700016"/>
            <a:ext cx="5486400" cy="219456"/>
          </a:xfrm>
          <a:prstGeom prst="rect">
            <a:avLst/>
          </a:prstGeom>
          <a:noFill/>
        </p:spPr>
        <p:txBody>
          <a:bodyPr wrap="square" lIns="0" tIns="0" rIns="0" bIns="0">
            <a:spAutoFit/>
          </a:bodyPr>
          <a:lstStyle/>
          <a:p>
            <a:r>
              <a:rPr sz="1000" b="1">
                <a:solidFill>
                  <a:srgbClr val="5C6875"/>
                </a:solidFill>
                <a:latin typeface="Arial"/>
              </a:rPr>
              <a:t>WHY THE NODES STAY DUMB</a:t>
            </a:r>
          </a:p>
        </p:txBody>
      </p:sp>
      <p:sp>
        <p:nvSpPr>
          <p:cNvPr id="31" name="Rectangle 30"/>
          <p:cNvSpPr/>
          <p:nvPr/>
        </p:nvSpPr>
        <p:spPr>
          <a:xfrm>
            <a:off x="566928" y="4974336"/>
            <a:ext cx="11055096" cy="1005840"/>
          </a:xfrm>
          <a:prstGeom prst="rect">
            <a:avLst/>
          </a:prstGeom>
          <a:solidFill>
            <a:srgbClr val="F6E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768096" y="5175504"/>
            <a:ext cx="10652760" cy="603504"/>
          </a:xfrm>
          <a:prstGeom prst="rect">
            <a:avLst/>
          </a:prstGeom>
          <a:noFill/>
        </p:spPr>
        <p:txBody>
          <a:bodyPr wrap="square" lIns="0" tIns="0" rIns="0" bIns="0">
            <a:spAutoFit/>
          </a:bodyPr>
          <a:lstStyle/>
          <a:p>
            <a:pPr>
              <a:lnSpc>
                <a:spcPct val="115000"/>
              </a:lnSpc>
            </a:pPr>
            <a:r>
              <a:rPr sz="1350" b="0">
                <a:solidFill>
                  <a:srgbClr val="5C6875"/>
                </a:solidFill>
                <a:latin typeface="Calibri"/>
              </a:rPr>
              <a:t>The three nodes never communicate with each other, and none of them knows where it is. All fusion happens on the server, which keeps the firmware small enough to fit alongside the sniffer and makes adding a fourth node a change to one JSON file rather than a redesign.</a:t>
            </a:r>
          </a:p>
        </p:txBody>
      </p:sp>
      <p:sp>
        <p:nvSpPr>
          <p:cNvPr id="33" name="TextBox 32"/>
          <p:cNvSpPr txBox="1"/>
          <p:nvPr/>
        </p:nvSpPr>
        <p:spPr>
          <a:xfrm>
            <a:off x="10981944" y="6437376"/>
            <a:ext cx="640080" cy="256032"/>
          </a:xfrm>
          <a:prstGeom prst="rect">
            <a:avLst/>
          </a:prstGeom>
          <a:noFill/>
        </p:spPr>
        <p:txBody>
          <a:bodyPr wrap="square" lIns="0" tIns="0" rIns="0" bIns="0">
            <a:spAutoFit/>
          </a:bodyPr>
          <a:lstStyle/>
          <a:p>
            <a:pPr algn="r"/>
            <a:r>
              <a:rPr sz="900" b="0">
                <a:solidFill>
                  <a:srgbClr val="5C6875"/>
                </a:solidFill>
                <a:latin typeface="Arial"/>
              </a:rP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5096" cy="237744"/>
          </a:xfrm>
          <a:prstGeom prst="rect">
            <a:avLst/>
          </a:prstGeom>
          <a:noFill/>
        </p:spPr>
        <p:txBody>
          <a:bodyPr wrap="square" lIns="0" tIns="0" rIns="0" bIns="0">
            <a:spAutoFit/>
          </a:bodyPr>
          <a:lstStyle/>
          <a:p>
            <a:r>
              <a:rPr sz="1050" b="1">
                <a:solidFill>
                  <a:srgbClr val="16416E"/>
                </a:solidFill>
                <a:latin typeface="Arial"/>
              </a:rPr>
              <a:t>METHOD / CAPTURE</a:t>
            </a:r>
          </a:p>
        </p:txBody>
      </p:sp>
      <p:sp>
        <p:nvSpPr>
          <p:cNvPr id="3" name="TextBox 2"/>
          <p:cNvSpPr txBox="1"/>
          <p:nvPr/>
        </p:nvSpPr>
        <p:spPr>
          <a:xfrm>
            <a:off x="566928" y="713232"/>
            <a:ext cx="11055096" cy="960120"/>
          </a:xfrm>
          <a:prstGeom prst="rect">
            <a:avLst/>
          </a:prstGeom>
          <a:noFill/>
        </p:spPr>
        <p:txBody>
          <a:bodyPr wrap="square" lIns="0" tIns="0" rIns="0" bIns="0">
            <a:spAutoFit/>
          </a:bodyPr>
          <a:lstStyle/>
          <a:p>
            <a:pPr>
              <a:lnSpc>
                <a:spcPct val="105000"/>
              </a:lnSpc>
            </a:pPr>
            <a:r>
              <a:rPr sz="3000" b="1">
                <a:solidFill>
                  <a:srgbClr val="101823"/>
                </a:solidFill>
                <a:latin typeface="Arial"/>
              </a:rPr>
              <a:t>Promiscuous mode: read every frame, join no network.</a:t>
            </a:r>
          </a:p>
        </p:txBody>
      </p:sp>
      <p:sp>
        <p:nvSpPr>
          <p:cNvPr id="4" name="TextBox 3"/>
          <p:cNvSpPr txBox="1"/>
          <p:nvPr/>
        </p:nvSpPr>
        <p:spPr>
          <a:xfrm>
            <a:off x="566928" y="1828800"/>
            <a:ext cx="4937760" cy="2377440"/>
          </a:xfrm>
          <a:prstGeom prst="rect">
            <a:avLst/>
          </a:prstGeom>
          <a:noFill/>
        </p:spPr>
        <p:txBody>
          <a:bodyPr wrap="square" lIns="0" tIns="0" rIns="0" bIns="0">
            <a:spAutoFit/>
          </a:bodyPr>
          <a:lstStyle/>
          <a:p>
            <a:pPr>
              <a:lnSpc>
                <a:spcPct val="115000"/>
              </a:lnSpc>
              <a:spcAft>
                <a:spcPts val="1100"/>
              </a:spcAft>
            </a:pPr>
            <a:r>
              <a:rPr sz="1350" b="0">
                <a:solidFill>
                  <a:srgbClr val="5C6875"/>
                </a:solidFill>
                <a:latin typeface="Calibri"/>
              </a:rPr>
              <a:t>The ESP32 radio can be placed in a mode where it passes every received 802.11 frame to a callback, regardless of who the frame was addressed to.</a:t>
            </a:r>
          </a:p>
          <a:p>
            <a:pPr>
              <a:lnSpc>
                <a:spcPct val="115000"/>
              </a:lnSpc>
              <a:spcAft>
                <a:spcPts val="1100"/>
              </a:spcAft>
            </a:pPr>
            <a:r>
              <a:rPr sz="1350" b="0">
                <a:solidFill>
                  <a:srgbClr val="5C6875"/>
                </a:solidFill>
                <a:latin typeface="Calibri"/>
              </a:rPr>
              <a:t>Management frames are unencrypted, so both the source address and the receiver's own RSSI reading are available without any key material at all.</a:t>
            </a:r>
          </a:p>
          <a:p>
            <a:pPr>
              <a:lnSpc>
                <a:spcPct val="115000"/>
              </a:lnSpc>
              <a:spcAft>
                <a:spcPts val="1100"/>
              </a:spcAft>
            </a:pPr>
            <a:r>
              <a:rPr sz="1350" b="0">
                <a:solidFill>
                  <a:srgbClr val="5C6875"/>
                </a:solidFill>
                <a:latin typeface="Calibri"/>
              </a:rPr>
              <a:t>The node discards broadcast and multicast addresses, applies a signal floor, and forwards what is left.</a:t>
            </a:r>
          </a:p>
        </p:txBody>
      </p:sp>
      <p:sp>
        <p:nvSpPr>
          <p:cNvPr id="5" name="TextBox 4"/>
          <p:cNvSpPr txBox="1"/>
          <p:nvPr/>
        </p:nvSpPr>
        <p:spPr>
          <a:xfrm>
            <a:off x="6053328" y="1828800"/>
            <a:ext cx="5568696" cy="219456"/>
          </a:xfrm>
          <a:prstGeom prst="rect">
            <a:avLst/>
          </a:prstGeom>
          <a:noFill/>
        </p:spPr>
        <p:txBody>
          <a:bodyPr wrap="square" lIns="0" tIns="0" rIns="0" bIns="0">
            <a:spAutoFit/>
          </a:bodyPr>
          <a:lstStyle/>
          <a:p>
            <a:r>
              <a:rPr sz="1000" b="1">
                <a:solidFill>
                  <a:srgbClr val="5C6875"/>
                </a:solidFill>
                <a:latin typeface="Arial"/>
              </a:rPr>
              <a:t>PACKET CALLBACK  —  ESP-IDF</a:t>
            </a:r>
          </a:p>
        </p:txBody>
      </p:sp>
      <p:sp>
        <p:nvSpPr>
          <p:cNvPr id="6" name="Rectangle 5"/>
          <p:cNvSpPr/>
          <p:nvPr/>
        </p:nvSpPr>
        <p:spPr>
          <a:xfrm>
            <a:off x="6053328" y="2121408"/>
            <a:ext cx="5568696" cy="2139696"/>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6254496" y="2304288"/>
            <a:ext cx="5166360" cy="1810512"/>
          </a:xfrm>
          <a:prstGeom prst="rect">
            <a:avLst/>
          </a:prstGeom>
          <a:noFill/>
        </p:spPr>
        <p:txBody>
          <a:bodyPr wrap="square" lIns="0" tIns="0" rIns="0" bIns="0">
            <a:spAutoFit/>
          </a:bodyPr>
          <a:lstStyle/>
          <a:p>
            <a:pPr>
              <a:lnSpc>
                <a:spcPct val="118000"/>
              </a:lnSpc>
            </a:pPr>
            <a:r>
              <a:rPr sz="1000" b="0">
                <a:solidFill>
                  <a:srgbClr val="101823"/>
                </a:solidFill>
                <a:latin typeface="Consolas"/>
              </a:rPr>
              <a:t>void sniffer_cb(void *buf,</a:t>
            </a:r>
          </a:p>
          <a:p>
            <a:pPr>
              <a:lnSpc>
                <a:spcPct val="118000"/>
              </a:lnSpc>
            </a:pPr>
            <a:r>
              <a:rPr sz="1000" b="0">
                <a:solidFill>
                  <a:srgbClr val="101823"/>
                </a:solidFill>
                <a:latin typeface="Consolas"/>
              </a:rPr>
              <a:t>                wifi_promiscuous_pkt_type_t type) {</a:t>
            </a:r>
          </a:p>
          <a:p>
            <a:pPr>
              <a:lnSpc>
                <a:spcPct val="118000"/>
              </a:lnSpc>
            </a:pPr>
            <a:r>
              <a:rPr sz="1000" b="0">
                <a:solidFill>
                  <a:srgbClr val="101823"/>
                </a:solidFill>
                <a:latin typeface="Consolas"/>
              </a:rPr>
              <a:t>  auto    *pkt  = (wifi_promiscuous_pkt_t *) buf;</a:t>
            </a:r>
          </a:p>
          <a:p>
            <a:pPr>
              <a:lnSpc>
                <a:spcPct val="118000"/>
              </a:lnSpc>
            </a:pPr>
            <a:r>
              <a:rPr sz="1000" b="0">
                <a:solidFill>
                  <a:srgbClr val="101823"/>
                </a:solidFill>
                <a:latin typeface="Consolas"/>
              </a:rPr>
              <a:t>  int8_t   rssi = pkt-&gt;rx_ctrl.rssi;</a:t>
            </a:r>
          </a:p>
          <a:p>
            <a:pPr>
              <a:lnSpc>
                <a:spcPct val="118000"/>
              </a:lnSpc>
            </a:pPr>
            <a:r>
              <a:rPr sz="1000" b="0">
                <a:solidFill>
                  <a:srgbClr val="101823"/>
                </a:solidFill>
                <a:latin typeface="Consolas"/>
              </a:rPr>
              <a:t>  uint8_t *mac  = pkt-&gt;payload + 10;</a:t>
            </a:r>
          </a:p>
          <a:p>
            <a:pPr>
              <a:lnSpc>
                <a:spcPct val="118000"/>
              </a:lnSpc>
            </a:pPr>
            <a:endParaRPr sz="1000" b="0">
              <a:solidFill>
                <a:srgbClr val="101823"/>
              </a:solidFill>
              <a:latin typeface="Consolas"/>
            </a:endParaRPr>
          </a:p>
          <a:p>
            <a:pPr>
              <a:lnSpc>
                <a:spcPct val="118000"/>
              </a:lnSpc>
            </a:pPr>
            <a:r>
              <a:rPr sz="1000" b="0">
                <a:solidFill>
                  <a:srgbClr val="101823"/>
                </a:solidFill>
                <a:latin typeface="Consolas"/>
              </a:rPr>
              <a:t>  if (rssi &lt; RSSI_FLOOR) return;</a:t>
            </a:r>
          </a:p>
          <a:p>
            <a:pPr>
              <a:lnSpc>
                <a:spcPct val="118000"/>
              </a:lnSpc>
            </a:pPr>
            <a:r>
              <a:rPr sz="1000" b="0">
                <a:solidFill>
                  <a:srgbClr val="101823"/>
                </a:solidFill>
                <a:latin typeface="Consolas"/>
              </a:rPr>
              <a:t>  publish(mac, rssi, NODE_ID, millis());</a:t>
            </a:r>
          </a:p>
          <a:p>
            <a:pPr>
              <a:lnSpc>
                <a:spcPct val="118000"/>
              </a:lnSpc>
            </a:pPr>
            <a:r>
              <a:rPr sz="1000" b="0">
                <a:solidFill>
                  <a:srgbClr val="101823"/>
                </a:solidFill>
                <a:latin typeface="Consolas"/>
              </a:rPr>
              <a:t>}</a:t>
            </a:r>
          </a:p>
        </p:txBody>
      </p:sp>
      <p:sp>
        <p:nvSpPr>
          <p:cNvPr id="8" name="TextBox 7"/>
          <p:cNvSpPr txBox="1"/>
          <p:nvPr/>
        </p:nvSpPr>
        <p:spPr>
          <a:xfrm>
            <a:off x="566928" y="4407408"/>
            <a:ext cx="1463040" cy="237744"/>
          </a:xfrm>
          <a:prstGeom prst="rect">
            <a:avLst/>
          </a:prstGeom>
          <a:noFill/>
        </p:spPr>
        <p:txBody>
          <a:bodyPr wrap="square" lIns="0" tIns="0" rIns="0" bIns="0">
            <a:spAutoFit/>
          </a:bodyPr>
          <a:lstStyle/>
          <a:p>
            <a:r>
              <a:rPr sz="950" b="1">
                <a:solidFill>
                  <a:srgbClr val="5C6875"/>
                </a:solidFill>
                <a:latin typeface="Arial"/>
              </a:rPr>
              <a:t>RSSI FLOOR</a:t>
            </a:r>
          </a:p>
        </p:txBody>
      </p:sp>
      <p:sp>
        <p:nvSpPr>
          <p:cNvPr id="9" name="TextBox 8"/>
          <p:cNvSpPr txBox="1"/>
          <p:nvPr/>
        </p:nvSpPr>
        <p:spPr>
          <a:xfrm>
            <a:off x="2103120" y="4407408"/>
            <a:ext cx="3017520" cy="237744"/>
          </a:xfrm>
          <a:prstGeom prst="rect">
            <a:avLst/>
          </a:prstGeom>
          <a:noFill/>
        </p:spPr>
        <p:txBody>
          <a:bodyPr wrap="square" lIns="0" tIns="0" rIns="0" bIns="0">
            <a:spAutoFit/>
          </a:bodyPr>
          <a:lstStyle/>
          <a:p>
            <a:r>
              <a:rPr sz="1000" b="0">
                <a:solidFill>
                  <a:srgbClr val="101823"/>
                </a:solidFill>
                <a:latin typeface="Consolas"/>
              </a:rPr>
              <a:t>−85 dBm</a:t>
            </a:r>
          </a:p>
        </p:txBody>
      </p:sp>
      <p:sp>
        <p:nvSpPr>
          <p:cNvPr id="10" name="TextBox 9"/>
          <p:cNvSpPr txBox="1"/>
          <p:nvPr/>
        </p:nvSpPr>
        <p:spPr>
          <a:xfrm>
            <a:off x="566928" y="4681728"/>
            <a:ext cx="1463040" cy="237744"/>
          </a:xfrm>
          <a:prstGeom prst="rect">
            <a:avLst/>
          </a:prstGeom>
          <a:noFill/>
        </p:spPr>
        <p:txBody>
          <a:bodyPr wrap="square" lIns="0" tIns="0" rIns="0" bIns="0">
            <a:spAutoFit/>
          </a:bodyPr>
          <a:lstStyle/>
          <a:p>
            <a:r>
              <a:rPr sz="950" b="1">
                <a:solidFill>
                  <a:srgbClr val="5C6875"/>
                </a:solidFill>
                <a:latin typeface="Arial"/>
              </a:rPr>
              <a:t>MAC OFFSET</a:t>
            </a:r>
          </a:p>
        </p:txBody>
      </p:sp>
      <p:sp>
        <p:nvSpPr>
          <p:cNvPr id="11" name="TextBox 10"/>
          <p:cNvSpPr txBox="1"/>
          <p:nvPr/>
        </p:nvSpPr>
        <p:spPr>
          <a:xfrm>
            <a:off x="2103120" y="4681728"/>
            <a:ext cx="3017520" cy="237744"/>
          </a:xfrm>
          <a:prstGeom prst="rect">
            <a:avLst/>
          </a:prstGeom>
          <a:noFill/>
        </p:spPr>
        <p:txBody>
          <a:bodyPr wrap="square" lIns="0" tIns="0" rIns="0" bIns="0">
            <a:spAutoFit/>
          </a:bodyPr>
          <a:lstStyle/>
          <a:p>
            <a:r>
              <a:rPr sz="1000" b="0">
                <a:solidFill>
                  <a:srgbClr val="101823"/>
                </a:solidFill>
                <a:latin typeface="Consolas"/>
              </a:rPr>
              <a:t>payload + 10  (addr2)</a:t>
            </a:r>
          </a:p>
        </p:txBody>
      </p:sp>
      <p:sp>
        <p:nvSpPr>
          <p:cNvPr id="12" name="TextBox 11"/>
          <p:cNvSpPr txBox="1"/>
          <p:nvPr/>
        </p:nvSpPr>
        <p:spPr>
          <a:xfrm>
            <a:off x="566928" y="4956048"/>
            <a:ext cx="1463040" cy="237744"/>
          </a:xfrm>
          <a:prstGeom prst="rect">
            <a:avLst/>
          </a:prstGeom>
          <a:noFill/>
        </p:spPr>
        <p:txBody>
          <a:bodyPr wrap="square" lIns="0" tIns="0" rIns="0" bIns="0">
            <a:spAutoFit/>
          </a:bodyPr>
          <a:lstStyle/>
          <a:p>
            <a:r>
              <a:rPr sz="950" b="1">
                <a:solidFill>
                  <a:srgbClr val="5C6875"/>
                </a:solidFill>
                <a:latin typeface="Arial"/>
              </a:rPr>
              <a:t>UPLINK</a:t>
            </a:r>
          </a:p>
        </p:txBody>
      </p:sp>
      <p:sp>
        <p:nvSpPr>
          <p:cNvPr id="13" name="TextBox 12"/>
          <p:cNvSpPr txBox="1"/>
          <p:nvPr/>
        </p:nvSpPr>
        <p:spPr>
          <a:xfrm>
            <a:off x="2103120" y="4956048"/>
            <a:ext cx="3017520" cy="237744"/>
          </a:xfrm>
          <a:prstGeom prst="rect">
            <a:avLst/>
          </a:prstGeom>
          <a:noFill/>
        </p:spPr>
        <p:txBody>
          <a:bodyPr wrap="square" lIns="0" tIns="0" rIns="0" bIns="0">
            <a:spAutoFit/>
          </a:bodyPr>
          <a:lstStyle/>
          <a:p>
            <a:r>
              <a:rPr sz="1000" b="0">
                <a:solidFill>
                  <a:srgbClr val="101823"/>
                </a:solidFill>
                <a:latin typeface="Consolas"/>
              </a:rPr>
              <a:t>HTTP POST, JSON body</a:t>
            </a:r>
          </a:p>
        </p:txBody>
      </p:sp>
      <p:sp>
        <p:nvSpPr>
          <p:cNvPr id="14" name="Rectangle 13"/>
          <p:cNvSpPr/>
          <p:nvPr/>
        </p:nvSpPr>
        <p:spPr>
          <a:xfrm>
            <a:off x="6053328" y="4407408"/>
            <a:ext cx="5568696" cy="1005840"/>
          </a:xfrm>
          <a:prstGeom prst="rect">
            <a:avLst/>
          </a:prstGeom>
          <a:solidFill>
            <a:srgbClr val="F6E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254496" y="4608576"/>
            <a:ext cx="5166359" cy="603504"/>
          </a:xfrm>
          <a:prstGeom prst="rect">
            <a:avLst/>
          </a:prstGeom>
          <a:noFill/>
        </p:spPr>
        <p:txBody>
          <a:bodyPr wrap="square" lIns="0" tIns="0" rIns="0" bIns="0">
            <a:spAutoFit/>
          </a:bodyPr>
          <a:lstStyle/>
          <a:p>
            <a:pPr>
              <a:lnSpc>
                <a:spcPct val="115000"/>
              </a:lnSpc>
            </a:pPr>
            <a:r>
              <a:rPr sz="1350" b="0">
                <a:solidFill>
                  <a:srgbClr val="5C6875"/>
                </a:solidFill>
                <a:latin typeface="Calibri"/>
              </a:rPr>
              <a:t>One radio cannot sniff and transmit at once. Capture is suspended for the few milliseconds each POST takes, so uploads are batched — otherwise the node spends most of its life deaf.</a:t>
            </a:r>
          </a:p>
        </p:txBody>
      </p:sp>
      <p:sp>
        <p:nvSpPr>
          <p:cNvPr id="16" name="TextBox 15"/>
          <p:cNvSpPr txBox="1"/>
          <p:nvPr/>
        </p:nvSpPr>
        <p:spPr>
          <a:xfrm>
            <a:off x="10981944" y="6437376"/>
            <a:ext cx="640080" cy="256032"/>
          </a:xfrm>
          <a:prstGeom prst="rect">
            <a:avLst/>
          </a:prstGeom>
          <a:noFill/>
        </p:spPr>
        <p:txBody>
          <a:bodyPr wrap="square" lIns="0" tIns="0" rIns="0" bIns="0">
            <a:spAutoFit/>
          </a:bodyPr>
          <a:lstStyle/>
          <a:p>
            <a:pPr algn="r"/>
            <a:r>
              <a:rPr sz="900" b="0">
                <a:solidFill>
                  <a:srgbClr val="5C6875"/>
                </a:solidFill>
                <a:latin typeface="Arial"/>
              </a:rP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5096" cy="237744"/>
          </a:xfrm>
          <a:prstGeom prst="rect">
            <a:avLst/>
          </a:prstGeom>
          <a:noFill/>
        </p:spPr>
        <p:txBody>
          <a:bodyPr wrap="square" lIns="0" tIns="0" rIns="0" bIns="0">
            <a:spAutoFit/>
          </a:bodyPr>
          <a:lstStyle/>
          <a:p>
            <a:r>
              <a:rPr sz="1050" b="1">
                <a:solidFill>
                  <a:srgbClr val="16416E"/>
                </a:solidFill>
                <a:latin typeface="Arial"/>
              </a:rPr>
              <a:t>METHOD / RANGING</a:t>
            </a:r>
          </a:p>
        </p:txBody>
      </p:sp>
      <p:sp>
        <p:nvSpPr>
          <p:cNvPr id="3" name="TextBox 2"/>
          <p:cNvSpPr txBox="1"/>
          <p:nvPr/>
        </p:nvSpPr>
        <p:spPr>
          <a:xfrm>
            <a:off x="566928" y="713232"/>
            <a:ext cx="11055096" cy="960120"/>
          </a:xfrm>
          <a:prstGeom prst="rect">
            <a:avLst/>
          </a:prstGeom>
          <a:noFill/>
        </p:spPr>
        <p:txBody>
          <a:bodyPr wrap="square" lIns="0" tIns="0" rIns="0" bIns="0">
            <a:spAutoFit/>
          </a:bodyPr>
          <a:lstStyle/>
          <a:p>
            <a:pPr>
              <a:lnSpc>
                <a:spcPct val="105000"/>
              </a:lnSpc>
            </a:pPr>
            <a:r>
              <a:rPr sz="3000" b="1">
                <a:solidFill>
                  <a:srgbClr val="101823"/>
                </a:solidFill>
                <a:latin typeface="Arial"/>
              </a:rPr>
              <a:t>Signal strength becomes distance through one calibrated model.</a:t>
            </a:r>
          </a:p>
        </p:txBody>
      </p:sp>
      <p:sp>
        <p:nvSpPr>
          <p:cNvPr id="4" name="Rectangle 3"/>
          <p:cNvSpPr/>
          <p:nvPr/>
        </p:nvSpPr>
        <p:spPr>
          <a:xfrm>
            <a:off x="566928" y="1773936"/>
            <a:ext cx="11055096" cy="950976"/>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86384" y="1938528"/>
            <a:ext cx="10616184" cy="310896"/>
          </a:xfrm>
          <a:prstGeom prst="rect">
            <a:avLst/>
          </a:prstGeom>
          <a:noFill/>
        </p:spPr>
        <p:txBody>
          <a:bodyPr wrap="square" lIns="0" tIns="0" rIns="0" bIns="0">
            <a:spAutoFit/>
          </a:bodyPr>
          <a:lstStyle/>
          <a:p>
            <a:r>
              <a:rPr sz="1400" b="1">
                <a:solidFill>
                  <a:srgbClr val="101823"/>
                </a:solidFill>
                <a:latin typeface="Consolas"/>
              </a:rPr>
              <a:t>RSSI(d)  =  RSSI₀  −  10 · n · log₁₀(d / d₀)</a:t>
            </a:r>
          </a:p>
        </p:txBody>
      </p:sp>
      <p:sp>
        <p:nvSpPr>
          <p:cNvPr id="6" name="TextBox 5"/>
          <p:cNvSpPr txBox="1"/>
          <p:nvPr/>
        </p:nvSpPr>
        <p:spPr>
          <a:xfrm>
            <a:off x="786384" y="2322576"/>
            <a:ext cx="10616184" cy="310896"/>
          </a:xfrm>
          <a:prstGeom prst="rect">
            <a:avLst/>
          </a:prstGeom>
          <a:noFill/>
        </p:spPr>
        <p:txBody>
          <a:bodyPr wrap="square" lIns="0" tIns="0" rIns="0" bIns="0">
            <a:spAutoFit/>
          </a:bodyPr>
          <a:lstStyle/>
          <a:p>
            <a:r>
              <a:rPr sz="1400" b="1">
                <a:solidFill>
                  <a:srgbClr val="16416E"/>
                </a:solidFill>
                <a:latin typeface="Consolas"/>
              </a:rPr>
              <a:t>d  =  d₀ · 10^((RSSI₀ − RSSI) / (10 · n))</a:t>
            </a:r>
          </a:p>
        </p:txBody>
      </p:sp>
      <p:sp>
        <p:nvSpPr>
          <p:cNvPr id="7" name="TextBox 6"/>
          <p:cNvSpPr txBox="1"/>
          <p:nvPr/>
        </p:nvSpPr>
        <p:spPr>
          <a:xfrm>
            <a:off x="566928" y="2926080"/>
            <a:ext cx="1188720" cy="201168"/>
          </a:xfrm>
          <a:prstGeom prst="rect">
            <a:avLst/>
          </a:prstGeom>
          <a:noFill/>
        </p:spPr>
        <p:txBody>
          <a:bodyPr wrap="square" lIns="0" tIns="0" rIns="0" bIns="0">
            <a:spAutoFit/>
          </a:bodyPr>
          <a:lstStyle/>
          <a:p>
            <a:r>
              <a:rPr sz="900" b="1">
                <a:solidFill>
                  <a:srgbClr val="16416E"/>
                </a:solidFill>
                <a:latin typeface="Arial"/>
              </a:rPr>
              <a:t>SYMBOL</a:t>
            </a:r>
          </a:p>
        </p:txBody>
      </p:sp>
      <p:sp>
        <p:nvSpPr>
          <p:cNvPr id="8" name="TextBox 7"/>
          <p:cNvSpPr txBox="1"/>
          <p:nvPr/>
        </p:nvSpPr>
        <p:spPr>
          <a:xfrm>
            <a:off x="1920240" y="2926080"/>
            <a:ext cx="4480560" cy="201168"/>
          </a:xfrm>
          <a:prstGeom prst="rect">
            <a:avLst/>
          </a:prstGeom>
          <a:noFill/>
        </p:spPr>
        <p:txBody>
          <a:bodyPr wrap="square" lIns="0" tIns="0" rIns="0" bIns="0">
            <a:spAutoFit/>
          </a:bodyPr>
          <a:lstStyle/>
          <a:p>
            <a:r>
              <a:rPr sz="900" b="1">
                <a:solidFill>
                  <a:srgbClr val="16416E"/>
                </a:solidFill>
                <a:latin typeface="Arial"/>
              </a:rPr>
              <a:t>WHAT IT IS</a:t>
            </a:r>
          </a:p>
        </p:txBody>
      </p:sp>
      <p:sp>
        <p:nvSpPr>
          <p:cNvPr id="9" name="TextBox 8"/>
          <p:cNvSpPr txBox="1"/>
          <p:nvPr/>
        </p:nvSpPr>
        <p:spPr>
          <a:xfrm>
            <a:off x="6583680" y="2926080"/>
            <a:ext cx="2103120" cy="201168"/>
          </a:xfrm>
          <a:prstGeom prst="rect">
            <a:avLst/>
          </a:prstGeom>
          <a:noFill/>
        </p:spPr>
        <p:txBody>
          <a:bodyPr wrap="square" lIns="0" tIns="0" rIns="0" bIns="0">
            <a:spAutoFit/>
          </a:bodyPr>
          <a:lstStyle/>
          <a:p>
            <a:r>
              <a:rPr sz="900" b="1">
                <a:solidFill>
                  <a:srgbClr val="16416E"/>
                </a:solidFill>
                <a:latin typeface="Arial"/>
              </a:rPr>
              <a:t>VALUE USED</a:t>
            </a:r>
          </a:p>
        </p:txBody>
      </p:sp>
      <p:sp>
        <p:nvSpPr>
          <p:cNvPr id="10" name="TextBox 9"/>
          <p:cNvSpPr txBox="1"/>
          <p:nvPr/>
        </p:nvSpPr>
        <p:spPr>
          <a:xfrm>
            <a:off x="8869680" y="2926080"/>
            <a:ext cx="2752344" cy="201168"/>
          </a:xfrm>
          <a:prstGeom prst="rect">
            <a:avLst/>
          </a:prstGeom>
          <a:noFill/>
        </p:spPr>
        <p:txBody>
          <a:bodyPr wrap="square" lIns="0" tIns="0" rIns="0" bIns="0">
            <a:spAutoFit/>
          </a:bodyPr>
          <a:lstStyle/>
          <a:p>
            <a:r>
              <a:rPr sz="900" b="1">
                <a:solidFill>
                  <a:srgbClr val="16416E"/>
                </a:solidFill>
                <a:latin typeface="Arial"/>
              </a:rPr>
              <a:t>WHY IT MATTERS</a:t>
            </a:r>
          </a:p>
        </p:txBody>
      </p:sp>
      <p:sp>
        <p:nvSpPr>
          <p:cNvPr id="11" name="Rectangle 10"/>
          <p:cNvSpPr/>
          <p:nvPr/>
        </p:nvSpPr>
        <p:spPr>
          <a:xfrm>
            <a:off x="566928" y="3182112"/>
            <a:ext cx="11055096" cy="10972"/>
          </a:xfrm>
          <a:prstGeom prst="rect">
            <a:avLst/>
          </a:prstGeom>
          <a:solidFill>
            <a:srgbClr val="DF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66928" y="3328416"/>
            <a:ext cx="1188720" cy="457200"/>
          </a:xfrm>
          <a:prstGeom prst="rect">
            <a:avLst/>
          </a:prstGeom>
          <a:noFill/>
        </p:spPr>
        <p:txBody>
          <a:bodyPr wrap="square" lIns="0" tIns="0" rIns="0" bIns="0">
            <a:spAutoFit/>
          </a:bodyPr>
          <a:lstStyle/>
          <a:p>
            <a:r>
              <a:rPr sz="1100" b="1">
                <a:solidFill>
                  <a:srgbClr val="101823"/>
                </a:solidFill>
                <a:latin typeface="Consolas"/>
              </a:rPr>
              <a:t>RSSI₀</a:t>
            </a:r>
          </a:p>
        </p:txBody>
      </p:sp>
      <p:sp>
        <p:nvSpPr>
          <p:cNvPr id="13" name="TextBox 12"/>
          <p:cNvSpPr txBox="1"/>
          <p:nvPr/>
        </p:nvSpPr>
        <p:spPr>
          <a:xfrm>
            <a:off x="1920240" y="3328416"/>
            <a:ext cx="4480560" cy="457200"/>
          </a:xfrm>
          <a:prstGeom prst="rect">
            <a:avLst/>
          </a:prstGeom>
          <a:noFill/>
        </p:spPr>
        <p:txBody>
          <a:bodyPr wrap="square" lIns="0" tIns="0" rIns="0" bIns="0">
            <a:spAutoFit/>
          </a:bodyPr>
          <a:lstStyle/>
          <a:p>
            <a:pPr>
              <a:lnSpc>
                <a:spcPct val="112000"/>
              </a:lnSpc>
            </a:pPr>
            <a:r>
              <a:rPr sz="1100" b="0">
                <a:solidFill>
                  <a:srgbClr val="5C6875"/>
                </a:solidFill>
                <a:latin typeface="Calibri"/>
              </a:rPr>
              <a:t>Reference signal strength measured at exactly one metre</a:t>
            </a:r>
          </a:p>
        </p:txBody>
      </p:sp>
      <p:sp>
        <p:nvSpPr>
          <p:cNvPr id="14" name="TextBox 13"/>
          <p:cNvSpPr txBox="1"/>
          <p:nvPr/>
        </p:nvSpPr>
        <p:spPr>
          <a:xfrm>
            <a:off x="6583680" y="3328416"/>
            <a:ext cx="2103120" cy="457200"/>
          </a:xfrm>
          <a:prstGeom prst="rect">
            <a:avLst/>
          </a:prstGeom>
          <a:noFill/>
        </p:spPr>
        <p:txBody>
          <a:bodyPr wrap="square" lIns="0" tIns="0" rIns="0" bIns="0">
            <a:spAutoFit/>
          </a:bodyPr>
          <a:lstStyle/>
          <a:p>
            <a:r>
              <a:rPr sz="1050" b="0">
                <a:solidFill>
                  <a:srgbClr val="101823"/>
                </a:solidFill>
                <a:latin typeface="Consolas"/>
              </a:rPr>
              <a:t>−40 dBm</a:t>
            </a:r>
          </a:p>
        </p:txBody>
      </p:sp>
      <p:sp>
        <p:nvSpPr>
          <p:cNvPr id="15" name="TextBox 14"/>
          <p:cNvSpPr txBox="1"/>
          <p:nvPr/>
        </p:nvSpPr>
        <p:spPr>
          <a:xfrm>
            <a:off x="8869680" y="3328416"/>
            <a:ext cx="2752344" cy="548640"/>
          </a:xfrm>
          <a:prstGeom prst="rect">
            <a:avLst/>
          </a:prstGeom>
          <a:noFill/>
        </p:spPr>
        <p:txBody>
          <a:bodyPr wrap="square" lIns="0" tIns="0" rIns="0" bIns="0">
            <a:spAutoFit/>
          </a:bodyPr>
          <a:lstStyle/>
          <a:p>
            <a:pPr>
              <a:lnSpc>
                <a:spcPct val="112000"/>
              </a:lnSpc>
            </a:pPr>
            <a:r>
              <a:rPr sz="1100" b="0">
                <a:solidFill>
                  <a:srgbClr val="5C6875"/>
                </a:solidFill>
                <a:latin typeface="Calibri"/>
              </a:rPr>
              <a:t>Backend default today; an on-site calibration value replaces it</a:t>
            </a:r>
          </a:p>
        </p:txBody>
      </p:sp>
      <p:sp>
        <p:nvSpPr>
          <p:cNvPr id="16" name="Rectangle 15"/>
          <p:cNvSpPr/>
          <p:nvPr/>
        </p:nvSpPr>
        <p:spPr>
          <a:xfrm>
            <a:off x="566928" y="3749039"/>
            <a:ext cx="11055096" cy="10972"/>
          </a:xfrm>
          <a:prstGeom prst="rect">
            <a:avLst/>
          </a:prstGeom>
          <a:solidFill>
            <a:srgbClr val="DF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566928" y="3858768"/>
            <a:ext cx="1188720" cy="457200"/>
          </a:xfrm>
          <a:prstGeom prst="rect">
            <a:avLst/>
          </a:prstGeom>
          <a:noFill/>
        </p:spPr>
        <p:txBody>
          <a:bodyPr wrap="square" lIns="0" tIns="0" rIns="0" bIns="0">
            <a:spAutoFit/>
          </a:bodyPr>
          <a:lstStyle/>
          <a:p>
            <a:r>
              <a:rPr sz="1100" b="1">
                <a:solidFill>
                  <a:srgbClr val="101823"/>
                </a:solidFill>
                <a:latin typeface="Consolas"/>
              </a:rPr>
              <a:t>n</a:t>
            </a:r>
          </a:p>
        </p:txBody>
      </p:sp>
      <p:sp>
        <p:nvSpPr>
          <p:cNvPr id="18" name="TextBox 17"/>
          <p:cNvSpPr txBox="1"/>
          <p:nvPr/>
        </p:nvSpPr>
        <p:spPr>
          <a:xfrm>
            <a:off x="1920240" y="3858768"/>
            <a:ext cx="4480560" cy="457200"/>
          </a:xfrm>
          <a:prstGeom prst="rect">
            <a:avLst/>
          </a:prstGeom>
          <a:noFill/>
        </p:spPr>
        <p:txBody>
          <a:bodyPr wrap="square" lIns="0" tIns="0" rIns="0" bIns="0">
            <a:spAutoFit/>
          </a:bodyPr>
          <a:lstStyle/>
          <a:p>
            <a:pPr>
              <a:lnSpc>
                <a:spcPct val="112000"/>
              </a:lnSpc>
            </a:pPr>
            <a:r>
              <a:rPr sz="1100" b="0">
                <a:solidFill>
                  <a:srgbClr val="5C6875"/>
                </a:solidFill>
                <a:latin typeface="Calibri"/>
              </a:rPr>
              <a:t>Path-loss exponent describing how fast signal decays here</a:t>
            </a:r>
          </a:p>
        </p:txBody>
      </p:sp>
      <p:sp>
        <p:nvSpPr>
          <p:cNvPr id="19" name="TextBox 18"/>
          <p:cNvSpPr txBox="1"/>
          <p:nvPr/>
        </p:nvSpPr>
        <p:spPr>
          <a:xfrm>
            <a:off x="6583680" y="3858768"/>
            <a:ext cx="2103120" cy="457200"/>
          </a:xfrm>
          <a:prstGeom prst="rect">
            <a:avLst/>
          </a:prstGeom>
          <a:noFill/>
        </p:spPr>
        <p:txBody>
          <a:bodyPr wrap="square" lIns="0" tIns="0" rIns="0" bIns="0">
            <a:spAutoFit/>
          </a:bodyPr>
          <a:lstStyle/>
          <a:p>
            <a:r>
              <a:rPr sz="1050" b="0">
                <a:solidFill>
                  <a:srgbClr val="101823"/>
                </a:solidFill>
                <a:latin typeface="Consolas"/>
              </a:rPr>
              <a:t>2.0 (default)</a:t>
            </a:r>
          </a:p>
        </p:txBody>
      </p:sp>
      <p:sp>
        <p:nvSpPr>
          <p:cNvPr id="20" name="TextBox 19"/>
          <p:cNvSpPr txBox="1"/>
          <p:nvPr/>
        </p:nvSpPr>
        <p:spPr>
          <a:xfrm>
            <a:off x="8869680" y="3858768"/>
            <a:ext cx="2752344" cy="548640"/>
          </a:xfrm>
          <a:prstGeom prst="rect">
            <a:avLst/>
          </a:prstGeom>
          <a:noFill/>
        </p:spPr>
        <p:txBody>
          <a:bodyPr wrap="square" lIns="0" tIns="0" rIns="0" bIns="0">
            <a:spAutoFit/>
          </a:bodyPr>
          <a:lstStyle/>
          <a:p>
            <a:pPr>
              <a:lnSpc>
                <a:spcPct val="112000"/>
              </a:lnSpc>
            </a:pPr>
            <a:r>
              <a:rPr sz="1100" b="0">
                <a:solidFill>
                  <a:srgbClr val="5C6875"/>
                </a:solidFill>
                <a:latin typeface="Calibri"/>
              </a:rPr>
              <a:t>Dominates total error; free space is 2.0, a reflective corridor exceeds 3.5</a:t>
            </a:r>
          </a:p>
        </p:txBody>
      </p:sp>
      <p:sp>
        <p:nvSpPr>
          <p:cNvPr id="21" name="Rectangle 20"/>
          <p:cNvSpPr/>
          <p:nvPr/>
        </p:nvSpPr>
        <p:spPr>
          <a:xfrm>
            <a:off x="566928" y="4279392"/>
            <a:ext cx="11055096" cy="10972"/>
          </a:xfrm>
          <a:prstGeom prst="rect">
            <a:avLst/>
          </a:prstGeom>
          <a:solidFill>
            <a:srgbClr val="DF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566928" y="4389120"/>
            <a:ext cx="1188720" cy="457200"/>
          </a:xfrm>
          <a:prstGeom prst="rect">
            <a:avLst/>
          </a:prstGeom>
          <a:noFill/>
        </p:spPr>
        <p:txBody>
          <a:bodyPr wrap="square" lIns="0" tIns="0" rIns="0" bIns="0">
            <a:spAutoFit/>
          </a:bodyPr>
          <a:lstStyle/>
          <a:p>
            <a:r>
              <a:rPr sz="1100" b="1">
                <a:solidFill>
                  <a:srgbClr val="101823"/>
                </a:solidFill>
                <a:latin typeface="Consolas"/>
              </a:rPr>
              <a:t>d₀</a:t>
            </a:r>
          </a:p>
        </p:txBody>
      </p:sp>
      <p:sp>
        <p:nvSpPr>
          <p:cNvPr id="23" name="TextBox 22"/>
          <p:cNvSpPr txBox="1"/>
          <p:nvPr/>
        </p:nvSpPr>
        <p:spPr>
          <a:xfrm>
            <a:off x="1920240" y="4389120"/>
            <a:ext cx="4480560" cy="457200"/>
          </a:xfrm>
          <a:prstGeom prst="rect">
            <a:avLst/>
          </a:prstGeom>
          <a:noFill/>
        </p:spPr>
        <p:txBody>
          <a:bodyPr wrap="square" lIns="0" tIns="0" rIns="0" bIns="0">
            <a:spAutoFit/>
          </a:bodyPr>
          <a:lstStyle/>
          <a:p>
            <a:pPr>
              <a:lnSpc>
                <a:spcPct val="112000"/>
              </a:lnSpc>
            </a:pPr>
            <a:r>
              <a:rPr sz="1100" b="0">
                <a:solidFill>
                  <a:srgbClr val="5C6875"/>
                </a:solidFill>
                <a:latin typeface="Calibri"/>
              </a:rPr>
              <a:t>Reference distance the model is anchored to</a:t>
            </a:r>
          </a:p>
        </p:txBody>
      </p:sp>
      <p:sp>
        <p:nvSpPr>
          <p:cNvPr id="24" name="TextBox 23"/>
          <p:cNvSpPr txBox="1"/>
          <p:nvPr/>
        </p:nvSpPr>
        <p:spPr>
          <a:xfrm>
            <a:off x="6583680" y="4389120"/>
            <a:ext cx="2103120" cy="457200"/>
          </a:xfrm>
          <a:prstGeom prst="rect">
            <a:avLst/>
          </a:prstGeom>
          <a:noFill/>
        </p:spPr>
        <p:txBody>
          <a:bodyPr wrap="square" lIns="0" tIns="0" rIns="0" bIns="0">
            <a:spAutoFit/>
          </a:bodyPr>
          <a:lstStyle/>
          <a:p>
            <a:r>
              <a:rPr sz="1050" b="0">
                <a:solidFill>
                  <a:srgbClr val="101823"/>
                </a:solidFill>
                <a:latin typeface="Consolas"/>
              </a:rPr>
              <a:t>1 m</a:t>
            </a:r>
          </a:p>
        </p:txBody>
      </p:sp>
      <p:sp>
        <p:nvSpPr>
          <p:cNvPr id="25" name="TextBox 24"/>
          <p:cNvSpPr txBox="1"/>
          <p:nvPr/>
        </p:nvSpPr>
        <p:spPr>
          <a:xfrm>
            <a:off x="8869680" y="4389120"/>
            <a:ext cx="2752344" cy="548640"/>
          </a:xfrm>
          <a:prstGeom prst="rect">
            <a:avLst/>
          </a:prstGeom>
          <a:noFill/>
        </p:spPr>
        <p:txBody>
          <a:bodyPr wrap="square" lIns="0" tIns="0" rIns="0" bIns="0">
            <a:spAutoFit/>
          </a:bodyPr>
          <a:lstStyle/>
          <a:p>
            <a:pPr>
              <a:lnSpc>
                <a:spcPct val="112000"/>
              </a:lnSpc>
            </a:pPr>
            <a:r>
              <a:rPr sz="1100" b="0">
                <a:solidFill>
                  <a:srgbClr val="5C6875"/>
                </a:solidFill>
                <a:latin typeface="Calibri"/>
              </a:rPr>
              <a:t>Fixed by convention so RSSI₀ stays comparable across sites</a:t>
            </a:r>
          </a:p>
        </p:txBody>
      </p:sp>
      <p:sp>
        <p:nvSpPr>
          <p:cNvPr id="26" name="Rectangle 25"/>
          <p:cNvSpPr/>
          <p:nvPr/>
        </p:nvSpPr>
        <p:spPr>
          <a:xfrm>
            <a:off x="566928" y="4809744"/>
            <a:ext cx="11055096" cy="10972"/>
          </a:xfrm>
          <a:prstGeom prst="rect">
            <a:avLst/>
          </a:prstGeom>
          <a:solidFill>
            <a:srgbClr val="DF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66928" y="4919472"/>
            <a:ext cx="1188720" cy="457200"/>
          </a:xfrm>
          <a:prstGeom prst="rect">
            <a:avLst/>
          </a:prstGeom>
          <a:noFill/>
        </p:spPr>
        <p:txBody>
          <a:bodyPr wrap="square" lIns="0" tIns="0" rIns="0" bIns="0">
            <a:spAutoFit/>
          </a:bodyPr>
          <a:lstStyle/>
          <a:p>
            <a:r>
              <a:rPr sz="1100" b="1">
                <a:solidFill>
                  <a:srgbClr val="101823"/>
                </a:solidFill>
                <a:latin typeface="Consolas"/>
              </a:rPr>
              <a:t>RSSI</a:t>
            </a:r>
          </a:p>
        </p:txBody>
      </p:sp>
      <p:sp>
        <p:nvSpPr>
          <p:cNvPr id="28" name="TextBox 27"/>
          <p:cNvSpPr txBox="1"/>
          <p:nvPr/>
        </p:nvSpPr>
        <p:spPr>
          <a:xfrm>
            <a:off x="1920240" y="4919472"/>
            <a:ext cx="4480560" cy="457200"/>
          </a:xfrm>
          <a:prstGeom prst="rect">
            <a:avLst/>
          </a:prstGeom>
          <a:noFill/>
        </p:spPr>
        <p:txBody>
          <a:bodyPr wrap="square" lIns="0" tIns="0" rIns="0" bIns="0">
            <a:spAutoFit/>
          </a:bodyPr>
          <a:lstStyle/>
          <a:p>
            <a:pPr>
              <a:lnSpc>
                <a:spcPct val="112000"/>
              </a:lnSpc>
            </a:pPr>
            <a:r>
              <a:rPr sz="1100" b="0">
                <a:solidFill>
                  <a:srgbClr val="5C6875"/>
                </a:solidFill>
                <a:latin typeface="Calibri"/>
              </a:rPr>
              <a:t>Strength of the frame just captured, per node</a:t>
            </a:r>
          </a:p>
        </p:txBody>
      </p:sp>
      <p:sp>
        <p:nvSpPr>
          <p:cNvPr id="29" name="TextBox 28"/>
          <p:cNvSpPr txBox="1"/>
          <p:nvPr/>
        </p:nvSpPr>
        <p:spPr>
          <a:xfrm>
            <a:off x="6583680" y="4919472"/>
            <a:ext cx="2103120" cy="457200"/>
          </a:xfrm>
          <a:prstGeom prst="rect">
            <a:avLst/>
          </a:prstGeom>
          <a:noFill/>
        </p:spPr>
        <p:txBody>
          <a:bodyPr wrap="square" lIns="0" tIns="0" rIns="0" bIns="0">
            <a:spAutoFit/>
          </a:bodyPr>
          <a:lstStyle/>
          <a:p>
            <a:r>
              <a:rPr sz="1050" b="0">
                <a:solidFill>
                  <a:srgbClr val="101823"/>
                </a:solidFill>
                <a:latin typeface="Consolas"/>
              </a:rPr>
              <a:t>−30 … −85 dBm</a:t>
            </a:r>
          </a:p>
        </p:txBody>
      </p:sp>
      <p:sp>
        <p:nvSpPr>
          <p:cNvPr id="30" name="TextBox 29"/>
          <p:cNvSpPr txBox="1"/>
          <p:nvPr/>
        </p:nvSpPr>
        <p:spPr>
          <a:xfrm>
            <a:off x="8869680" y="4919472"/>
            <a:ext cx="2752344" cy="548640"/>
          </a:xfrm>
          <a:prstGeom prst="rect">
            <a:avLst/>
          </a:prstGeom>
          <a:noFill/>
        </p:spPr>
        <p:txBody>
          <a:bodyPr wrap="square" lIns="0" tIns="0" rIns="0" bIns="0">
            <a:spAutoFit/>
          </a:bodyPr>
          <a:lstStyle/>
          <a:p>
            <a:pPr>
              <a:lnSpc>
                <a:spcPct val="112000"/>
              </a:lnSpc>
            </a:pPr>
            <a:r>
              <a:rPr sz="1100" b="0">
                <a:solidFill>
                  <a:srgbClr val="5C6875"/>
                </a:solidFill>
                <a:latin typeface="Calibri"/>
              </a:rPr>
              <a:t>The only live input; everything else is fixed before the run</a:t>
            </a:r>
          </a:p>
        </p:txBody>
      </p:sp>
      <p:sp>
        <p:nvSpPr>
          <p:cNvPr id="31" name="Rectangle 30"/>
          <p:cNvSpPr/>
          <p:nvPr/>
        </p:nvSpPr>
        <p:spPr>
          <a:xfrm>
            <a:off x="566928" y="5541264"/>
            <a:ext cx="11055096" cy="749808"/>
          </a:xfrm>
          <a:prstGeom prst="rect">
            <a:avLst/>
          </a:prstGeom>
          <a:solidFill>
            <a:srgbClr val="F6E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749808" y="5724144"/>
            <a:ext cx="10689336" cy="384047"/>
          </a:xfrm>
          <a:prstGeom prst="rect">
            <a:avLst/>
          </a:prstGeom>
          <a:noFill/>
        </p:spPr>
        <p:txBody>
          <a:bodyPr wrap="square" lIns="0" tIns="0" rIns="0" bIns="0">
            <a:spAutoFit/>
          </a:bodyPr>
          <a:lstStyle/>
          <a:p>
            <a:pPr>
              <a:lnSpc>
                <a:spcPct val="115000"/>
              </a:lnSpc>
            </a:pPr>
            <a:r>
              <a:rPr sz="1250" b="0">
                <a:solidFill>
                  <a:srgbClr val="5C6875"/>
                </a:solidFill>
                <a:latin typeface="Calibri"/>
              </a:rPr>
              <a:t>n is where the accuracy lives. The backend ships with the free-space value, and slide 14 shows what a wrong n costs — which is why on-site calibration comes first.</a:t>
            </a:r>
          </a:p>
        </p:txBody>
      </p:sp>
      <p:sp>
        <p:nvSpPr>
          <p:cNvPr id="33" name="TextBox 32"/>
          <p:cNvSpPr txBox="1"/>
          <p:nvPr/>
        </p:nvSpPr>
        <p:spPr>
          <a:xfrm>
            <a:off x="10981944" y="6437376"/>
            <a:ext cx="640080" cy="256032"/>
          </a:xfrm>
          <a:prstGeom prst="rect">
            <a:avLst/>
          </a:prstGeom>
          <a:noFill/>
        </p:spPr>
        <p:txBody>
          <a:bodyPr wrap="square" lIns="0" tIns="0" rIns="0" bIns="0">
            <a:spAutoFit/>
          </a:bodyPr>
          <a:lstStyle/>
          <a:p>
            <a:pPr algn="r"/>
            <a:r>
              <a:rPr sz="900" b="0">
                <a:solidFill>
                  <a:srgbClr val="5C6875"/>
                </a:solidFill>
                <a:latin typeface="Arial"/>
              </a:rPr>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5096" cy="237744"/>
          </a:xfrm>
          <a:prstGeom prst="rect">
            <a:avLst/>
          </a:prstGeom>
          <a:noFill/>
        </p:spPr>
        <p:txBody>
          <a:bodyPr wrap="square" lIns="0" tIns="0" rIns="0" bIns="0">
            <a:spAutoFit/>
          </a:bodyPr>
          <a:lstStyle/>
          <a:p>
            <a:r>
              <a:rPr sz="1050" b="1">
                <a:solidFill>
                  <a:srgbClr val="16416E"/>
                </a:solidFill>
                <a:latin typeface="Arial"/>
              </a:rPr>
              <a:t>METHOD / GEOMETRY</a:t>
            </a:r>
          </a:p>
        </p:txBody>
      </p:sp>
      <p:sp>
        <p:nvSpPr>
          <p:cNvPr id="3" name="TextBox 2"/>
          <p:cNvSpPr txBox="1"/>
          <p:nvPr/>
        </p:nvSpPr>
        <p:spPr>
          <a:xfrm>
            <a:off x="566928" y="713232"/>
            <a:ext cx="11055096" cy="868680"/>
          </a:xfrm>
          <a:prstGeom prst="rect">
            <a:avLst/>
          </a:prstGeom>
          <a:noFill/>
        </p:spPr>
        <p:txBody>
          <a:bodyPr wrap="square" lIns="0" tIns="0" rIns="0" bIns="0">
            <a:spAutoFit/>
          </a:bodyPr>
          <a:lstStyle/>
          <a:p>
            <a:pPr>
              <a:lnSpc>
                <a:spcPct val="105000"/>
              </a:lnSpc>
            </a:pPr>
            <a:r>
              <a:rPr sz="3200" b="1">
                <a:solidFill>
                  <a:srgbClr val="101823"/>
                </a:solidFill>
                <a:latin typeface="Arial"/>
              </a:rPr>
              <a:t>Three distances, three circles, one intersection.</a:t>
            </a:r>
          </a:p>
        </p:txBody>
      </p:sp>
      <p:sp>
        <p:nvSpPr>
          <p:cNvPr id="4" name="TextBox 3"/>
          <p:cNvSpPr txBox="1"/>
          <p:nvPr/>
        </p:nvSpPr>
        <p:spPr>
          <a:xfrm>
            <a:off x="566928" y="1773936"/>
            <a:ext cx="5394960" cy="219456"/>
          </a:xfrm>
          <a:prstGeom prst="rect">
            <a:avLst/>
          </a:prstGeom>
          <a:noFill/>
        </p:spPr>
        <p:txBody>
          <a:bodyPr wrap="square" lIns="0" tIns="0" rIns="0" bIns="0">
            <a:spAutoFit/>
          </a:bodyPr>
          <a:lstStyle/>
          <a:p>
            <a:r>
              <a:rPr sz="1000" b="1">
                <a:solidFill>
                  <a:srgbClr val="5C6875"/>
                </a:solidFill>
                <a:latin typeface="Arial"/>
              </a:rPr>
              <a:t>CIRCLE EQUATIONS</a:t>
            </a:r>
          </a:p>
        </p:txBody>
      </p:sp>
      <p:sp>
        <p:nvSpPr>
          <p:cNvPr id="5" name="Rectangle 4"/>
          <p:cNvSpPr/>
          <p:nvPr/>
        </p:nvSpPr>
        <p:spPr>
          <a:xfrm>
            <a:off x="566928" y="2066543"/>
            <a:ext cx="5394960" cy="1316736"/>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786384" y="2249424"/>
            <a:ext cx="4956048" cy="274320"/>
          </a:xfrm>
          <a:prstGeom prst="rect">
            <a:avLst/>
          </a:prstGeom>
          <a:noFill/>
        </p:spPr>
        <p:txBody>
          <a:bodyPr wrap="square" lIns="0" tIns="0" rIns="0" bIns="0">
            <a:spAutoFit/>
          </a:bodyPr>
          <a:lstStyle/>
          <a:p>
            <a:r>
              <a:rPr sz="1150" b="0">
                <a:solidFill>
                  <a:srgbClr val="101823"/>
                </a:solidFill>
                <a:latin typeface="Consolas"/>
              </a:rPr>
              <a:t>NODE 1     (x − x₁)² + (y − y₁)²  =  r₁²</a:t>
            </a:r>
          </a:p>
        </p:txBody>
      </p:sp>
      <p:sp>
        <p:nvSpPr>
          <p:cNvPr id="7" name="TextBox 6"/>
          <p:cNvSpPr txBox="1"/>
          <p:nvPr/>
        </p:nvSpPr>
        <p:spPr>
          <a:xfrm>
            <a:off x="786384" y="2578608"/>
            <a:ext cx="4956048" cy="274320"/>
          </a:xfrm>
          <a:prstGeom prst="rect">
            <a:avLst/>
          </a:prstGeom>
          <a:noFill/>
        </p:spPr>
        <p:txBody>
          <a:bodyPr wrap="square" lIns="0" tIns="0" rIns="0" bIns="0">
            <a:spAutoFit/>
          </a:bodyPr>
          <a:lstStyle/>
          <a:p>
            <a:r>
              <a:rPr sz="1150" b="0">
                <a:solidFill>
                  <a:srgbClr val="101823"/>
                </a:solidFill>
                <a:latin typeface="Consolas"/>
              </a:rPr>
              <a:t>NODE 2     (x − x₂)² + (y − y₂)²  =  r₂²</a:t>
            </a:r>
          </a:p>
        </p:txBody>
      </p:sp>
      <p:sp>
        <p:nvSpPr>
          <p:cNvPr id="8" name="TextBox 7"/>
          <p:cNvSpPr txBox="1"/>
          <p:nvPr/>
        </p:nvSpPr>
        <p:spPr>
          <a:xfrm>
            <a:off x="786384" y="2907791"/>
            <a:ext cx="4956048" cy="274320"/>
          </a:xfrm>
          <a:prstGeom prst="rect">
            <a:avLst/>
          </a:prstGeom>
          <a:noFill/>
        </p:spPr>
        <p:txBody>
          <a:bodyPr wrap="square" lIns="0" tIns="0" rIns="0" bIns="0">
            <a:spAutoFit/>
          </a:bodyPr>
          <a:lstStyle/>
          <a:p>
            <a:r>
              <a:rPr sz="1150" b="0">
                <a:solidFill>
                  <a:srgbClr val="101823"/>
                </a:solidFill>
                <a:latin typeface="Consolas"/>
              </a:rPr>
              <a:t>NODE 3     (x − x₃)² + (y − y₃)²  =  r₃²</a:t>
            </a:r>
          </a:p>
        </p:txBody>
      </p:sp>
      <p:sp>
        <p:nvSpPr>
          <p:cNvPr id="9" name="TextBox 8"/>
          <p:cNvSpPr txBox="1"/>
          <p:nvPr/>
        </p:nvSpPr>
        <p:spPr>
          <a:xfrm>
            <a:off x="566928" y="3602736"/>
            <a:ext cx="5394960" cy="822960"/>
          </a:xfrm>
          <a:prstGeom prst="rect">
            <a:avLst/>
          </a:prstGeom>
          <a:noFill/>
        </p:spPr>
        <p:txBody>
          <a:bodyPr wrap="square" lIns="0" tIns="0" rIns="0" bIns="0">
            <a:spAutoFit/>
          </a:bodyPr>
          <a:lstStyle/>
          <a:p>
            <a:pPr>
              <a:lnSpc>
                <a:spcPct val="115000"/>
              </a:lnSpc>
            </a:pPr>
            <a:r>
              <a:rPr sz="1300" b="0">
                <a:solidFill>
                  <a:srgbClr val="5C6875"/>
                </a:solidFill>
                <a:latin typeface="Calibri"/>
              </a:rPr>
              <a:t>Subtracting the third equation from the first two cancels every quadratic term, leaving two linear equations in x and y — which is what makes a closed-form solution possible.</a:t>
            </a:r>
          </a:p>
        </p:txBody>
      </p:sp>
      <p:sp>
        <p:nvSpPr>
          <p:cNvPr id="10" name="Rectangle 9"/>
          <p:cNvSpPr/>
          <p:nvPr/>
        </p:nvSpPr>
        <p:spPr>
          <a:xfrm>
            <a:off x="566928" y="4626864"/>
            <a:ext cx="5394960" cy="1133856"/>
          </a:xfrm>
          <a:prstGeom prst="rect">
            <a:avLst/>
          </a:prstGeom>
          <a:solidFill>
            <a:srgbClr val="F6E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768096" y="4828031"/>
            <a:ext cx="4992624" cy="731520"/>
          </a:xfrm>
          <a:prstGeom prst="rect">
            <a:avLst/>
          </a:prstGeom>
          <a:noFill/>
        </p:spPr>
        <p:txBody>
          <a:bodyPr wrap="square" lIns="0" tIns="0" rIns="0" bIns="0">
            <a:spAutoFit/>
          </a:bodyPr>
          <a:lstStyle/>
          <a:p>
            <a:pPr>
              <a:lnSpc>
                <a:spcPct val="115000"/>
              </a:lnSpc>
            </a:pPr>
            <a:r>
              <a:rPr sz="1250" b="0">
                <a:solidFill>
                  <a:srgbClr val="5C6875"/>
                </a:solidFill>
                <a:latin typeface="Calibri"/>
              </a:rPr>
              <a:t>Three circles almost never meet at a point. RSSI noise makes them overlap in a small region, and the solver returns the least-squares centre of that region rather than a true intersection.</a:t>
            </a:r>
          </a:p>
        </p:txBody>
      </p:sp>
      <p:sp>
        <p:nvSpPr>
          <p:cNvPr id="12" name="TextBox 11"/>
          <p:cNvSpPr txBox="1"/>
          <p:nvPr/>
        </p:nvSpPr>
        <p:spPr>
          <a:xfrm>
            <a:off x="6309360" y="1773936"/>
            <a:ext cx="5312664" cy="219456"/>
          </a:xfrm>
          <a:prstGeom prst="rect">
            <a:avLst/>
          </a:prstGeom>
          <a:noFill/>
        </p:spPr>
        <p:txBody>
          <a:bodyPr wrap="square" lIns="0" tIns="0" rIns="0" bIns="0">
            <a:spAutoFit/>
          </a:bodyPr>
          <a:lstStyle/>
          <a:p>
            <a:r>
              <a:rPr sz="1000" b="1">
                <a:solidFill>
                  <a:srgbClr val="5C6875"/>
                </a:solidFill>
                <a:latin typeface="Arial"/>
              </a:rPr>
              <a:t>GEOMETRIC INTERSECTION</a:t>
            </a:r>
          </a:p>
        </p:txBody>
      </p:sp>
      <p:sp>
        <p:nvSpPr>
          <p:cNvPr id="13" name="Oval 12"/>
          <p:cNvSpPr/>
          <p:nvPr/>
        </p:nvSpPr>
        <p:spPr>
          <a:xfrm>
            <a:off x="7173695" y="3973295"/>
            <a:ext cx="1928928" cy="1928928"/>
          </a:xfrm>
          <a:prstGeom prst="ellipse">
            <a:avLst/>
          </a:prstGeom>
          <a:noFill/>
          <a:ln w="9525">
            <a:solidFill>
              <a:srgbClr val="5C68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8819615" y="3973295"/>
            <a:ext cx="1928928" cy="1928928"/>
          </a:xfrm>
          <a:prstGeom prst="ellipse">
            <a:avLst/>
          </a:prstGeom>
          <a:noFill/>
          <a:ln w="9525">
            <a:solidFill>
              <a:srgbClr val="5C68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8092440" y="2697480"/>
            <a:ext cx="1737359" cy="1737359"/>
          </a:xfrm>
          <a:prstGeom prst="ellipse">
            <a:avLst/>
          </a:prstGeom>
          <a:noFill/>
          <a:ln w="9525">
            <a:solidFill>
              <a:srgbClr val="5C68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92440" y="4892040"/>
            <a:ext cx="91440" cy="91440"/>
          </a:xfrm>
          <a:prstGeom prst="rect">
            <a:avLst/>
          </a:prstGeom>
          <a:solidFill>
            <a:srgbClr val="1641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827264" y="4663440"/>
            <a:ext cx="365760" cy="219456"/>
          </a:xfrm>
          <a:prstGeom prst="rect">
            <a:avLst/>
          </a:prstGeom>
          <a:noFill/>
        </p:spPr>
        <p:txBody>
          <a:bodyPr wrap="square" lIns="0" tIns="0" rIns="0" bIns="0">
            <a:spAutoFit/>
          </a:bodyPr>
          <a:lstStyle/>
          <a:p>
            <a:r>
              <a:rPr sz="1000" b="1">
                <a:solidFill>
                  <a:srgbClr val="16416E"/>
                </a:solidFill>
                <a:latin typeface="Arial"/>
              </a:rPr>
              <a:t>N₁</a:t>
            </a:r>
          </a:p>
        </p:txBody>
      </p:sp>
      <p:sp>
        <p:nvSpPr>
          <p:cNvPr id="18" name="Rectangle 17"/>
          <p:cNvSpPr/>
          <p:nvPr/>
        </p:nvSpPr>
        <p:spPr>
          <a:xfrm>
            <a:off x="9738359" y="4892040"/>
            <a:ext cx="91440" cy="91440"/>
          </a:xfrm>
          <a:prstGeom prst="rect">
            <a:avLst/>
          </a:prstGeom>
          <a:solidFill>
            <a:srgbClr val="1641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893807" y="4663440"/>
            <a:ext cx="365760" cy="219456"/>
          </a:xfrm>
          <a:prstGeom prst="rect">
            <a:avLst/>
          </a:prstGeom>
          <a:noFill/>
        </p:spPr>
        <p:txBody>
          <a:bodyPr wrap="square" lIns="0" tIns="0" rIns="0" bIns="0">
            <a:spAutoFit/>
          </a:bodyPr>
          <a:lstStyle/>
          <a:p>
            <a:r>
              <a:rPr sz="1000" b="1">
                <a:solidFill>
                  <a:srgbClr val="16416E"/>
                </a:solidFill>
                <a:latin typeface="Arial"/>
              </a:rPr>
              <a:t>N₂</a:t>
            </a:r>
          </a:p>
        </p:txBody>
      </p:sp>
      <p:sp>
        <p:nvSpPr>
          <p:cNvPr id="20" name="Rectangle 19"/>
          <p:cNvSpPr/>
          <p:nvPr/>
        </p:nvSpPr>
        <p:spPr>
          <a:xfrm>
            <a:off x="8915400" y="3520440"/>
            <a:ext cx="91440" cy="91440"/>
          </a:xfrm>
          <a:prstGeom prst="rect">
            <a:avLst/>
          </a:prstGeom>
          <a:solidFill>
            <a:srgbClr val="1641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070848" y="3584448"/>
            <a:ext cx="365760" cy="219456"/>
          </a:xfrm>
          <a:prstGeom prst="rect">
            <a:avLst/>
          </a:prstGeom>
          <a:noFill/>
        </p:spPr>
        <p:txBody>
          <a:bodyPr wrap="square" lIns="0" tIns="0" rIns="0" bIns="0">
            <a:spAutoFit/>
          </a:bodyPr>
          <a:lstStyle/>
          <a:p>
            <a:r>
              <a:rPr sz="1000" b="1">
                <a:solidFill>
                  <a:srgbClr val="16416E"/>
                </a:solidFill>
                <a:latin typeface="Arial"/>
              </a:rPr>
              <a:t>N₃</a:t>
            </a:r>
          </a:p>
        </p:txBody>
      </p:sp>
      <p:sp>
        <p:nvSpPr>
          <p:cNvPr id="22" name="Oval 21"/>
          <p:cNvSpPr/>
          <p:nvPr/>
        </p:nvSpPr>
        <p:spPr>
          <a:xfrm>
            <a:off x="8901684" y="4375403"/>
            <a:ext cx="118872" cy="118872"/>
          </a:xfrm>
          <a:prstGeom prst="ellipse">
            <a:avLst/>
          </a:prstGeom>
          <a:solidFill>
            <a:srgbClr val="B14A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144000" y="4160520"/>
            <a:ext cx="914400" cy="219456"/>
          </a:xfrm>
          <a:prstGeom prst="rect">
            <a:avLst/>
          </a:prstGeom>
          <a:noFill/>
        </p:spPr>
        <p:txBody>
          <a:bodyPr wrap="square" lIns="0" tIns="0" rIns="0" bIns="0">
            <a:spAutoFit/>
          </a:bodyPr>
          <a:lstStyle/>
          <a:p>
            <a:r>
              <a:rPr sz="1050" b="1">
                <a:solidFill>
                  <a:srgbClr val="B14A20"/>
                </a:solidFill>
                <a:latin typeface="Consolas"/>
              </a:rPr>
              <a:t>(x, y)</a:t>
            </a:r>
          </a:p>
        </p:txBody>
      </p:sp>
      <p:sp>
        <p:nvSpPr>
          <p:cNvPr id="24" name="TextBox 23"/>
          <p:cNvSpPr txBox="1"/>
          <p:nvPr/>
        </p:nvSpPr>
        <p:spPr>
          <a:xfrm>
            <a:off x="6309360" y="5998464"/>
            <a:ext cx="5312664" cy="274320"/>
          </a:xfrm>
          <a:prstGeom prst="rect">
            <a:avLst/>
          </a:prstGeom>
          <a:noFill/>
        </p:spPr>
        <p:txBody>
          <a:bodyPr wrap="square" lIns="0" tIns="0" rIns="0" bIns="0">
            <a:spAutoFit/>
          </a:bodyPr>
          <a:lstStyle/>
          <a:p>
            <a:r>
              <a:rPr sz="1100" b="0">
                <a:solidFill>
                  <a:srgbClr val="5C6875"/>
                </a:solidFill>
                <a:latin typeface="Calibri"/>
              </a:rPr>
              <a:t>Node coordinates are surveyed once and read from config; only the radii change per frame.</a:t>
            </a:r>
          </a:p>
        </p:txBody>
      </p:sp>
      <p:sp>
        <p:nvSpPr>
          <p:cNvPr id="25" name="TextBox 24"/>
          <p:cNvSpPr txBox="1"/>
          <p:nvPr/>
        </p:nvSpPr>
        <p:spPr>
          <a:xfrm>
            <a:off x="10981944" y="6437376"/>
            <a:ext cx="640080" cy="256032"/>
          </a:xfrm>
          <a:prstGeom prst="rect">
            <a:avLst/>
          </a:prstGeom>
          <a:noFill/>
        </p:spPr>
        <p:txBody>
          <a:bodyPr wrap="square" lIns="0" tIns="0" rIns="0" bIns="0">
            <a:spAutoFit/>
          </a:bodyPr>
          <a:lstStyle/>
          <a:p>
            <a:pPr algn="r"/>
            <a:r>
              <a:rPr sz="900" b="0">
                <a:solidFill>
                  <a:srgbClr val="5C6875"/>
                </a:solidFill>
                <a:latin typeface="Arial"/>
              </a:rPr>
              <a:t>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5096" cy="237744"/>
          </a:xfrm>
          <a:prstGeom prst="rect">
            <a:avLst/>
          </a:prstGeom>
          <a:noFill/>
        </p:spPr>
        <p:txBody>
          <a:bodyPr wrap="square" lIns="0" tIns="0" rIns="0" bIns="0">
            <a:spAutoFit/>
          </a:bodyPr>
          <a:lstStyle/>
          <a:p>
            <a:r>
              <a:rPr sz="1050" b="1">
                <a:solidFill>
                  <a:srgbClr val="16416E"/>
                </a:solidFill>
                <a:latin typeface="Arial"/>
              </a:rPr>
              <a:t>METHOD / SOLVER</a:t>
            </a:r>
          </a:p>
        </p:txBody>
      </p:sp>
      <p:sp>
        <p:nvSpPr>
          <p:cNvPr id="3" name="TextBox 2"/>
          <p:cNvSpPr txBox="1"/>
          <p:nvPr/>
        </p:nvSpPr>
        <p:spPr>
          <a:xfrm>
            <a:off x="566928" y="713232"/>
            <a:ext cx="11055096" cy="960120"/>
          </a:xfrm>
          <a:prstGeom prst="rect">
            <a:avLst/>
          </a:prstGeom>
          <a:noFill/>
        </p:spPr>
        <p:txBody>
          <a:bodyPr wrap="square" lIns="0" tIns="0" rIns="0" bIns="0">
            <a:spAutoFit/>
          </a:bodyPr>
          <a:lstStyle/>
          <a:p>
            <a:pPr>
              <a:lnSpc>
                <a:spcPct val="105000"/>
              </a:lnSpc>
            </a:pPr>
            <a:r>
              <a:rPr sz="3000" b="1">
                <a:solidFill>
                  <a:srgbClr val="101823"/>
                </a:solidFill>
                <a:latin typeface="Arial"/>
              </a:rPr>
              <a:t>The linearised system and its closed-form solution.</a:t>
            </a:r>
          </a:p>
        </p:txBody>
      </p:sp>
      <p:sp>
        <p:nvSpPr>
          <p:cNvPr id="4" name="TextBox 3"/>
          <p:cNvSpPr txBox="1"/>
          <p:nvPr/>
        </p:nvSpPr>
        <p:spPr>
          <a:xfrm>
            <a:off x="566928" y="1737360"/>
            <a:ext cx="11055096" cy="457200"/>
          </a:xfrm>
          <a:prstGeom prst="rect">
            <a:avLst/>
          </a:prstGeom>
          <a:noFill/>
        </p:spPr>
        <p:txBody>
          <a:bodyPr wrap="square" lIns="0" tIns="0" rIns="0" bIns="0">
            <a:spAutoFit/>
          </a:bodyPr>
          <a:lstStyle/>
          <a:p>
            <a:r>
              <a:rPr sz="1250" b="0">
                <a:solidFill>
                  <a:srgbClr val="5C6875"/>
                </a:solidFill>
                <a:latin typeface="Calibri"/>
              </a:rPr>
              <a:t>Subtracting the last equation from each of the others removes the nonlinear terms and leaves a standard overdetermined linear system.</a:t>
            </a:r>
          </a:p>
        </p:txBody>
      </p:sp>
      <p:sp>
        <p:nvSpPr>
          <p:cNvPr id="5" name="Rectangle 4"/>
          <p:cNvSpPr/>
          <p:nvPr/>
        </p:nvSpPr>
        <p:spPr>
          <a:xfrm>
            <a:off x="566928" y="2249424"/>
            <a:ext cx="11055096" cy="65836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786384" y="2432304"/>
            <a:ext cx="10616184" cy="310896"/>
          </a:xfrm>
          <a:prstGeom prst="rect">
            <a:avLst/>
          </a:prstGeom>
          <a:noFill/>
        </p:spPr>
        <p:txBody>
          <a:bodyPr wrap="square" lIns="0" tIns="0" rIns="0" bIns="0">
            <a:spAutoFit/>
          </a:bodyPr>
          <a:lstStyle/>
          <a:p>
            <a:r>
              <a:rPr sz="1250" b="1">
                <a:solidFill>
                  <a:srgbClr val="101823"/>
                </a:solidFill>
                <a:latin typeface="Consolas"/>
              </a:rPr>
              <a:t>2(xᵢ − xₙ)·x  +  2(yᵢ − yₙ)·y  =  rₙ² − rᵢ² + xᵢ² − xₙ² + yᵢ² − yₙ²</a:t>
            </a:r>
          </a:p>
        </p:txBody>
      </p:sp>
      <p:sp>
        <p:nvSpPr>
          <p:cNvPr id="7" name="TextBox 6"/>
          <p:cNvSpPr txBox="1"/>
          <p:nvPr/>
        </p:nvSpPr>
        <p:spPr>
          <a:xfrm>
            <a:off x="566928" y="3127248"/>
            <a:ext cx="5394960" cy="219456"/>
          </a:xfrm>
          <a:prstGeom prst="rect">
            <a:avLst/>
          </a:prstGeom>
          <a:noFill/>
        </p:spPr>
        <p:txBody>
          <a:bodyPr wrap="square" lIns="0" tIns="0" rIns="0" bIns="0">
            <a:spAutoFit/>
          </a:bodyPr>
          <a:lstStyle/>
          <a:p>
            <a:r>
              <a:rPr sz="1000" b="1">
                <a:solidFill>
                  <a:srgbClr val="5C6875"/>
                </a:solidFill>
                <a:latin typeface="Arial"/>
              </a:rPr>
              <a:t>COEFFICIENT MATRIX</a:t>
            </a:r>
          </a:p>
        </p:txBody>
      </p:sp>
      <p:sp>
        <p:nvSpPr>
          <p:cNvPr id="8" name="Rectangle 7"/>
          <p:cNvSpPr/>
          <p:nvPr/>
        </p:nvSpPr>
        <p:spPr>
          <a:xfrm>
            <a:off x="566928" y="3419856"/>
            <a:ext cx="5394960" cy="1005840"/>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786384" y="3602736"/>
            <a:ext cx="4956048" cy="274320"/>
          </a:xfrm>
          <a:prstGeom prst="rect">
            <a:avLst/>
          </a:prstGeom>
          <a:noFill/>
        </p:spPr>
        <p:txBody>
          <a:bodyPr wrap="square" lIns="0" tIns="0" rIns="0" bIns="0">
            <a:spAutoFit/>
          </a:bodyPr>
          <a:lstStyle/>
          <a:p>
            <a:r>
              <a:rPr sz="1150" b="0">
                <a:solidFill>
                  <a:srgbClr val="101823"/>
                </a:solidFill>
                <a:latin typeface="Consolas"/>
              </a:rPr>
              <a:t>A  =  [ 2(x₁−x₃)   2(y₁−y₃) ]</a:t>
            </a:r>
          </a:p>
        </p:txBody>
      </p:sp>
      <p:sp>
        <p:nvSpPr>
          <p:cNvPr id="10" name="TextBox 9"/>
          <p:cNvSpPr txBox="1"/>
          <p:nvPr/>
        </p:nvSpPr>
        <p:spPr>
          <a:xfrm>
            <a:off x="786384" y="3913632"/>
            <a:ext cx="4956048" cy="274320"/>
          </a:xfrm>
          <a:prstGeom prst="rect">
            <a:avLst/>
          </a:prstGeom>
          <a:noFill/>
        </p:spPr>
        <p:txBody>
          <a:bodyPr wrap="square" lIns="0" tIns="0" rIns="0" bIns="0">
            <a:spAutoFit/>
          </a:bodyPr>
          <a:lstStyle/>
          <a:p>
            <a:r>
              <a:rPr sz="1150" b="0">
                <a:solidFill>
                  <a:srgbClr val="101823"/>
                </a:solidFill>
                <a:latin typeface="Consolas"/>
              </a:rPr>
              <a:t>      [ 2(x₂−x₃)   2(y₂−y₃) ]</a:t>
            </a:r>
          </a:p>
        </p:txBody>
      </p:sp>
      <p:sp>
        <p:nvSpPr>
          <p:cNvPr id="11" name="TextBox 10"/>
          <p:cNvSpPr txBox="1"/>
          <p:nvPr/>
        </p:nvSpPr>
        <p:spPr>
          <a:xfrm>
            <a:off x="6227064" y="3127248"/>
            <a:ext cx="5394960" cy="219456"/>
          </a:xfrm>
          <a:prstGeom prst="rect">
            <a:avLst/>
          </a:prstGeom>
          <a:noFill/>
        </p:spPr>
        <p:txBody>
          <a:bodyPr wrap="square" lIns="0" tIns="0" rIns="0" bIns="0">
            <a:spAutoFit/>
          </a:bodyPr>
          <a:lstStyle/>
          <a:p>
            <a:r>
              <a:rPr sz="1000" b="1">
                <a:solidFill>
                  <a:srgbClr val="5C6875"/>
                </a:solidFill>
                <a:latin typeface="Arial"/>
              </a:rPr>
              <a:t>OBSERVATION VECTOR</a:t>
            </a:r>
          </a:p>
        </p:txBody>
      </p:sp>
      <p:sp>
        <p:nvSpPr>
          <p:cNvPr id="12" name="Rectangle 11"/>
          <p:cNvSpPr/>
          <p:nvPr/>
        </p:nvSpPr>
        <p:spPr>
          <a:xfrm>
            <a:off x="6227064" y="3419856"/>
            <a:ext cx="5394960" cy="1005840"/>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446520" y="3602736"/>
            <a:ext cx="4956048" cy="274320"/>
          </a:xfrm>
          <a:prstGeom prst="rect">
            <a:avLst/>
          </a:prstGeom>
          <a:noFill/>
        </p:spPr>
        <p:txBody>
          <a:bodyPr wrap="square" lIns="0" tIns="0" rIns="0" bIns="0">
            <a:spAutoFit/>
          </a:bodyPr>
          <a:lstStyle/>
          <a:p>
            <a:r>
              <a:rPr sz="1150" b="0">
                <a:solidFill>
                  <a:srgbClr val="101823"/>
                </a:solidFill>
                <a:latin typeface="Consolas"/>
              </a:rPr>
              <a:t>b  =  [ r₃²−r₁² + x₁²−x₃² + y₁²−y₃² ]</a:t>
            </a:r>
          </a:p>
        </p:txBody>
      </p:sp>
      <p:sp>
        <p:nvSpPr>
          <p:cNvPr id="14" name="TextBox 13"/>
          <p:cNvSpPr txBox="1"/>
          <p:nvPr/>
        </p:nvSpPr>
        <p:spPr>
          <a:xfrm>
            <a:off x="6446520" y="3913632"/>
            <a:ext cx="4956048" cy="274320"/>
          </a:xfrm>
          <a:prstGeom prst="rect">
            <a:avLst/>
          </a:prstGeom>
          <a:noFill/>
        </p:spPr>
        <p:txBody>
          <a:bodyPr wrap="square" lIns="0" tIns="0" rIns="0" bIns="0">
            <a:spAutoFit/>
          </a:bodyPr>
          <a:lstStyle/>
          <a:p>
            <a:r>
              <a:rPr sz="1150" b="0">
                <a:solidFill>
                  <a:srgbClr val="101823"/>
                </a:solidFill>
                <a:latin typeface="Consolas"/>
              </a:rPr>
              <a:t>      [ r₃²−r₂² + x₂²−x₃² + y₂²−y₃² ]</a:t>
            </a:r>
          </a:p>
        </p:txBody>
      </p:sp>
      <p:sp>
        <p:nvSpPr>
          <p:cNvPr id="15" name="TextBox 14"/>
          <p:cNvSpPr txBox="1"/>
          <p:nvPr/>
        </p:nvSpPr>
        <p:spPr>
          <a:xfrm>
            <a:off x="566928" y="4626864"/>
            <a:ext cx="5394960" cy="219456"/>
          </a:xfrm>
          <a:prstGeom prst="rect">
            <a:avLst/>
          </a:prstGeom>
          <a:noFill/>
        </p:spPr>
        <p:txBody>
          <a:bodyPr wrap="square" lIns="0" tIns="0" rIns="0" bIns="0">
            <a:spAutoFit/>
          </a:bodyPr>
          <a:lstStyle/>
          <a:p>
            <a:r>
              <a:rPr sz="1000" b="1">
                <a:solidFill>
                  <a:srgbClr val="5C6875"/>
                </a:solidFill>
                <a:latin typeface="Arial"/>
              </a:rPr>
              <a:t>SOLUTION</a:t>
            </a:r>
          </a:p>
        </p:txBody>
      </p:sp>
      <p:sp>
        <p:nvSpPr>
          <p:cNvPr id="16" name="TextBox 15"/>
          <p:cNvSpPr txBox="1"/>
          <p:nvPr/>
        </p:nvSpPr>
        <p:spPr>
          <a:xfrm>
            <a:off x="566928" y="4882896"/>
            <a:ext cx="5394960" cy="329184"/>
          </a:xfrm>
          <a:prstGeom prst="rect">
            <a:avLst/>
          </a:prstGeom>
          <a:noFill/>
        </p:spPr>
        <p:txBody>
          <a:bodyPr wrap="square" lIns="0" tIns="0" rIns="0" bIns="0">
            <a:spAutoFit/>
          </a:bodyPr>
          <a:lstStyle/>
          <a:p>
            <a:r>
              <a:rPr sz="1400" b="1">
                <a:solidFill>
                  <a:srgbClr val="16416E"/>
                </a:solidFill>
                <a:latin typeface="Consolas"/>
              </a:rPr>
              <a:t>x̂  =  (AᵀA)⁻¹ Aᵀ b   →   [x,  y]ᵀ</a:t>
            </a:r>
          </a:p>
        </p:txBody>
      </p:sp>
      <p:sp>
        <p:nvSpPr>
          <p:cNvPr id="17" name="Rectangle 16"/>
          <p:cNvSpPr/>
          <p:nvPr/>
        </p:nvSpPr>
        <p:spPr>
          <a:xfrm>
            <a:off x="6227064" y="4553712"/>
            <a:ext cx="5394960" cy="1207008"/>
          </a:xfrm>
          <a:prstGeom prst="rect">
            <a:avLst/>
          </a:prstGeom>
          <a:solidFill>
            <a:srgbClr val="F6E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428232" y="4754880"/>
            <a:ext cx="4992624" cy="804672"/>
          </a:xfrm>
          <a:prstGeom prst="rect">
            <a:avLst/>
          </a:prstGeom>
          <a:noFill/>
        </p:spPr>
        <p:txBody>
          <a:bodyPr wrap="square" lIns="0" tIns="0" rIns="0" bIns="0">
            <a:spAutoFit/>
          </a:bodyPr>
          <a:lstStyle/>
          <a:p>
            <a:pPr>
              <a:lnSpc>
                <a:spcPct val="115000"/>
              </a:lnSpc>
            </a:pPr>
            <a:r>
              <a:rPr sz="1250" b="0">
                <a:solidFill>
                  <a:srgbClr val="5C6875"/>
                </a:solidFill>
                <a:latin typeface="Calibri"/>
              </a:rPr>
              <a:t>RSSI noise is not uniform across nodes. A device three metres from a node yields a far more trustworthy range than one at twenty, so the backend's weighted least squares scales each row by 1/d² and pulls the fix toward the nodes that actually have signal.</a:t>
            </a:r>
          </a:p>
        </p:txBody>
      </p:sp>
      <p:sp>
        <p:nvSpPr>
          <p:cNvPr id="19" name="TextBox 18"/>
          <p:cNvSpPr txBox="1"/>
          <p:nvPr/>
        </p:nvSpPr>
        <p:spPr>
          <a:xfrm>
            <a:off x="10981944" y="6437376"/>
            <a:ext cx="640080" cy="256032"/>
          </a:xfrm>
          <a:prstGeom prst="rect">
            <a:avLst/>
          </a:prstGeom>
          <a:noFill/>
        </p:spPr>
        <p:txBody>
          <a:bodyPr wrap="square" lIns="0" tIns="0" rIns="0" bIns="0">
            <a:spAutoFit/>
          </a:bodyPr>
          <a:lstStyle/>
          <a:p>
            <a:pPr algn="r"/>
            <a:r>
              <a:rPr sz="900" b="0">
                <a:solidFill>
                  <a:srgbClr val="5C6875"/>
                </a:solidFill>
                <a:latin typeface="Arial"/>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5096" cy="237744"/>
          </a:xfrm>
          <a:prstGeom prst="rect">
            <a:avLst/>
          </a:prstGeom>
          <a:noFill/>
        </p:spPr>
        <p:txBody>
          <a:bodyPr wrap="square" lIns="0" tIns="0" rIns="0" bIns="0">
            <a:spAutoFit/>
          </a:bodyPr>
          <a:lstStyle/>
          <a:p>
            <a:r>
              <a:rPr sz="1050" b="1">
                <a:solidFill>
                  <a:srgbClr val="16416E"/>
                </a:solidFill>
                <a:latin typeface="Arial"/>
              </a:rPr>
              <a:t>METHOD / BACKEND</a:t>
            </a:r>
          </a:p>
        </p:txBody>
      </p:sp>
      <p:sp>
        <p:nvSpPr>
          <p:cNvPr id="3" name="TextBox 2"/>
          <p:cNvSpPr txBox="1"/>
          <p:nvPr/>
        </p:nvSpPr>
        <p:spPr>
          <a:xfrm>
            <a:off x="566928" y="713232"/>
            <a:ext cx="11055096" cy="868680"/>
          </a:xfrm>
          <a:prstGeom prst="rect">
            <a:avLst/>
          </a:prstGeom>
          <a:noFill/>
        </p:spPr>
        <p:txBody>
          <a:bodyPr wrap="square" lIns="0" tIns="0" rIns="0" bIns="0">
            <a:spAutoFit/>
          </a:bodyPr>
          <a:lstStyle/>
          <a:p>
            <a:pPr>
              <a:lnSpc>
                <a:spcPct val="105000"/>
              </a:lnSpc>
            </a:pPr>
            <a:r>
              <a:rPr sz="3200" b="1">
                <a:solidFill>
                  <a:srgbClr val="101823"/>
                </a:solidFill>
                <a:latin typeface="Arial"/>
              </a:rPr>
              <a:t>Four stages, running continuously on the server.</a:t>
            </a:r>
          </a:p>
        </p:txBody>
      </p:sp>
      <p:sp>
        <p:nvSpPr>
          <p:cNvPr id="4" name="TextBox 3"/>
          <p:cNvSpPr txBox="1"/>
          <p:nvPr/>
        </p:nvSpPr>
        <p:spPr>
          <a:xfrm>
            <a:off x="566928" y="1463040"/>
            <a:ext cx="11055096" cy="457200"/>
          </a:xfrm>
          <a:prstGeom prst="rect">
            <a:avLst/>
          </a:prstGeom>
          <a:noFill/>
        </p:spPr>
        <p:txBody>
          <a:bodyPr wrap="square" lIns="0" tIns="0" rIns="0" bIns="0">
            <a:spAutoFit/>
          </a:bodyPr>
          <a:lstStyle/>
          <a:p>
            <a:r>
              <a:rPr sz="1250" b="0">
                <a:solidFill>
                  <a:srgbClr val="5C6875"/>
                </a:solidFill>
                <a:latin typeface="Calibri"/>
              </a:rPr>
              <a:t>The backend is stateless between devices — each MAC is solved on its own.</a:t>
            </a:r>
          </a:p>
        </p:txBody>
      </p:sp>
      <p:sp>
        <p:nvSpPr>
          <p:cNvPr id="5" name="TextBox 4"/>
          <p:cNvSpPr txBox="1"/>
          <p:nvPr/>
        </p:nvSpPr>
        <p:spPr>
          <a:xfrm>
            <a:off x="566928" y="2066543"/>
            <a:ext cx="731520" cy="457200"/>
          </a:xfrm>
          <a:prstGeom prst="rect">
            <a:avLst/>
          </a:prstGeom>
          <a:noFill/>
        </p:spPr>
        <p:txBody>
          <a:bodyPr wrap="square" lIns="0" tIns="0" rIns="0" bIns="0">
            <a:spAutoFit/>
          </a:bodyPr>
          <a:lstStyle/>
          <a:p>
            <a:r>
              <a:rPr sz="2600" b="1">
                <a:solidFill>
                  <a:srgbClr val="16416E"/>
                </a:solidFill>
                <a:latin typeface="Arial"/>
              </a:rPr>
              <a:t>01</a:t>
            </a:r>
          </a:p>
        </p:txBody>
      </p:sp>
      <p:sp>
        <p:nvSpPr>
          <p:cNvPr id="6" name="TextBox 5"/>
          <p:cNvSpPr txBox="1"/>
          <p:nvPr/>
        </p:nvSpPr>
        <p:spPr>
          <a:xfrm>
            <a:off x="1481328" y="2103120"/>
            <a:ext cx="2834640" cy="274320"/>
          </a:xfrm>
          <a:prstGeom prst="rect">
            <a:avLst/>
          </a:prstGeom>
          <a:noFill/>
        </p:spPr>
        <p:txBody>
          <a:bodyPr wrap="square" lIns="0" tIns="0" rIns="0" bIns="0">
            <a:spAutoFit/>
          </a:bodyPr>
          <a:lstStyle/>
          <a:p>
            <a:r>
              <a:rPr sz="1400" b="1">
                <a:solidFill>
                  <a:srgbClr val="101823"/>
                </a:solidFill>
                <a:latin typeface="Arial"/>
              </a:rPr>
              <a:t>Packet ingestion</a:t>
            </a:r>
          </a:p>
        </p:txBody>
      </p:sp>
      <p:sp>
        <p:nvSpPr>
          <p:cNvPr id="7" name="TextBox 6"/>
          <p:cNvSpPr txBox="1"/>
          <p:nvPr/>
        </p:nvSpPr>
        <p:spPr>
          <a:xfrm>
            <a:off x="4572000" y="2066543"/>
            <a:ext cx="7050024" cy="603504"/>
          </a:xfrm>
          <a:prstGeom prst="rect">
            <a:avLst/>
          </a:prstGeom>
          <a:noFill/>
        </p:spPr>
        <p:txBody>
          <a:bodyPr wrap="square" lIns="0" tIns="0" rIns="0" bIns="0">
            <a:spAutoFit/>
          </a:bodyPr>
          <a:lstStyle/>
          <a:p>
            <a:pPr>
              <a:lnSpc>
                <a:spcPct val="115000"/>
              </a:lnSpc>
            </a:pPr>
            <a:r>
              <a:rPr sz="1200" b="0">
                <a:solidFill>
                  <a:srgbClr val="5C6875"/>
                </a:solidFill>
                <a:latin typeface="Calibri"/>
              </a:rPr>
              <a:t>Every node POSTs (device_id, MAC, RSSI, timestamp) as JSON. Readings arrive independently, with no ordering guarantee and no coordination between nodes.</a:t>
            </a:r>
          </a:p>
        </p:txBody>
      </p:sp>
      <p:sp>
        <p:nvSpPr>
          <p:cNvPr id="8" name="Rectangle 7"/>
          <p:cNvSpPr/>
          <p:nvPr/>
        </p:nvSpPr>
        <p:spPr>
          <a:xfrm>
            <a:off x="566928" y="2761487"/>
            <a:ext cx="11055096" cy="10972"/>
          </a:xfrm>
          <a:prstGeom prst="rect">
            <a:avLst/>
          </a:prstGeom>
          <a:solidFill>
            <a:srgbClr val="DF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66928" y="2907791"/>
            <a:ext cx="731520" cy="457200"/>
          </a:xfrm>
          <a:prstGeom prst="rect">
            <a:avLst/>
          </a:prstGeom>
          <a:noFill/>
        </p:spPr>
        <p:txBody>
          <a:bodyPr wrap="square" lIns="0" tIns="0" rIns="0" bIns="0">
            <a:spAutoFit/>
          </a:bodyPr>
          <a:lstStyle/>
          <a:p>
            <a:r>
              <a:rPr sz="2600" b="1">
                <a:solidFill>
                  <a:srgbClr val="16416E"/>
                </a:solidFill>
                <a:latin typeface="Arial"/>
              </a:rPr>
              <a:t>02</a:t>
            </a:r>
          </a:p>
        </p:txBody>
      </p:sp>
      <p:sp>
        <p:nvSpPr>
          <p:cNvPr id="10" name="TextBox 9"/>
          <p:cNvSpPr txBox="1"/>
          <p:nvPr/>
        </p:nvSpPr>
        <p:spPr>
          <a:xfrm>
            <a:off x="1481328" y="2944368"/>
            <a:ext cx="2834640" cy="274320"/>
          </a:xfrm>
          <a:prstGeom prst="rect">
            <a:avLst/>
          </a:prstGeom>
          <a:noFill/>
        </p:spPr>
        <p:txBody>
          <a:bodyPr wrap="square" lIns="0" tIns="0" rIns="0" bIns="0">
            <a:spAutoFit/>
          </a:bodyPr>
          <a:lstStyle/>
          <a:p>
            <a:r>
              <a:rPr sz="1400" b="1">
                <a:solidFill>
                  <a:srgbClr val="101823"/>
                </a:solidFill>
                <a:latin typeface="Arial"/>
              </a:rPr>
              <a:t>MAC grouping</a:t>
            </a:r>
          </a:p>
        </p:txBody>
      </p:sp>
      <p:sp>
        <p:nvSpPr>
          <p:cNvPr id="11" name="TextBox 10"/>
          <p:cNvSpPr txBox="1"/>
          <p:nvPr/>
        </p:nvSpPr>
        <p:spPr>
          <a:xfrm>
            <a:off x="4572000" y="2907791"/>
            <a:ext cx="7050024" cy="603504"/>
          </a:xfrm>
          <a:prstGeom prst="rect">
            <a:avLst/>
          </a:prstGeom>
          <a:noFill/>
        </p:spPr>
        <p:txBody>
          <a:bodyPr wrap="square" lIns="0" tIns="0" rIns="0" bIns="0">
            <a:spAutoFit/>
          </a:bodyPr>
          <a:lstStyle/>
          <a:p>
            <a:pPr>
              <a:lnSpc>
                <a:spcPct val="115000"/>
              </a:lnSpc>
            </a:pPr>
            <a:r>
              <a:rPr sz="1200" b="0">
                <a:solidFill>
                  <a:srgbClr val="5C6875"/>
                </a:solidFill>
                <a:latin typeface="Calibri"/>
              </a:rPr>
              <a:t>Readings are bucketed by source address. A fix is attempted only once all three nodes have reported for that MAC inside the time window.</a:t>
            </a:r>
          </a:p>
        </p:txBody>
      </p:sp>
      <p:sp>
        <p:nvSpPr>
          <p:cNvPr id="12" name="Rectangle 11"/>
          <p:cNvSpPr/>
          <p:nvPr/>
        </p:nvSpPr>
        <p:spPr>
          <a:xfrm>
            <a:off x="566928" y="3602735"/>
            <a:ext cx="11055096" cy="10972"/>
          </a:xfrm>
          <a:prstGeom prst="rect">
            <a:avLst/>
          </a:prstGeom>
          <a:solidFill>
            <a:srgbClr val="DF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566928" y="3749039"/>
            <a:ext cx="731520" cy="457200"/>
          </a:xfrm>
          <a:prstGeom prst="rect">
            <a:avLst/>
          </a:prstGeom>
          <a:noFill/>
        </p:spPr>
        <p:txBody>
          <a:bodyPr wrap="square" lIns="0" tIns="0" rIns="0" bIns="0">
            <a:spAutoFit/>
          </a:bodyPr>
          <a:lstStyle/>
          <a:p>
            <a:r>
              <a:rPr sz="2600" b="1">
                <a:solidFill>
                  <a:srgbClr val="16416E"/>
                </a:solidFill>
                <a:latin typeface="Arial"/>
              </a:rPr>
              <a:t>03</a:t>
            </a:r>
          </a:p>
        </p:txBody>
      </p:sp>
      <p:sp>
        <p:nvSpPr>
          <p:cNvPr id="14" name="TextBox 13"/>
          <p:cNvSpPr txBox="1"/>
          <p:nvPr/>
        </p:nvSpPr>
        <p:spPr>
          <a:xfrm>
            <a:off x="1481328" y="3785615"/>
            <a:ext cx="2834640" cy="274320"/>
          </a:xfrm>
          <a:prstGeom prst="rect">
            <a:avLst/>
          </a:prstGeom>
          <a:noFill/>
        </p:spPr>
        <p:txBody>
          <a:bodyPr wrap="square" lIns="0" tIns="0" rIns="0" bIns="0">
            <a:spAutoFit/>
          </a:bodyPr>
          <a:lstStyle/>
          <a:p>
            <a:r>
              <a:rPr sz="1400" b="1">
                <a:solidFill>
                  <a:srgbClr val="101823"/>
                </a:solidFill>
                <a:latin typeface="Arial"/>
              </a:rPr>
              <a:t>Distance estimation</a:t>
            </a:r>
          </a:p>
        </p:txBody>
      </p:sp>
      <p:sp>
        <p:nvSpPr>
          <p:cNvPr id="15" name="TextBox 14"/>
          <p:cNvSpPr txBox="1"/>
          <p:nvPr/>
        </p:nvSpPr>
        <p:spPr>
          <a:xfrm>
            <a:off x="4572000" y="3749039"/>
            <a:ext cx="7050024" cy="603504"/>
          </a:xfrm>
          <a:prstGeom prst="rect">
            <a:avLst/>
          </a:prstGeom>
          <a:noFill/>
        </p:spPr>
        <p:txBody>
          <a:bodyPr wrap="square" lIns="0" tIns="0" rIns="0" bIns="0">
            <a:spAutoFit/>
          </a:bodyPr>
          <a:lstStyle/>
          <a:p>
            <a:pPr>
              <a:lnSpc>
                <a:spcPct val="115000"/>
              </a:lnSpc>
            </a:pPr>
            <a:r>
              <a:rPr sz="1200" b="0">
                <a:solidFill>
                  <a:srgbClr val="5C6875"/>
                </a:solidFill>
                <a:latin typeface="Calibri"/>
              </a:rPr>
              <a:t>Each RSSI is pushed through the calibrated path-loss model, producing r₁, r₂ and r₃ in metres for that one device.</a:t>
            </a:r>
          </a:p>
        </p:txBody>
      </p:sp>
      <p:sp>
        <p:nvSpPr>
          <p:cNvPr id="16" name="Rectangle 15"/>
          <p:cNvSpPr/>
          <p:nvPr/>
        </p:nvSpPr>
        <p:spPr>
          <a:xfrm>
            <a:off x="566928" y="4443983"/>
            <a:ext cx="11055096" cy="10972"/>
          </a:xfrm>
          <a:prstGeom prst="rect">
            <a:avLst/>
          </a:prstGeom>
          <a:solidFill>
            <a:srgbClr val="DF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566928" y="4590288"/>
            <a:ext cx="731520" cy="457200"/>
          </a:xfrm>
          <a:prstGeom prst="rect">
            <a:avLst/>
          </a:prstGeom>
          <a:noFill/>
        </p:spPr>
        <p:txBody>
          <a:bodyPr wrap="square" lIns="0" tIns="0" rIns="0" bIns="0">
            <a:spAutoFit/>
          </a:bodyPr>
          <a:lstStyle/>
          <a:p>
            <a:r>
              <a:rPr sz="2600" b="1">
                <a:solidFill>
                  <a:srgbClr val="16416E"/>
                </a:solidFill>
                <a:latin typeface="Arial"/>
              </a:rPr>
              <a:t>04</a:t>
            </a:r>
          </a:p>
        </p:txBody>
      </p:sp>
      <p:sp>
        <p:nvSpPr>
          <p:cNvPr id="18" name="TextBox 17"/>
          <p:cNvSpPr txBox="1"/>
          <p:nvPr/>
        </p:nvSpPr>
        <p:spPr>
          <a:xfrm>
            <a:off x="1481328" y="4626864"/>
            <a:ext cx="2834640" cy="274320"/>
          </a:xfrm>
          <a:prstGeom prst="rect">
            <a:avLst/>
          </a:prstGeom>
          <a:noFill/>
        </p:spPr>
        <p:txBody>
          <a:bodyPr wrap="square" lIns="0" tIns="0" rIns="0" bIns="0">
            <a:spAutoFit/>
          </a:bodyPr>
          <a:lstStyle/>
          <a:p>
            <a:r>
              <a:rPr sz="1400" b="1">
                <a:solidFill>
                  <a:srgbClr val="101823"/>
                </a:solidFill>
                <a:latin typeface="Arial"/>
              </a:rPr>
              <a:t>Least-squares solve</a:t>
            </a:r>
          </a:p>
        </p:txBody>
      </p:sp>
      <p:sp>
        <p:nvSpPr>
          <p:cNvPr id="19" name="TextBox 18"/>
          <p:cNvSpPr txBox="1"/>
          <p:nvPr/>
        </p:nvSpPr>
        <p:spPr>
          <a:xfrm>
            <a:off x="4572000" y="4590288"/>
            <a:ext cx="7050024" cy="603504"/>
          </a:xfrm>
          <a:prstGeom prst="rect">
            <a:avLst/>
          </a:prstGeom>
          <a:noFill/>
        </p:spPr>
        <p:txBody>
          <a:bodyPr wrap="square" lIns="0" tIns="0" rIns="0" bIns="0">
            <a:spAutoFit/>
          </a:bodyPr>
          <a:lstStyle/>
          <a:p>
            <a:pPr>
              <a:lnSpc>
                <a:spcPct val="115000"/>
              </a:lnSpc>
            </a:pPr>
            <a:r>
              <a:rPr sz="1200" b="0">
                <a:solidFill>
                  <a:srgbClr val="5C6875"/>
                </a:solidFill>
                <a:latin typeface="Calibri"/>
              </a:rPr>
              <a:t>A and b are assembled and solved. The resulting (x, y) replaces that device's previous entry in the live position table served to the browser.</a:t>
            </a:r>
          </a:p>
        </p:txBody>
      </p:sp>
      <p:sp>
        <p:nvSpPr>
          <p:cNvPr id="20" name="Rectangle 19"/>
          <p:cNvSpPr/>
          <p:nvPr/>
        </p:nvSpPr>
        <p:spPr>
          <a:xfrm>
            <a:off x="566928" y="5358384"/>
            <a:ext cx="11055096" cy="914400"/>
          </a:xfrm>
          <a:prstGeom prst="rect">
            <a:avLst/>
          </a:prstGeom>
          <a:solidFill>
            <a:srgbClr val="F6E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768096" y="5559552"/>
            <a:ext cx="10652760" cy="512064"/>
          </a:xfrm>
          <a:prstGeom prst="rect">
            <a:avLst/>
          </a:prstGeom>
          <a:noFill/>
        </p:spPr>
        <p:txBody>
          <a:bodyPr wrap="square" lIns="0" tIns="0" rIns="0" bIns="0">
            <a:spAutoFit/>
          </a:bodyPr>
          <a:lstStyle/>
          <a:p>
            <a:pPr>
              <a:lnSpc>
                <a:spcPct val="115000"/>
              </a:lnSpc>
            </a:pPr>
            <a:r>
              <a:rPr sz="1250" b="0">
                <a:solidFill>
                  <a:srgbClr val="5C6875"/>
                </a:solidFill>
                <a:latin typeface="Calibri"/>
              </a:rPr>
              <a:t>Stale readings are the failure case that actually bites. Without the window, a device that left the area an hour ago would still be trilaterated against one fresh reading and dropped somewhere plausible but entirely wrong.</a:t>
            </a:r>
          </a:p>
        </p:txBody>
      </p:sp>
      <p:sp>
        <p:nvSpPr>
          <p:cNvPr id="22" name="TextBox 21"/>
          <p:cNvSpPr txBox="1"/>
          <p:nvPr/>
        </p:nvSpPr>
        <p:spPr>
          <a:xfrm>
            <a:off x="10981944" y="6437376"/>
            <a:ext cx="640080" cy="256032"/>
          </a:xfrm>
          <a:prstGeom prst="rect">
            <a:avLst/>
          </a:prstGeom>
          <a:noFill/>
        </p:spPr>
        <p:txBody>
          <a:bodyPr wrap="square" lIns="0" tIns="0" rIns="0" bIns="0">
            <a:spAutoFit/>
          </a:bodyPr>
          <a:lstStyle/>
          <a:p>
            <a:pPr algn="r"/>
            <a:r>
              <a:rPr sz="900" b="0">
                <a:solidFill>
                  <a:srgbClr val="5C6875"/>
                </a:solidFill>
                <a:latin typeface="Arial"/>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5096" cy="237744"/>
          </a:xfrm>
          <a:prstGeom prst="rect">
            <a:avLst/>
          </a:prstGeom>
          <a:noFill/>
        </p:spPr>
        <p:txBody>
          <a:bodyPr wrap="square" lIns="0" tIns="0" rIns="0" bIns="0">
            <a:spAutoFit/>
          </a:bodyPr>
          <a:lstStyle/>
          <a:p>
            <a:r>
              <a:rPr sz="1050" b="1">
                <a:solidFill>
                  <a:srgbClr val="16416E"/>
                </a:solidFill>
                <a:latin typeface="Arial"/>
              </a:rPr>
              <a:t>METHOD / OUTPUT</a:t>
            </a:r>
          </a:p>
        </p:txBody>
      </p:sp>
      <p:sp>
        <p:nvSpPr>
          <p:cNvPr id="3" name="TextBox 2"/>
          <p:cNvSpPr txBox="1"/>
          <p:nvPr/>
        </p:nvSpPr>
        <p:spPr>
          <a:xfrm>
            <a:off x="566928" y="713232"/>
            <a:ext cx="11055096" cy="868680"/>
          </a:xfrm>
          <a:prstGeom prst="rect">
            <a:avLst/>
          </a:prstGeom>
          <a:noFill/>
        </p:spPr>
        <p:txBody>
          <a:bodyPr wrap="square" lIns="0" tIns="0" rIns="0" bIns="0">
            <a:spAutoFit/>
          </a:bodyPr>
          <a:lstStyle/>
          <a:p>
            <a:pPr>
              <a:lnSpc>
                <a:spcPct val="105000"/>
              </a:lnSpc>
            </a:pPr>
            <a:r>
              <a:rPr sz="3200" b="1">
                <a:solidFill>
                  <a:srgbClr val="101823"/>
                </a:solidFill>
                <a:latin typeface="Arial"/>
              </a:rPr>
              <a:t>A live floor plan, repainted every second.</a:t>
            </a:r>
          </a:p>
        </p:txBody>
      </p:sp>
      <p:sp>
        <p:nvSpPr>
          <p:cNvPr id="4" name="TextBox 3"/>
          <p:cNvSpPr txBox="1"/>
          <p:nvPr/>
        </p:nvSpPr>
        <p:spPr>
          <a:xfrm>
            <a:off x="566928" y="1773936"/>
            <a:ext cx="4937760" cy="640080"/>
          </a:xfrm>
          <a:prstGeom prst="rect">
            <a:avLst/>
          </a:prstGeom>
          <a:noFill/>
        </p:spPr>
        <p:txBody>
          <a:bodyPr wrap="square" lIns="0" tIns="0" rIns="0" bIns="0">
            <a:spAutoFit/>
          </a:bodyPr>
          <a:lstStyle/>
          <a:p>
            <a:pPr>
              <a:lnSpc>
                <a:spcPct val="115000"/>
              </a:lnSpc>
              <a:spcAft>
                <a:spcPts val="1100"/>
              </a:spcAft>
            </a:pPr>
            <a:r>
              <a:rPr sz="1350" b="0">
                <a:solidFill>
                  <a:srgbClr val="5C6875"/>
                </a:solidFill>
                <a:latin typeface="Calibri"/>
              </a:rPr>
              <a:t>The browser polls the current position table on a fixed interval and repaints a canvas in floor-plan coordinates — metres, not pixels.</a:t>
            </a:r>
          </a:p>
        </p:txBody>
      </p:sp>
      <p:sp>
        <p:nvSpPr>
          <p:cNvPr id="5" name="TextBox 4"/>
          <p:cNvSpPr txBox="1"/>
          <p:nvPr/>
        </p:nvSpPr>
        <p:spPr>
          <a:xfrm>
            <a:off x="566928" y="2560320"/>
            <a:ext cx="4937760" cy="201168"/>
          </a:xfrm>
          <a:prstGeom prst="rect">
            <a:avLst/>
          </a:prstGeom>
          <a:noFill/>
        </p:spPr>
        <p:txBody>
          <a:bodyPr wrap="square" lIns="0" tIns="0" rIns="0" bIns="0">
            <a:spAutoFit/>
          </a:bodyPr>
          <a:lstStyle/>
          <a:p>
            <a:r>
              <a:rPr sz="950" b="1">
                <a:solidFill>
                  <a:srgbClr val="16416E"/>
                </a:solidFill>
                <a:latin typeface="Arial"/>
              </a:rPr>
              <a:t>DEVICE MARKERS</a:t>
            </a:r>
          </a:p>
        </p:txBody>
      </p:sp>
      <p:sp>
        <p:nvSpPr>
          <p:cNvPr id="6" name="TextBox 5"/>
          <p:cNvSpPr txBox="1"/>
          <p:nvPr/>
        </p:nvSpPr>
        <p:spPr>
          <a:xfrm>
            <a:off x="566928" y="2798063"/>
            <a:ext cx="4937760" cy="402336"/>
          </a:xfrm>
          <a:prstGeom prst="rect">
            <a:avLst/>
          </a:prstGeom>
          <a:noFill/>
        </p:spPr>
        <p:txBody>
          <a:bodyPr wrap="square" lIns="0" tIns="0" rIns="0" bIns="0">
            <a:spAutoFit/>
          </a:bodyPr>
          <a:lstStyle/>
          <a:p>
            <a:pPr>
              <a:lnSpc>
                <a:spcPct val="112000"/>
              </a:lnSpc>
            </a:pPr>
            <a:r>
              <a:rPr sz="1150" b="0">
                <a:solidFill>
                  <a:srgbClr val="5C6875"/>
                </a:solidFill>
                <a:latin typeface="Calibri"/>
              </a:rPr>
              <a:t>One dot per resolved MAC, with its (x, y) printed alongside it.</a:t>
            </a:r>
          </a:p>
        </p:txBody>
      </p:sp>
      <p:sp>
        <p:nvSpPr>
          <p:cNvPr id="7" name="TextBox 6"/>
          <p:cNvSpPr txBox="1"/>
          <p:nvPr/>
        </p:nvSpPr>
        <p:spPr>
          <a:xfrm>
            <a:off x="566928" y="3310127"/>
            <a:ext cx="4937760" cy="201168"/>
          </a:xfrm>
          <a:prstGeom prst="rect">
            <a:avLst/>
          </a:prstGeom>
          <a:noFill/>
        </p:spPr>
        <p:txBody>
          <a:bodyPr wrap="square" lIns="0" tIns="0" rIns="0" bIns="0">
            <a:spAutoFit/>
          </a:bodyPr>
          <a:lstStyle/>
          <a:p>
            <a:r>
              <a:rPr sz="950" b="1">
                <a:solidFill>
                  <a:srgbClr val="16416E"/>
                </a:solidFill>
                <a:latin typeface="Arial"/>
              </a:rPr>
              <a:t>NODE ANCHORS</a:t>
            </a:r>
          </a:p>
        </p:txBody>
      </p:sp>
      <p:sp>
        <p:nvSpPr>
          <p:cNvPr id="8" name="TextBox 7"/>
          <p:cNvSpPr txBox="1"/>
          <p:nvPr/>
        </p:nvSpPr>
        <p:spPr>
          <a:xfrm>
            <a:off x="566928" y="3547872"/>
            <a:ext cx="4937760" cy="402336"/>
          </a:xfrm>
          <a:prstGeom prst="rect">
            <a:avLst/>
          </a:prstGeom>
          <a:noFill/>
        </p:spPr>
        <p:txBody>
          <a:bodyPr wrap="square" lIns="0" tIns="0" rIns="0" bIns="0">
            <a:spAutoFit/>
          </a:bodyPr>
          <a:lstStyle/>
          <a:p>
            <a:pPr>
              <a:lnSpc>
                <a:spcPct val="112000"/>
              </a:lnSpc>
            </a:pPr>
            <a:r>
              <a:rPr sz="1150" b="0">
                <a:solidFill>
                  <a:srgbClr val="5C6875"/>
                </a:solidFill>
                <a:latin typeface="Calibri"/>
              </a:rPr>
              <a:t>The three surveyed positions, drawn from the same config the solver reads.</a:t>
            </a:r>
          </a:p>
        </p:txBody>
      </p:sp>
      <p:sp>
        <p:nvSpPr>
          <p:cNvPr id="9" name="TextBox 8"/>
          <p:cNvSpPr txBox="1"/>
          <p:nvPr/>
        </p:nvSpPr>
        <p:spPr>
          <a:xfrm>
            <a:off x="566928" y="4059935"/>
            <a:ext cx="4937760" cy="201168"/>
          </a:xfrm>
          <a:prstGeom prst="rect">
            <a:avLst/>
          </a:prstGeom>
          <a:noFill/>
        </p:spPr>
        <p:txBody>
          <a:bodyPr wrap="square" lIns="0" tIns="0" rIns="0" bIns="0">
            <a:spAutoFit/>
          </a:bodyPr>
          <a:lstStyle/>
          <a:p>
            <a:r>
              <a:rPr sz="950" b="1">
                <a:solidFill>
                  <a:srgbClr val="16416E"/>
                </a:solidFill>
                <a:latin typeface="Arial"/>
              </a:rPr>
              <a:t>REFRESH</a:t>
            </a:r>
          </a:p>
        </p:txBody>
      </p:sp>
      <p:sp>
        <p:nvSpPr>
          <p:cNvPr id="10" name="TextBox 9"/>
          <p:cNvSpPr txBox="1"/>
          <p:nvPr/>
        </p:nvSpPr>
        <p:spPr>
          <a:xfrm>
            <a:off x="566928" y="4297679"/>
            <a:ext cx="4937760" cy="402336"/>
          </a:xfrm>
          <a:prstGeom prst="rect">
            <a:avLst/>
          </a:prstGeom>
          <a:noFill/>
        </p:spPr>
        <p:txBody>
          <a:bodyPr wrap="square" lIns="0" tIns="0" rIns="0" bIns="0">
            <a:spAutoFit/>
          </a:bodyPr>
          <a:lstStyle/>
          <a:p>
            <a:pPr>
              <a:lnSpc>
                <a:spcPct val="112000"/>
              </a:lnSpc>
            </a:pPr>
            <a:r>
              <a:rPr sz="1150" b="0">
                <a:solidFill>
                  <a:srgbClr val="5C6875"/>
                </a:solidFill>
                <a:latin typeface="Calibri"/>
              </a:rPr>
              <a:t>Full repaint at 1 Hz. No incremental diffing — the table is small.</a:t>
            </a:r>
          </a:p>
        </p:txBody>
      </p:sp>
      <p:sp>
        <p:nvSpPr>
          <p:cNvPr id="11" name="TextBox 10"/>
          <p:cNvSpPr txBox="1"/>
          <p:nvPr/>
        </p:nvSpPr>
        <p:spPr>
          <a:xfrm>
            <a:off x="566928" y="4809744"/>
            <a:ext cx="4937760" cy="201168"/>
          </a:xfrm>
          <a:prstGeom prst="rect">
            <a:avLst/>
          </a:prstGeom>
          <a:noFill/>
        </p:spPr>
        <p:txBody>
          <a:bodyPr wrap="square" lIns="0" tIns="0" rIns="0" bIns="0">
            <a:spAutoFit/>
          </a:bodyPr>
          <a:lstStyle/>
          <a:p>
            <a:r>
              <a:rPr sz="950" b="1">
                <a:solidFill>
                  <a:srgbClr val="16416E"/>
                </a:solidFill>
                <a:latin typeface="Arial"/>
              </a:rPr>
              <a:t>TRANSPORT</a:t>
            </a:r>
          </a:p>
        </p:txBody>
      </p:sp>
      <p:sp>
        <p:nvSpPr>
          <p:cNvPr id="12" name="TextBox 11"/>
          <p:cNvSpPr txBox="1"/>
          <p:nvPr/>
        </p:nvSpPr>
        <p:spPr>
          <a:xfrm>
            <a:off x="566928" y="5047488"/>
            <a:ext cx="4937760" cy="402336"/>
          </a:xfrm>
          <a:prstGeom prst="rect">
            <a:avLst/>
          </a:prstGeom>
          <a:noFill/>
        </p:spPr>
        <p:txBody>
          <a:bodyPr wrap="square" lIns="0" tIns="0" rIns="0" bIns="0">
            <a:spAutoFit/>
          </a:bodyPr>
          <a:lstStyle/>
          <a:p>
            <a:pPr>
              <a:lnSpc>
                <a:spcPct val="112000"/>
              </a:lnSpc>
            </a:pPr>
            <a:r>
              <a:rPr sz="1150" b="0">
                <a:solidFill>
                  <a:srgbClr val="5C6875"/>
                </a:solidFill>
                <a:latin typeface="Calibri"/>
              </a:rPr>
              <a:t>Plain REST polling, chosen over WebSocket because it is trivial to debug.</a:t>
            </a:r>
          </a:p>
        </p:txBody>
      </p:sp>
      <p:sp>
        <p:nvSpPr>
          <p:cNvPr id="13" name="TextBox 12"/>
          <p:cNvSpPr txBox="1"/>
          <p:nvPr/>
        </p:nvSpPr>
        <p:spPr>
          <a:xfrm>
            <a:off x="6309360" y="1773936"/>
            <a:ext cx="5312664" cy="219456"/>
          </a:xfrm>
          <a:prstGeom prst="rect">
            <a:avLst/>
          </a:prstGeom>
          <a:noFill/>
        </p:spPr>
        <p:txBody>
          <a:bodyPr wrap="square" lIns="0" tIns="0" rIns="0" bIns="0">
            <a:spAutoFit/>
          </a:bodyPr>
          <a:lstStyle/>
          <a:p>
            <a:r>
              <a:rPr sz="1000" b="1">
                <a:solidFill>
                  <a:srgbClr val="5C6875"/>
                </a:solidFill>
                <a:latin typeface="Arial"/>
              </a:rPr>
              <a:t>FLOOR-PLAN CANVAS</a:t>
            </a:r>
          </a:p>
        </p:txBody>
      </p:sp>
      <p:sp>
        <p:nvSpPr>
          <p:cNvPr id="14" name="Rectangle 13"/>
          <p:cNvSpPr/>
          <p:nvPr/>
        </p:nvSpPr>
        <p:spPr>
          <a:xfrm>
            <a:off x="6309360" y="2066543"/>
            <a:ext cx="5312664" cy="3749039"/>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6766560" y="5358384"/>
            <a:ext cx="4023360" cy="12801"/>
          </a:xfrm>
          <a:prstGeom prst="rect">
            <a:avLst/>
          </a:prstGeom>
          <a:solidFill>
            <a:srgbClr val="5C68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6766560" y="2615184"/>
            <a:ext cx="12801" cy="2743200"/>
          </a:xfrm>
          <a:prstGeom prst="rect">
            <a:avLst/>
          </a:prstGeom>
          <a:solidFill>
            <a:srgbClr val="5C68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10826496" y="5248656"/>
            <a:ext cx="365760" cy="201168"/>
          </a:xfrm>
          <a:prstGeom prst="rect">
            <a:avLst/>
          </a:prstGeom>
          <a:noFill/>
        </p:spPr>
        <p:txBody>
          <a:bodyPr wrap="square" lIns="0" tIns="0" rIns="0" bIns="0">
            <a:spAutoFit/>
          </a:bodyPr>
          <a:lstStyle/>
          <a:p>
            <a:r>
              <a:rPr sz="900" b="0">
                <a:solidFill>
                  <a:srgbClr val="5C6875"/>
                </a:solidFill>
                <a:latin typeface="Arial"/>
              </a:rPr>
              <a:t>X</a:t>
            </a:r>
          </a:p>
        </p:txBody>
      </p:sp>
      <p:sp>
        <p:nvSpPr>
          <p:cNvPr id="18" name="TextBox 17"/>
          <p:cNvSpPr txBox="1"/>
          <p:nvPr/>
        </p:nvSpPr>
        <p:spPr>
          <a:xfrm>
            <a:off x="6729984" y="2359152"/>
            <a:ext cx="365760" cy="201168"/>
          </a:xfrm>
          <a:prstGeom prst="rect">
            <a:avLst/>
          </a:prstGeom>
          <a:noFill/>
        </p:spPr>
        <p:txBody>
          <a:bodyPr wrap="square" lIns="0" tIns="0" rIns="0" bIns="0">
            <a:spAutoFit/>
          </a:bodyPr>
          <a:lstStyle/>
          <a:p>
            <a:r>
              <a:rPr sz="900" b="0">
                <a:solidFill>
                  <a:srgbClr val="5C6875"/>
                </a:solidFill>
                <a:latin typeface="Arial"/>
              </a:rPr>
              <a:t>Y</a:t>
            </a:r>
          </a:p>
        </p:txBody>
      </p:sp>
      <p:sp>
        <p:nvSpPr>
          <p:cNvPr id="19" name="Rectangle 18"/>
          <p:cNvSpPr/>
          <p:nvPr/>
        </p:nvSpPr>
        <p:spPr>
          <a:xfrm>
            <a:off x="6716268" y="5308092"/>
            <a:ext cx="100584" cy="100584"/>
          </a:xfrm>
          <a:prstGeom prst="rect">
            <a:avLst/>
          </a:prstGeom>
          <a:solidFill>
            <a:srgbClr val="1641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858000" y="5138928"/>
            <a:ext cx="457200" cy="201168"/>
          </a:xfrm>
          <a:prstGeom prst="rect">
            <a:avLst/>
          </a:prstGeom>
          <a:noFill/>
        </p:spPr>
        <p:txBody>
          <a:bodyPr wrap="square" lIns="0" tIns="0" rIns="0" bIns="0">
            <a:spAutoFit/>
          </a:bodyPr>
          <a:lstStyle/>
          <a:p>
            <a:r>
              <a:rPr sz="900" b="1">
                <a:solidFill>
                  <a:srgbClr val="16416E"/>
                </a:solidFill>
                <a:latin typeface="Arial"/>
              </a:rPr>
              <a:t>N1</a:t>
            </a:r>
          </a:p>
        </p:txBody>
      </p:sp>
      <p:sp>
        <p:nvSpPr>
          <p:cNvPr id="21" name="Rectangle 20"/>
          <p:cNvSpPr/>
          <p:nvPr/>
        </p:nvSpPr>
        <p:spPr>
          <a:xfrm>
            <a:off x="10373868" y="5308092"/>
            <a:ext cx="100584" cy="100584"/>
          </a:xfrm>
          <a:prstGeom prst="rect">
            <a:avLst/>
          </a:prstGeom>
          <a:solidFill>
            <a:srgbClr val="1641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515600" y="5138928"/>
            <a:ext cx="457200" cy="201168"/>
          </a:xfrm>
          <a:prstGeom prst="rect">
            <a:avLst/>
          </a:prstGeom>
          <a:noFill/>
        </p:spPr>
        <p:txBody>
          <a:bodyPr wrap="square" lIns="0" tIns="0" rIns="0" bIns="0">
            <a:spAutoFit/>
          </a:bodyPr>
          <a:lstStyle/>
          <a:p>
            <a:r>
              <a:rPr sz="900" b="1">
                <a:solidFill>
                  <a:srgbClr val="16416E"/>
                </a:solidFill>
                <a:latin typeface="Arial"/>
              </a:rPr>
              <a:t>N2</a:t>
            </a:r>
          </a:p>
        </p:txBody>
      </p:sp>
      <p:sp>
        <p:nvSpPr>
          <p:cNvPr id="23" name="Rectangle 22"/>
          <p:cNvSpPr/>
          <p:nvPr/>
        </p:nvSpPr>
        <p:spPr>
          <a:xfrm>
            <a:off x="8545068" y="2564892"/>
            <a:ext cx="100584" cy="100584"/>
          </a:xfrm>
          <a:prstGeom prst="rect">
            <a:avLst/>
          </a:prstGeom>
          <a:solidFill>
            <a:srgbClr val="1641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686800" y="2395728"/>
            <a:ext cx="457200" cy="201168"/>
          </a:xfrm>
          <a:prstGeom prst="rect">
            <a:avLst/>
          </a:prstGeom>
          <a:noFill/>
        </p:spPr>
        <p:txBody>
          <a:bodyPr wrap="square" lIns="0" tIns="0" rIns="0" bIns="0">
            <a:spAutoFit/>
          </a:bodyPr>
          <a:lstStyle/>
          <a:p>
            <a:r>
              <a:rPr sz="900" b="1">
                <a:solidFill>
                  <a:srgbClr val="16416E"/>
                </a:solidFill>
                <a:latin typeface="Arial"/>
              </a:rPr>
              <a:t>N3</a:t>
            </a:r>
          </a:p>
        </p:txBody>
      </p:sp>
      <p:sp>
        <p:nvSpPr>
          <p:cNvPr id="25" name="Oval 24"/>
          <p:cNvSpPr/>
          <p:nvPr/>
        </p:nvSpPr>
        <p:spPr>
          <a:xfrm>
            <a:off x="8211312" y="4279392"/>
            <a:ext cx="109728" cy="109728"/>
          </a:xfrm>
          <a:prstGeom prst="ellipse">
            <a:avLst/>
          </a:prstGeom>
          <a:solidFill>
            <a:srgbClr val="B14A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375904" y="4233672"/>
            <a:ext cx="1188720" cy="201168"/>
          </a:xfrm>
          <a:prstGeom prst="rect">
            <a:avLst/>
          </a:prstGeom>
          <a:noFill/>
        </p:spPr>
        <p:txBody>
          <a:bodyPr wrap="square" lIns="0" tIns="0" rIns="0" bIns="0">
            <a:spAutoFit/>
          </a:bodyPr>
          <a:lstStyle/>
          <a:p>
            <a:r>
              <a:rPr sz="850" b="0">
                <a:solidFill>
                  <a:srgbClr val="5C6875"/>
                </a:solidFill>
                <a:latin typeface="Consolas"/>
              </a:rPr>
              <a:t>(8.2, 5.6)</a:t>
            </a:r>
          </a:p>
        </p:txBody>
      </p:sp>
      <p:sp>
        <p:nvSpPr>
          <p:cNvPr id="27" name="Oval 26"/>
          <p:cNvSpPr/>
          <p:nvPr/>
        </p:nvSpPr>
        <p:spPr>
          <a:xfrm>
            <a:off x="9107424" y="4535424"/>
            <a:ext cx="109728" cy="109728"/>
          </a:xfrm>
          <a:prstGeom prst="ellipse">
            <a:avLst/>
          </a:prstGeom>
          <a:solidFill>
            <a:srgbClr val="B14A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272015" y="4489704"/>
            <a:ext cx="1188720" cy="201168"/>
          </a:xfrm>
          <a:prstGeom prst="rect">
            <a:avLst/>
          </a:prstGeom>
          <a:noFill/>
        </p:spPr>
        <p:txBody>
          <a:bodyPr wrap="square" lIns="0" tIns="0" rIns="0" bIns="0">
            <a:spAutoFit/>
          </a:bodyPr>
          <a:lstStyle/>
          <a:p>
            <a:r>
              <a:rPr sz="850" b="0">
                <a:solidFill>
                  <a:srgbClr val="5C6875"/>
                </a:solidFill>
                <a:latin typeface="Consolas"/>
              </a:rPr>
              <a:t>(13.1, 4.2)</a:t>
            </a:r>
          </a:p>
        </p:txBody>
      </p:sp>
      <p:sp>
        <p:nvSpPr>
          <p:cNvPr id="29" name="Oval 28"/>
          <p:cNvSpPr/>
          <p:nvPr/>
        </p:nvSpPr>
        <p:spPr>
          <a:xfrm>
            <a:off x="8723376" y="3566160"/>
            <a:ext cx="109728" cy="109728"/>
          </a:xfrm>
          <a:prstGeom prst="ellipse">
            <a:avLst/>
          </a:prstGeom>
          <a:solidFill>
            <a:srgbClr val="B14A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887968" y="3520440"/>
            <a:ext cx="1188720" cy="201168"/>
          </a:xfrm>
          <a:prstGeom prst="rect">
            <a:avLst/>
          </a:prstGeom>
          <a:noFill/>
        </p:spPr>
        <p:txBody>
          <a:bodyPr wrap="square" lIns="0" tIns="0" rIns="0" bIns="0">
            <a:spAutoFit/>
          </a:bodyPr>
          <a:lstStyle/>
          <a:p>
            <a:r>
              <a:rPr sz="850" b="0">
                <a:solidFill>
                  <a:srgbClr val="5C6875"/>
                </a:solidFill>
                <a:latin typeface="Consolas"/>
              </a:rPr>
              <a:t>(11.0, 9.5)</a:t>
            </a:r>
          </a:p>
        </p:txBody>
      </p:sp>
      <p:sp>
        <p:nvSpPr>
          <p:cNvPr id="31" name="Oval 30"/>
          <p:cNvSpPr/>
          <p:nvPr/>
        </p:nvSpPr>
        <p:spPr>
          <a:xfrm>
            <a:off x="7699248" y="3822192"/>
            <a:ext cx="109728" cy="109728"/>
          </a:xfrm>
          <a:prstGeom prst="ellipse">
            <a:avLst/>
          </a:prstGeom>
          <a:solidFill>
            <a:srgbClr val="B14A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863840" y="3776472"/>
            <a:ext cx="1188720" cy="201168"/>
          </a:xfrm>
          <a:prstGeom prst="rect">
            <a:avLst/>
          </a:prstGeom>
          <a:noFill/>
        </p:spPr>
        <p:txBody>
          <a:bodyPr wrap="square" lIns="0" tIns="0" rIns="0" bIns="0">
            <a:spAutoFit/>
          </a:bodyPr>
          <a:lstStyle/>
          <a:p>
            <a:r>
              <a:rPr sz="850" b="0">
                <a:solidFill>
                  <a:srgbClr val="5C6875"/>
                </a:solidFill>
                <a:latin typeface="Consolas"/>
              </a:rPr>
              <a:t>(5.4, 8.1)</a:t>
            </a:r>
          </a:p>
        </p:txBody>
      </p:sp>
      <p:sp>
        <p:nvSpPr>
          <p:cNvPr id="33" name="TextBox 32"/>
          <p:cNvSpPr txBox="1"/>
          <p:nvPr/>
        </p:nvSpPr>
        <p:spPr>
          <a:xfrm>
            <a:off x="6510528" y="5504688"/>
            <a:ext cx="4937760" cy="219456"/>
          </a:xfrm>
          <a:prstGeom prst="rect">
            <a:avLst/>
          </a:prstGeom>
          <a:noFill/>
        </p:spPr>
        <p:txBody>
          <a:bodyPr wrap="square" lIns="0" tIns="0" rIns="0" bIns="0">
            <a:spAutoFit/>
          </a:bodyPr>
          <a:lstStyle/>
          <a:p>
            <a:r>
              <a:rPr sz="1000" b="0">
                <a:solidFill>
                  <a:srgbClr val="5C6875"/>
                </a:solidFill>
                <a:latin typeface="Calibri"/>
              </a:rPr>
              <a:t>Mock render — axes in metres, anchors from config/node_positions.json</a:t>
            </a:r>
          </a:p>
        </p:txBody>
      </p:sp>
      <p:sp>
        <p:nvSpPr>
          <p:cNvPr id="34" name="TextBox 33"/>
          <p:cNvSpPr txBox="1"/>
          <p:nvPr/>
        </p:nvSpPr>
        <p:spPr>
          <a:xfrm>
            <a:off x="10981944" y="6437376"/>
            <a:ext cx="640080" cy="256032"/>
          </a:xfrm>
          <a:prstGeom prst="rect">
            <a:avLst/>
          </a:prstGeom>
          <a:noFill/>
        </p:spPr>
        <p:txBody>
          <a:bodyPr wrap="square" lIns="0" tIns="0" rIns="0" bIns="0">
            <a:spAutoFit/>
          </a:bodyPr>
          <a:lstStyle/>
          <a:p>
            <a:pPr algn="r"/>
            <a:r>
              <a:rPr sz="900" b="0">
                <a:solidFill>
                  <a:srgbClr val="5C6875"/>
                </a:solidFill>
                <a:latin typeface="Arial"/>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Simulation video" descr="Simulation of a three-UAV ESP32 deployment: drones take formation, phones broadcast, RSSI ranging, least-squares fixes, and a live density map that flags a stage-front hotspot.">
            <a:hlinkClick r:id="" action="ppaction://media"/>
            <a:extLst>
              <a:ext uri="{FF2B5EF4-FFF2-40B4-BE49-F238E27FC236}">
                <a16:creationId xmlns:a16="http://schemas.microsoft.com/office/drawing/2014/main" id="{12E7B1FC-DFF5-572F-5A95-5DE348F01E0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2000" cy="6858000"/>
          </a:xfrm>
          <a:prstGeom prst="rect">
            <a:avLst/>
          </a:prstGeom>
        </p:spPr>
      </p:pic>
      <p:sp>
        <p:nvSpPr>
          <p:cNvPr id="2" name="TextBox 1"/>
          <p:cNvSpPr txBox="1"/>
          <p:nvPr/>
        </p:nvSpPr>
        <p:spPr>
          <a:xfrm>
            <a:off x="10981944" y="6437376"/>
            <a:ext cx="640080" cy="256032"/>
          </a:xfrm>
          <a:prstGeom prst="rect">
            <a:avLst/>
          </a:prstGeom>
          <a:noFill/>
        </p:spPr>
        <p:txBody>
          <a:bodyPr wrap="square" lIns="0" tIns="0" rIns="0" bIns="0">
            <a:spAutoFit/>
          </a:bodyPr>
          <a:lstStyle/>
          <a:p>
            <a:pPr algn="r"/>
            <a:r>
              <a:rPr sz="900" b="0">
                <a:solidFill>
                  <a:srgbClr val="5C6875"/>
                </a:solidFill>
                <a:latin typeface="Arial"/>
              </a:rPr>
              <a:t>13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5096" cy="237744"/>
          </a:xfrm>
          <a:prstGeom prst="rect">
            <a:avLst/>
          </a:prstGeom>
          <a:noFill/>
        </p:spPr>
        <p:txBody>
          <a:bodyPr wrap="square" lIns="0" tIns="0" rIns="0" bIns="0">
            <a:spAutoFit/>
          </a:bodyPr>
          <a:lstStyle/>
          <a:p>
            <a:r>
              <a:rPr sz="1050" b="1">
                <a:solidFill>
                  <a:srgbClr val="16416E"/>
                </a:solidFill>
                <a:latin typeface="Arial"/>
              </a:rPr>
              <a:t>SIMULATION  /  ACCURACY</a:t>
            </a:r>
          </a:p>
        </p:txBody>
      </p:sp>
      <p:sp>
        <p:nvSpPr>
          <p:cNvPr id="3" name="TextBox 2"/>
          <p:cNvSpPr txBox="1"/>
          <p:nvPr/>
        </p:nvSpPr>
        <p:spPr>
          <a:xfrm>
            <a:off x="566928" y="713232"/>
            <a:ext cx="11055096" cy="960120"/>
          </a:xfrm>
          <a:prstGeom prst="rect">
            <a:avLst/>
          </a:prstGeom>
          <a:noFill/>
        </p:spPr>
        <p:txBody>
          <a:bodyPr wrap="square" lIns="0" tIns="0" rIns="0" bIns="0">
            <a:spAutoFit/>
          </a:bodyPr>
          <a:lstStyle/>
          <a:p>
            <a:pPr>
              <a:lnSpc>
                <a:spcPct val="105000"/>
              </a:lnSpc>
            </a:pPr>
            <a:r>
              <a:rPr sz="3000" b="1">
                <a:solidFill>
                  <a:srgbClr val="101823"/>
                </a:solidFill>
                <a:latin typeface="Arial"/>
              </a:rPr>
              <a:t>Inside the node triangle, the solver lands within about 2.8 m.</a:t>
            </a:r>
          </a:p>
        </p:txBody>
      </p:sp>
      <p:pic>
        <p:nvPicPr>
          <p:cNvPr id="4" name="Picture 3" descr="accuracy_map.png"/>
          <p:cNvPicPr>
            <a:picLocks noChangeAspect="1"/>
          </p:cNvPicPr>
          <p:nvPr/>
        </p:nvPicPr>
        <p:blipFill>
          <a:blip r:embed="rId3"/>
          <a:stretch>
            <a:fillRect/>
          </a:stretch>
        </p:blipFill>
        <p:spPr>
          <a:xfrm>
            <a:off x="566928" y="1810512"/>
            <a:ext cx="6163056" cy="4237101"/>
          </a:xfrm>
          <a:prstGeom prst="rect">
            <a:avLst/>
          </a:prstGeom>
        </p:spPr>
      </p:pic>
      <p:sp>
        <p:nvSpPr>
          <p:cNvPr id="5" name="TextBox 4"/>
          <p:cNvSpPr txBox="1"/>
          <p:nvPr/>
        </p:nvSpPr>
        <p:spPr>
          <a:xfrm>
            <a:off x="566928" y="6120765"/>
            <a:ext cx="6163056" cy="365760"/>
          </a:xfrm>
          <a:prstGeom prst="rect">
            <a:avLst/>
          </a:prstGeom>
          <a:noFill/>
        </p:spPr>
        <p:txBody>
          <a:bodyPr wrap="square" lIns="0" tIns="0" rIns="0" bIns="0">
            <a:spAutoFit/>
          </a:bodyPr>
          <a:lstStyle/>
          <a:p>
            <a:pPr>
              <a:lnSpc>
                <a:spcPct val="110000"/>
              </a:lnSpc>
            </a:pPr>
            <a:r>
              <a:rPr sz="1000" b="0">
                <a:solidFill>
                  <a:srgbClr val="5C6875"/>
                </a:solidFill>
                <a:latin typeface="Calibri"/>
              </a:rPr>
              <a:t>Median position error over 120 trials per 0.5 m cell. σ = 4 dB shadowing, 5-frame average, −40 dBm, n = 2.0. Lightly smoothed for display.</a:t>
            </a:r>
          </a:p>
        </p:txBody>
      </p:sp>
      <p:sp>
        <p:nvSpPr>
          <p:cNvPr id="6" name="TextBox 5"/>
          <p:cNvSpPr txBox="1"/>
          <p:nvPr/>
        </p:nvSpPr>
        <p:spPr>
          <a:xfrm>
            <a:off x="7059168" y="1810512"/>
            <a:ext cx="4562856" cy="219456"/>
          </a:xfrm>
          <a:prstGeom prst="rect">
            <a:avLst/>
          </a:prstGeom>
          <a:noFill/>
        </p:spPr>
        <p:txBody>
          <a:bodyPr wrap="square" lIns="0" tIns="0" rIns="0" bIns="0">
            <a:spAutoFit/>
          </a:bodyPr>
          <a:lstStyle/>
          <a:p>
            <a:r>
              <a:rPr sz="1000" b="1">
                <a:solidFill>
                  <a:srgbClr val="5C6875"/>
                </a:solidFill>
                <a:latin typeface="Arial"/>
              </a:rPr>
              <a:t>WHAT 282,240 SOLVES OF THE BACKEND SOLVER SHOW</a:t>
            </a:r>
          </a:p>
        </p:txBody>
      </p:sp>
      <p:sp>
        <p:nvSpPr>
          <p:cNvPr id="7" name="TextBox 6"/>
          <p:cNvSpPr txBox="1"/>
          <p:nvPr/>
        </p:nvSpPr>
        <p:spPr>
          <a:xfrm>
            <a:off x="7059168" y="2176272"/>
            <a:ext cx="1481328" cy="566928"/>
          </a:xfrm>
          <a:prstGeom prst="rect">
            <a:avLst/>
          </a:prstGeom>
          <a:noFill/>
        </p:spPr>
        <p:txBody>
          <a:bodyPr wrap="square" lIns="0" tIns="0" rIns="0" bIns="0">
            <a:spAutoFit/>
          </a:bodyPr>
          <a:lstStyle/>
          <a:p>
            <a:r>
              <a:rPr sz="3200" b="1">
                <a:solidFill>
                  <a:srgbClr val="16416E"/>
                </a:solidFill>
                <a:latin typeface="Arial"/>
              </a:rPr>
              <a:t>2.8 m</a:t>
            </a:r>
          </a:p>
        </p:txBody>
      </p:sp>
      <p:sp>
        <p:nvSpPr>
          <p:cNvPr id="8" name="TextBox 7"/>
          <p:cNvSpPr txBox="1"/>
          <p:nvPr/>
        </p:nvSpPr>
        <p:spPr>
          <a:xfrm>
            <a:off x="8686800" y="2212848"/>
            <a:ext cx="2935224" cy="219456"/>
          </a:xfrm>
          <a:prstGeom prst="rect">
            <a:avLst/>
          </a:prstGeom>
          <a:noFill/>
        </p:spPr>
        <p:txBody>
          <a:bodyPr wrap="square" lIns="0" tIns="0" rIns="0" bIns="0">
            <a:spAutoFit/>
          </a:bodyPr>
          <a:lstStyle/>
          <a:p>
            <a:r>
              <a:rPr sz="950" b="1">
                <a:solidFill>
                  <a:srgbClr val="101823"/>
                </a:solidFill>
                <a:latin typeface="Arial"/>
              </a:rPr>
              <a:t>MEDIAN ERROR, INSIDE THE TRIANGLE</a:t>
            </a:r>
          </a:p>
        </p:txBody>
      </p:sp>
      <p:sp>
        <p:nvSpPr>
          <p:cNvPr id="9" name="TextBox 8"/>
          <p:cNvSpPr txBox="1"/>
          <p:nvPr/>
        </p:nvSpPr>
        <p:spPr>
          <a:xfrm>
            <a:off x="8686800" y="2487168"/>
            <a:ext cx="2935224" cy="566928"/>
          </a:xfrm>
          <a:prstGeom prst="rect">
            <a:avLst/>
          </a:prstGeom>
          <a:noFill/>
        </p:spPr>
        <p:txBody>
          <a:bodyPr wrap="square" lIns="0" tIns="0" rIns="0" bIns="0">
            <a:spAutoFit/>
          </a:bodyPr>
          <a:lstStyle/>
          <a:p>
            <a:pPr>
              <a:lnSpc>
                <a:spcPct val="112000"/>
              </a:lnSpc>
            </a:pPr>
            <a:r>
              <a:rPr sz="1150" b="0">
                <a:solidFill>
                  <a:srgbClr val="5C6875"/>
                </a:solidFill>
                <a:latin typeface="Calibri"/>
              </a:rPr>
              <a:t>31% of fixes land within 2 m of the device.</a:t>
            </a:r>
          </a:p>
        </p:txBody>
      </p:sp>
      <p:sp>
        <p:nvSpPr>
          <p:cNvPr id="10" name="Rectangle 9"/>
          <p:cNvSpPr/>
          <p:nvPr/>
        </p:nvSpPr>
        <p:spPr>
          <a:xfrm>
            <a:off x="7059168" y="2999232"/>
            <a:ext cx="4562856" cy="10972"/>
          </a:xfrm>
          <a:prstGeom prst="rect">
            <a:avLst/>
          </a:prstGeom>
          <a:solidFill>
            <a:srgbClr val="DF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59168" y="3127248"/>
            <a:ext cx="1481328" cy="566928"/>
          </a:xfrm>
          <a:prstGeom prst="rect">
            <a:avLst/>
          </a:prstGeom>
          <a:noFill/>
        </p:spPr>
        <p:txBody>
          <a:bodyPr wrap="square" lIns="0" tIns="0" rIns="0" bIns="0">
            <a:spAutoFit/>
          </a:bodyPr>
          <a:lstStyle/>
          <a:p>
            <a:r>
              <a:rPr sz="3200" b="1">
                <a:solidFill>
                  <a:srgbClr val="16416E"/>
                </a:solidFill>
                <a:latin typeface="Arial"/>
              </a:rPr>
              <a:t>4.8 m</a:t>
            </a:r>
          </a:p>
        </p:txBody>
      </p:sp>
      <p:sp>
        <p:nvSpPr>
          <p:cNvPr id="12" name="TextBox 11"/>
          <p:cNvSpPr txBox="1"/>
          <p:nvPr/>
        </p:nvSpPr>
        <p:spPr>
          <a:xfrm>
            <a:off x="8686800" y="3163824"/>
            <a:ext cx="2935224" cy="219456"/>
          </a:xfrm>
          <a:prstGeom prst="rect">
            <a:avLst/>
          </a:prstGeom>
          <a:noFill/>
        </p:spPr>
        <p:txBody>
          <a:bodyPr wrap="square" lIns="0" tIns="0" rIns="0" bIns="0">
            <a:spAutoFit/>
          </a:bodyPr>
          <a:lstStyle/>
          <a:p>
            <a:r>
              <a:rPr sz="950" b="1">
                <a:solidFill>
                  <a:srgbClr val="101823"/>
                </a:solidFill>
                <a:latin typeface="Arial"/>
              </a:rPr>
              <a:t>MEDIAN ERROR, OUTSIDE IT</a:t>
            </a:r>
          </a:p>
        </p:txBody>
      </p:sp>
      <p:sp>
        <p:nvSpPr>
          <p:cNvPr id="13" name="TextBox 12"/>
          <p:cNvSpPr txBox="1"/>
          <p:nvPr/>
        </p:nvSpPr>
        <p:spPr>
          <a:xfrm>
            <a:off x="8686800" y="3438144"/>
            <a:ext cx="2935224" cy="566928"/>
          </a:xfrm>
          <a:prstGeom prst="rect">
            <a:avLst/>
          </a:prstGeom>
          <a:noFill/>
        </p:spPr>
        <p:txBody>
          <a:bodyPr wrap="square" lIns="0" tIns="0" rIns="0" bIns="0">
            <a:spAutoFit/>
          </a:bodyPr>
          <a:lstStyle/>
          <a:p>
            <a:pPr>
              <a:lnSpc>
                <a:spcPct val="112000"/>
              </a:lnSpc>
            </a:pPr>
            <a:r>
              <a:rPr sz="1150" b="0">
                <a:solidFill>
                  <a:srgbClr val="5C6875"/>
                </a:solidFill>
                <a:latin typeface="Calibri"/>
              </a:rPr>
              <a:t>Same signal noise, weaker geometry — so fly the triangle over the crowd.</a:t>
            </a:r>
          </a:p>
        </p:txBody>
      </p:sp>
      <p:sp>
        <p:nvSpPr>
          <p:cNvPr id="14" name="Rectangle 13"/>
          <p:cNvSpPr/>
          <p:nvPr/>
        </p:nvSpPr>
        <p:spPr>
          <a:xfrm>
            <a:off x="7059168" y="3950208"/>
            <a:ext cx="4562856" cy="10972"/>
          </a:xfrm>
          <a:prstGeom prst="rect">
            <a:avLst/>
          </a:prstGeom>
          <a:solidFill>
            <a:srgbClr val="DF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059168" y="4078224"/>
            <a:ext cx="1481328" cy="566928"/>
          </a:xfrm>
          <a:prstGeom prst="rect">
            <a:avLst/>
          </a:prstGeom>
          <a:noFill/>
        </p:spPr>
        <p:txBody>
          <a:bodyPr wrap="square" lIns="0" tIns="0" rIns="0" bIns="0">
            <a:spAutoFit/>
          </a:bodyPr>
          <a:lstStyle/>
          <a:p>
            <a:r>
              <a:rPr sz="3200" b="1">
                <a:solidFill>
                  <a:srgbClr val="B14A20"/>
                </a:solidFill>
                <a:latin typeface="Arial"/>
              </a:rPr>
              <a:t>~35 m</a:t>
            </a:r>
          </a:p>
        </p:txBody>
      </p:sp>
      <p:sp>
        <p:nvSpPr>
          <p:cNvPr id="16" name="TextBox 15"/>
          <p:cNvSpPr txBox="1"/>
          <p:nvPr/>
        </p:nvSpPr>
        <p:spPr>
          <a:xfrm>
            <a:off x="8686800" y="4114800"/>
            <a:ext cx="2935224" cy="219456"/>
          </a:xfrm>
          <a:prstGeom prst="rect">
            <a:avLst/>
          </a:prstGeom>
          <a:noFill/>
        </p:spPr>
        <p:txBody>
          <a:bodyPr wrap="square" lIns="0" tIns="0" rIns="0" bIns="0">
            <a:spAutoFit/>
          </a:bodyPr>
          <a:lstStyle/>
          <a:p>
            <a:r>
              <a:rPr sz="950" b="1">
                <a:solidFill>
                  <a:srgbClr val="101823"/>
                </a:solidFill>
                <a:latin typeface="Arial"/>
              </a:rPr>
              <a:t>IF THE PATH-LOSS EXPONENT IS WRONG</a:t>
            </a:r>
          </a:p>
        </p:txBody>
      </p:sp>
      <p:sp>
        <p:nvSpPr>
          <p:cNvPr id="17" name="TextBox 16"/>
          <p:cNvSpPr txBox="1"/>
          <p:nvPr/>
        </p:nvSpPr>
        <p:spPr>
          <a:xfrm>
            <a:off x="8686800" y="4389120"/>
            <a:ext cx="2935224" cy="566928"/>
          </a:xfrm>
          <a:prstGeom prst="rect">
            <a:avLst/>
          </a:prstGeom>
          <a:noFill/>
        </p:spPr>
        <p:txBody>
          <a:bodyPr wrap="square" lIns="0" tIns="0" rIns="0" bIns="0">
            <a:spAutoFit/>
          </a:bodyPr>
          <a:lstStyle/>
          <a:p>
            <a:pPr>
              <a:lnSpc>
                <a:spcPct val="112000"/>
              </a:lnSpc>
            </a:pPr>
            <a:r>
              <a:rPr sz="1150" b="0">
                <a:solidFill>
                  <a:srgbClr val="5C6875"/>
                </a:solidFill>
                <a:latin typeface="Calibri"/>
              </a:rPr>
              <a:t>Room decays at n = 2.7, backend assumes 2.0. Calibration is not optional.</a:t>
            </a:r>
          </a:p>
        </p:txBody>
      </p:sp>
      <p:sp>
        <p:nvSpPr>
          <p:cNvPr id="18" name="Rectangle 17"/>
          <p:cNvSpPr/>
          <p:nvPr/>
        </p:nvSpPr>
        <p:spPr>
          <a:xfrm>
            <a:off x="7059168" y="5084064"/>
            <a:ext cx="4562856" cy="1005840"/>
          </a:xfrm>
          <a:prstGeom prst="rect">
            <a:avLst/>
          </a:prstGeom>
          <a:solidFill>
            <a:srgbClr val="F6E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242048" y="5266944"/>
            <a:ext cx="4197096" cy="640080"/>
          </a:xfrm>
          <a:prstGeom prst="rect">
            <a:avLst/>
          </a:prstGeom>
          <a:noFill/>
        </p:spPr>
        <p:txBody>
          <a:bodyPr wrap="square" lIns="0" tIns="0" rIns="0" bIns="0">
            <a:spAutoFit/>
          </a:bodyPr>
          <a:lstStyle/>
          <a:p>
            <a:pPr>
              <a:lnSpc>
                <a:spcPct val="115000"/>
              </a:lnSpc>
            </a:pPr>
            <a:r>
              <a:rPr sz="1250" b="0">
                <a:solidFill>
                  <a:srgbClr val="5C6875"/>
                </a:solidFill>
                <a:latin typeface="Calibri"/>
              </a:rPr>
              <a:t>Accuracy is decided before take-off: by where the triangle is flown, and by whether n was measured on site. Signal strength alone does not set it.</a:t>
            </a:r>
          </a:p>
        </p:txBody>
      </p:sp>
      <p:sp>
        <p:nvSpPr>
          <p:cNvPr id="20" name="TextBox 19"/>
          <p:cNvSpPr txBox="1"/>
          <p:nvPr/>
        </p:nvSpPr>
        <p:spPr>
          <a:xfrm>
            <a:off x="10981944" y="6437376"/>
            <a:ext cx="640080" cy="256032"/>
          </a:xfrm>
          <a:prstGeom prst="rect">
            <a:avLst/>
          </a:prstGeom>
          <a:noFill/>
        </p:spPr>
        <p:txBody>
          <a:bodyPr wrap="square" lIns="0" tIns="0" rIns="0" bIns="0">
            <a:spAutoFit/>
          </a:bodyPr>
          <a:lstStyle/>
          <a:p>
            <a:pPr algn="r"/>
            <a:r>
              <a:rPr sz="900" b="0">
                <a:solidFill>
                  <a:srgbClr val="5C6875"/>
                </a:solidFill>
                <a:latin typeface="Arial"/>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5096" cy="237744"/>
          </a:xfrm>
          <a:prstGeom prst="rect">
            <a:avLst/>
          </a:prstGeom>
          <a:noFill/>
        </p:spPr>
        <p:txBody>
          <a:bodyPr wrap="square" lIns="0" tIns="0" rIns="0" bIns="0">
            <a:spAutoFit/>
          </a:bodyPr>
          <a:lstStyle/>
          <a:p>
            <a:r>
              <a:rPr sz="1050" b="1">
                <a:solidFill>
                  <a:srgbClr val="16416E"/>
                </a:solidFill>
                <a:latin typeface="Arial"/>
              </a:rPr>
              <a:t>RISKS</a:t>
            </a:r>
          </a:p>
        </p:txBody>
      </p:sp>
      <p:sp>
        <p:nvSpPr>
          <p:cNvPr id="3" name="TextBox 2"/>
          <p:cNvSpPr txBox="1"/>
          <p:nvPr/>
        </p:nvSpPr>
        <p:spPr>
          <a:xfrm>
            <a:off x="566928" y="713232"/>
            <a:ext cx="11055096" cy="960120"/>
          </a:xfrm>
          <a:prstGeom prst="rect">
            <a:avLst/>
          </a:prstGeom>
          <a:noFill/>
        </p:spPr>
        <p:txBody>
          <a:bodyPr wrap="square" lIns="0" tIns="0" rIns="0" bIns="0">
            <a:spAutoFit/>
          </a:bodyPr>
          <a:lstStyle/>
          <a:p>
            <a:pPr>
              <a:lnSpc>
                <a:spcPct val="105000"/>
              </a:lnSpc>
            </a:pPr>
            <a:r>
              <a:rPr sz="2900" b="1">
                <a:solidFill>
                  <a:srgbClr val="101823"/>
                </a:solidFill>
                <a:latin typeface="Arial"/>
              </a:rPr>
              <a:t>Three failure modes, named before deployment rather than after.</a:t>
            </a:r>
          </a:p>
        </p:txBody>
      </p:sp>
      <p:sp>
        <p:nvSpPr>
          <p:cNvPr id="4" name="TextBox 3"/>
          <p:cNvSpPr txBox="1"/>
          <p:nvPr/>
        </p:nvSpPr>
        <p:spPr>
          <a:xfrm>
            <a:off x="566928" y="1700784"/>
            <a:ext cx="11055096" cy="457200"/>
          </a:xfrm>
          <a:prstGeom prst="rect">
            <a:avLst/>
          </a:prstGeom>
          <a:noFill/>
        </p:spPr>
        <p:txBody>
          <a:bodyPr wrap="square" lIns="0" tIns="0" rIns="0" bIns="0">
            <a:spAutoFit/>
          </a:bodyPr>
          <a:lstStyle/>
          <a:p>
            <a:r>
              <a:rPr sz="1250" b="0">
                <a:solidFill>
                  <a:srgbClr val="5C6875"/>
                </a:solidFill>
                <a:latin typeface="Calibri"/>
              </a:rPr>
              <a:t>Each one degrades the fix in a different way, so each needs a different correction.</a:t>
            </a:r>
          </a:p>
        </p:txBody>
      </p:sp>
      <p:sp>
        <p:nvSpPr>
          <p:cNvPr id="5" name="TextBox 4"/>
          <p:cNvSpPr txBox="1"/>
          <p:nvPr/>
        </p:nvSpPr>
        <p:spPr>
          <a:xfrm>
            <a:off x="566928" y="2194560"/>
            <a:ext cx="2194560" cy="201168"/>
          </a:xfrm>
          <a:prstGeom prst="rect">
            <a:avLst/>
          </a:prstGeom>
          <a:noFill/>
        </p:spPr>
        <p:txBody>
          <a:bodyPr wrap="square" lIns="0" tIns="0" rIns="0" bIns="0">
            <a:spAutoFit/>
          </a:bodyPr>
          <a:lstStyle/>
          <a:p>
            <a:r>
              <a:rPr sz="900" b="1">
                <a:solidFill>
                  <a:srgbClr val="16416E"/>
                </a:solidFill>
                <a:latin typeface="Arial"/>
              </a:rPr>
              <a:t>CHALLENGE</a:t>
            </a:r>
          </a:p>
        </p:txBody>
      </p:sp>
      <p:sp>
        <p:nvSpPr>
          <p:cNvPr id="6" name="TextBox 5"/>
          <p:cNvSpPr txBox="1"/>
          <p:nvPr/>
        </p:nvSpPr>
        <p:spPr>
          <a:xfrm>
            <a:off x="2944368" y="2194560"/>
            <a:ext cx="3200400" cy="201168"/>
          </a:xfrm>
          <a:prstGeom prst="rect">
            <a:avLst/>
          </a:prstGeom>
          <a:noFill/>
        </p:spPr>
        <p:txBody>
          <a:bodyPr wrap="square" lIns="0" tIns="0" rIns="0" bIns="0">
            <a:spAutoFit/>
          </a:bodyPr>
          <a:lstStyle/>
          <a:p>
            <a:r>
              <a:rPr sz="900" b="1">
                <a:solidFill>
                  <a:srgbClr val="16416E"/>
                </a:solidFill>
                <a:latin typeface="Arial"/>
              </a:rPr>
              <a:t>WHY IT HAPPENS</a:t>
            </a:r>
          </a:p>
        </p:txBody>
      </p:sp>
      <p:sp>
        <p:nvSpPr>
          <p:cNvPr id="7" name="TextBox 6"/>
          <p:cNvSpPr txBox="1"/>
          <p:nvPr/>
        </p:nvSpPr>
        <p:spPr>
          <a:xfrm>
            <a:off x="6419088" y="2194560"/>
            <a:ext cx="2377440" cy="201168"/>
          </a:xfrm>
          <a:prstGeom prst="rect">
            <a:avLst/>
          </a:prstGeom>
          <a:noFill/>
        </p:spPr>
        <p:txBody>
          <a:bodyPr wrap="square" lIns="0" tIns="0" rIns="0" bIns="0">
            <a:spAutoFit/>
          </a:bodyPr>
          <a:lstStyle/>
          <a:p>
            <a:r>
              <a:rPr sz="900" b="1">
                <a:solidFill>
                  <a:srgbClr val="16416E"/>
                </a:solidFill>
                <a:latin typeface="Arial"/>
              </a:rPr>
              <a:t>EFFECT ON THE FIX</a:t>
            </a:r>
          </a:p>
        </p:txBody>
      </p:sp>
      <p:sp>
        <p:nvSpPr>
          <p:cNvPr id="8" name="TextBox 7"/>
          <p:cNvSpPr txBox="1"/>
          <p:nvPr/>
        </p:nvSpPr>
        <p:spPr>
          <a:xfrm>
            <a:off x="9070848" y="2194560"/>
            <a:ext cx="2551176" cy="201168"/>
          </a:xfrm>
          <a:prstGeom prst="rect">
            <a:avLst/>
          </a:prstGeom>
          <a:noFill/>
        </p:spPr>
        <p:txBody>
          <a:bodyPr wrap="square" lIns="0" tIns="0" rIns="0" bIns="0">
            <a:spAutoFit/>
          </a:bodyPr>
          <a:lstStyle/>
          <a:p>
            <a:r>
              <a:rPr sz="900" b="1">
                <a:solidFill>
                  <a:srgbClr val="16416E"/>
                </a:solidFill>
                <a:latin typeface="Arial"/>
              </a:rPr>
              <a:t>MITIGATION</a:t>
            </a:r>
          </a:p>
        </p:txBody>
      </p:sp>
      <p:sp>
        <p:nvSpPr>
          <p:cNvPr id="9" name="Rectangle 8"/>
          <p:cNvSpPr/>
          <p:nvPr/>
        </p:nvSpPr>
        <p:spPr>
          <a:xfrm>
            <a:off x="566928" y="2468880"/>
            <a:ext cx="11055096" cy="10972"/>
          </a:xfrm>
          <a:prstGeom prst="rect">
            <a:avLst/>
          </a:prstGeom>
          <a:solidFill>
            <a:srgbClr val="DF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66928" y="2633472"/>
            <a:ext cx="2194560" cy="640080"/>
          </a:xfrm>
          <a:prstGeom prst="rect">
            <a:avLst/>
          </a:prstGeom>
          <a:noFill/>
        </p:spPr>
        <p:txBody>
          <a:bodyPr wrap="square" lIns="0" tIns="0" rIns="0" bIns="0">
            <a:spAutoFit/>
          </a:bodyPr>
          <a:lstStyle/>
          <a:p>
            <a:pPr>
              <a:lnSpc>
                <a:spcPct val="112000"/>
              </a:lnSpc>
            </a:pPr>
            <a:r>
              <a:rPr sz="1100" b="1">
                <a:solidFill>
                  <a:srgbClr val="101823"/>
                </a:solidFill>
                <a:latin typeface="Calibri"/>
              </a:rPr>
              <a:t>RSSI noise and multipath</a:t>
            </a:r>
          </a:p>
        </p:txBody>
      </p:sp>
      <p:sp>
        <p:nvSpPr>
          <p:cNvPr id="11" name="TextBox 10"/>
          <p:cNvSpPr txBox="1"/>
          <p:nvPr/>
        </p:nvSpPr>
        <p:spPr>
          <a:xfrm>
            <a:off x="2944368" y="2633472"/>
            <a:ext cx="3200400" cy="640080"/>
          </a:xfrm>
          <a:prstGeom prst="rect">
            <a:avLst/>
          </a:prstGeom>
          <a:noFill/>
        </p:spPr>
        <p:txBody>
          <a:bodyPr wrap="square" lIns="0" tIns="0" rIns="0" bIns="0">
            <a:spAutoFit/>
          </a:bodyPr>
          <a:lstStyle/>
          <a:p>
            <a:pPr>
              <a:lnSpc>
                <a:spcPct val="112000"/>
              </a:lnSpc>
            </a:pPr>
            <a:r>
              <a:rPr sz="1050" b="0">
                <a:solidFill>
                  <a:srgbClr val="5C6875"/>
                </a:solidFill>
                <a:latin typeface="Calibri"/>
              </a:rPr>
              <a:t>Walls, bodies and furniture reflect and absorb 2.4 GHz. The same device in the same spot varies by ±10 dBm.</a:t>
            </a:r>
          </a:p>
        </p:txBody>
      </p:sp>
      <p:sp>
        <p:nvSpPr>
          <p:cNvPr id="12" name="TextBox 11"/>
          <p:cNvSpPr txBox="1"/>
          <p:nvPr/>
        </p:nvSpPr>
        <p:spPr>
          <a:xfrm>
            <a:off x="6419088" y="2633472"/>
            <a:ext cx="2377440" cy="640080"/>
          </a:xfrm>
          <a:prstGeom prst="rect">
            <a:avLst/>
          </a:prstGeom>
          <a:noFill/>
        </p:spPr>
        <p:txBody>
          <a:bodyPr wrap="square" lIns="0" tIns="0" rIns="0" bIns="0">
            <a:spAutoFit/>
          </a:bodyPr>
          <a:lstStyle/>
          <a:p>
            <a:pPr>
              <a:lnSpc>
                <a:spcPct val="112000"/>
              </a:lnSpc>
            </a:pPr>
            <a:r>
              <a:rPr sz="1050" b="0">
                <a:solidFill>
                  <a:srgbClr val="5C6875"/>
                </a:solidFill>
                <a:latin typeface="Calibri"/>
              </a:rPr>
              <a:t>Distance error grows non-linearly with range; the circles stop overlapping cleanly.</a:t>
            </a:r>
          </a:p>
        </p:txBody>
      </p:sp>
      <p:sp>
        <p:nvSpPr>
          <p:cNvPr id="13" name="TextBox 12"/>
          <p:cNvSpPr txBox="1"/>
          <p:nvPr/>
        </p:nvSpPr>
        <p:spPr>
          <a:xfrm>
            <a:off x="9070848" y="2633472"/>
            <a:ext cx="2551176" cy="640080"/>
          </a:xfrm>
          <a:prstGeom prst="rect">
            <a:avLst/>
          </a:prstGeom>
          <a:noFill/>
        </p:spPr>
        <p:txBody>
          <a:bodyPr wrap="square" lIns="0" tIns="0" rIns="0" bIns="0">
            <a:spAutoFit/>
          </a:bodyPr>
          <a:lstStyle/>
          <a:p>
            <a:pPr>
              <a:lnSpc>
                <a:spcPct val="112000"/>
              </a:lnSpc>
            </a:pPr>
            <a:r>
              <a:rPr sz="1050" b="0">
                <a:solidFill>
                  <a:srgbClr val="5C6875"/>
                </a:solidFill>
                <a:latin typeface="Calibri"/>
              </a:rPr>
              <a:t>Five-frame moving average per MAC and node, plus weighted least squares — both live. Kalman filter next.</a:t>
            </a:r>
          </a:p>
        </p:txBody>
      </p:sp>
      <p:sp>
        <p:nvSpPr>
          <p:cNvPr id="14" name="Rectangle 13"/>
          <p:cNvSpPr/>
          <p:nvPr/>
        </p:nvSpPr>
        <p:spPr>
          <a:xfrm>
            <a:off x="566928" y="3346703"/>
            <a:ext cx="11055096" cy="10972"/>
          </a:xfrm>
          <a:prstGeom prst="rect">
            <a:avLst/>
          </a:prstGeom>
          <a:solidFill>
            <a:srgbClr val="DF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66928" y="3493008"/>
            <a:ext cx="2194560" cy="640080"/>
          </a:xfrm>
          <a:prstGeom prst="rect">
            <a:avLst/>
          </a:prstGeom>
          <a:noFill/>
        </p:spPr>
        <p:txBody>
          <a:bodyPr wrap="square" lIns="0" tIns="0" rIns="0" bIns="0">
            <a:spAutoFit/>
          </a:bodyPr>
          <a:lstStyle/>
          <a:p>
            <a:pPr>
              <a:lnSpc>
                <a:spcPct val="112000"/>
              </a:lnSpc>
            </a:pPr>
            <a:r>
              <a:rPr sz="1100" b="1">
                <a:solidFill>
                  <a:srgbClr val="101823"/>
                </a:solidFill>
                <a:latin typeface="Calibri"/>
              </a:rPr>
              <a:t>MAC randomisation</a:t>
            </a:r>
          </a:p>
        </p:txBody>
      </p:sp>
      <p:sp>
        <p:nvSpPr>
          <p:cNvPr id="16" name="TextBox 15"/>
          <p:cNvSpPr txBox="1"/>
          <p:nvPr/>
        </p:nvSpPr>
        <p:spPr>
          <a:xfrm>
            <a:off x="2944368" y="3493008"/>
            <a:ext cx="3200400" cy="640080"/>
          </a:xfrm>
          <a:prstGeom prst="rect">
            <a:avLst/>
          </a:prstGeom>
          <a:noFill/>
        </p:spPr>
        <p:txBody>
          <a:bodyPr wrap="square" lIns="0" tIns="0" rIns="0" bIns="0">
            <a:spAutoFit/>
          </a:bodyPr>
          <a:lstStyle/>
          <a:p>
            <a:pPr>
              <a:lnSpc>
                <a:spcPct val="112000"/>
              </a:lnSpc>
            </a:pPr>
            <a:r>
              <a:rPr sz="1050" b="0">
                <a:solidFill>
                  <a:srgbClr val="5C6875"/>
                </a:solidFill>
                <a:latin typeface="Calibri"/>
              </a:rPr>
              <a:t>iOS and Android rotate the source address between probe bursts to defeat exactly this kind of tracking.</a:t>
            </a:r>
          </a:p>
        </p:txBody>
      </p:sp>
      <p:sp>
        <p:nvSpPr>
          <p:cNvPr id="17" name="TextBox 16"/>
          <p:cNvSpPr txBox="1"/>
          <p:nvPr/>
        </p:nvSpPr>
        <p:spPr>
          <a:xfrm>
            <a:off x="6419088" y="3493008"/>
            <a:ext cx="2377440" cy="640080"/>
          </a:xfrm>
          <a:prstGeom prst="rect">
            <a:avLst/>
          </a:prstGeom>
          <a:noFill/>
        </p:spPr>
        <p:txBody>
          <a:bodyPr wrap="square" lIns="0" tIns="0" rIns="0" bIns="0">
            <a:spAutoFit/>
          </a:bodyPr>
          <a:lstStyle/>
          <a:p>
            <a:pPr>
              <a:lnSpc>
                <a:spcPct val="112000"/>
              </a:lnSpc>
            </a:pPr>
            <a:r>
              <a:rPr sz="1050" b="0">
                <a:solidFill>
                  <a:srgbClr val="5C6875"/>
                </a:solidFill>
                <a:latin typeface="Calibri"/>
              </a:rPr>
              <a:t>One person appears as several short-lived devices, so raw headcount inflates.</a:t>
            </a:r>
          </a:p>
        </p:txBody>
      </p:sp>
      <p:sp>
        <p:nvSpPr>
          <p:cNvPr id="18" name="TextBox 17"/>
          <p:cNvSpPr txBox="1"/>
          <p:nvPr/>
        </p:nvSpPr>
        <p:spPr>
          <a:xfrm>
            <a:off x="9070848" y="3493008"/>
            <a:ext cx="2551176" cy="640080"/>
          </a:xfrm>
          <a:prstGeom prst="rect">
            <a:avLst/>
          </a:prstGeom>
          <a:noFill/>
        </p:spPr>
        <p:txBody>
          <a:bodyPr wrap="square" lIns="0" tIns="0" rIns="0" bIns="0">
            <a:spAutoFit/>
          </a:bodyPr>
          <a:lstStyle/>
          <a:p>
            <a:pPr>
              <a:lnSpc>
                <a:spcPct val="112000"/>
              </a:lnSpc>
            </a:pPr>
            <a:r>
              <a:rPr sz="1050" b="0">
                <a:solidFill>
                  <a:srgbClr val="5C6875"/>
                </a:solidFill>
                <a:latin typeface="Calibri"/>
              </a:rPr>
              <a:t>Cluster bursts inside a 100 ms window and use sequence-number continuity as a soft identity.</a:t>
            </a:r>
          </a:p>
        </p:txBody>
      </p:sp>
      <p:sp>
        <p:nvSpPr>
          <p:cNvPr id="19" name="Rectangle 18"/>
          <p:cNvSpPr/>
          <p:nvPr/>
        </p:nvSpPr>
        <p:spPr>
          <a:xfrm>
            <a:off x="566928" y="4206240"/>
            <a:ext cx="11055096" cy="10972"/>
          </a:xfrm>
          <a:prstGeom prst="rect">
            <a:avLst/>
          </a:prstGeom>
          <a:solidFill>
            <a:srgbClr val="DF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566928" y="4352544"/>
            <a:ext cx="2194560" cy="640080"/>
          </a:xfrm>
          <a:prstGeom prst="rect">
            <a:avLst/>
          </a:prstGeom>
          <a:noFill/>
        </p:spPr>
        <p:txBody>
          <a:bodyPr wrap="square" lIns="0" tIns="0" rIns="0" bIns="0">
            <a:spAutoFit/>
          </a:bodyPr>
          <a:lstStyle/>
          <a:p>
            <a:pPr>
              <a:lnSpc>
                <a:spcPct val="112000"/>
              </a:lnSpc>
            </a:pPr>
            <a:r>
              <a:rPr sz="1100" b="1">
                <a:solidFill>
                  <a:srgbClr val="101823"/>
                </a:solidFill>
                <a:latin typeface="Calibri"/>
              </a:rPr>
              <a:t>Single-radio contention</a:t>
            </a:r>
          </a:p>
        </p:txBody>
      </p:sp>
      <p:sp>
        <p:nvSpPr>
          <p:cNvPr id="21" name="TextBox 20"/>
          <p:cNvSpPr txBox="1"/>
          <p:nvPr/>
        </p:nvSpPr>
        <p:spPr>
          <a:xfrm>
            <a:off x="2944368" y="4352544"/>
            <a:ext cx="3200400" cy="640080"/>
          </a:xfrm>
          <a:prstGeom prst="rect">
            <a:avLst/>
          </a:prstGeom>
          <a:noFill/>
        </p:spPr>
        <p:txBody>
          <a:bodyPr wrap="square" lIns="0" tIns="0" rIns="0" bIns="0">
            <a:spAutoFit/>
          </a:bodyPr>
          <a:lstStyle/>
          <a:p>
            <a:pPr>
              <a:lnSpc>
                <a:spcPct val="112000"/>
              </a:lnSpc>
            </a:pPr>
            <a:r>
              <a:rPr sz="1050" b="0">
                <a:solidFill>
                  <a:srgbClr val="5C6875"/>
                </a:solidFill>
                <a:latin typeface="Calibri"/>
              </a:rPr>
              <a:t>The ESP32 cannot sniff and transmit at the same time; the uplink blanks capture for a few milliseconds.</a:t>
            </a:r>
          </a:p>
        </p:txBody>
      </p:sp>
      <p:sp>
        <p:nvSpPr>
          <p:cNvPr id="22" name="TextBox 21"/>
          <p:cNvSpPr txBox="1"/>
          <p:nvPr/>
        </p:nvSpPr>
        <p:spPr>
          <a:xfrm>
            <a:off x="6419088" y="4352544"/>
            <a:ext cx="2377440" cy="640080"/>
          </a:xfrm>
          <a:prstGeom prst="rect">
            <a:avLst/>
          </a:prstGeom>
          <a:noFill/>
        </p:spPr>
        <p:txBody>
          <a:bodyPr wrap="square" lIns="0" tIns="0" rIns="0" bIns="0">
            <a:spAutoFit/>
          </a:bodyPr>
          <a:lstStyle/>
          <a:p>
            <a:pPr>
              <a:lnSpc>
                <a:spcPct val="112000"/>
              </a:lnSpc>
            </a:pPr>
            <a:r>
              <a:rPr sz="1050" b="0">
                <a:solidFill>
                  <a:srgbClr val="5C6875"/>
                </a:solidFill>
                <a:latin typeface="Calibri"/>
              </a:rPr>
              <a:t>Frames are missed during every POST, biasing the sample toward quiet periods.</a:t>
            </a:r>
          </a:p>
        </p:txBody>
      </p:sp>
      <p:sp>
        <p:nvSpPr>
          <p:cNvPr id="23" name="TextBox 22"/>
          <p:cNvSpPr txBox="1"/>
          <p:nvPr/>
        </p:nvSpPr>
        <p:spPr>
          <a:xfrm>
            <a:off x="9070848" y="4352544"/>
            <a:ext cx="2551176" cy="640080"/>
          </a:xfrm>
          <a:prstGeom prst="rect">
            <a:avLst/>
          </a:prstGeom>
          <a:noFill/>
        </p:spPr>
        <p:txBody>
          <a:bodyPr wrap="square" lIns="0" tIns="0" rIns="0" bIns="0">
            <a:spAutoFit/>
          </a:bodyPr>
          <a:lstStyle/>
          <a:p>
            <a:pPr>
              <a:lnSpc>
                <a:spcPct val="112000"/>
              </a:lnSpc>
            </a:pPr>
            <a:r>
              <a:rPr sz="1050" b="0">
                <a:solidFill>
                  <a:srgbClr val="5C6875"/>
                </a:solidFill>
                <a:latin typeface="Calibri"/>
              </a:rPr>
              <a:t>Batch the uploads and split the work across cores — core 0 captures, core 1 sends.</a:t>
            </a:r>
          </a:p>
        </p:txBody>
      </p:sp>
      <p:sp>
        <p:nvSpPr>
          <p:cNvPr id="24" name="Rectangle 23"/>
          <p:cNvSpPr/>
          <p:nvPr/>
        </p:nvSpPr>
        <p:spPr>
          <a:xfrm>
            <a:off x="566928" y="5230368"/>
            <a:ext cx="11055096" cy="950976"/>
          </a:xfrm>
          <a:prstGeom prst="rect">
            <a:avLst/>
          </a:prstGeom>
          <a:solidFill>
            <a:srgbClr val="F6E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768096" y="5431536"/>
            <a:ext cx="10652760" cy="548640"/>
          </a:xfrm>
          <a:prstGeom prst="rect">
            <a:avLst/>
          </a:prstGeom>
          <a:noFill/>
        </p:spPr>
        <p:txBody>
          <a:bodyPr wrap="square" lIns="0" tIns="0" rIns="0" bIns="0">
            <a:spAutoFit/>
          </a:bodyPr>
          <a:lstStyle/>
          <a:p>
            <a:pPr>
              <a:lnSpc>
                <a:spcPct val="115000"/>
              </a:lnSpc>
            </a:pPr>
            <a:r>
              <a:rPr sz="1250" b="0">
                <a:solidFill>
                  <a:srgbClr val="5C6875"/>
                </a:solidFill>
                <a:latin typeface="Calibri"/>
              </a:rPr>
              <a:t>Randomisation is the one that bounds the whole approach. It corrupts absolute headcount while leaving relative density — which is the quantity a crowd-safety operator actually watches — largely intact.</a:t>
            </a:r>
          </a:p>
        </p:txBody>
      </p:sp>
      <p:sp>
        <p:nvSpPr>
          <p:cNvPr id="26" name="TextBox 25"/>
          <p:cNvSpPr txBox="1"/>
          <p:nvPr/>
        </p:nvSpPr>
        <p:spPr>
          <a:xfrm>
            <a:off x="10981944" y="6437376"/>
            <a:ext cx="640080" cy="256032"/>
          </a:xfrm>
          <a:prstGeom prst="rect">
            <a:avLst/>
          </a:prstGeom>
          <a:noFill/>
        </p:spPr>
        <p:txBody>
          <a:bodyPr wrap="square" lIns="0" tIns="0" rIns="0" bIns="0">
            <a:spAutoFit/>
          </a:bodyPr>
          <a:lstStyle/>
          <a:p>
            <a:pPr algn="r"/>
            <a:r>
              <a:rPr sz="900" b="0">
                <a:solidFill>
                  <a:srgbClr val="5C6875"/>
                </a:solidFill>
                <a:latin typeface="Arial"/>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5096" cy="237744"/>
          </a:xfrm>
          <a:prstGeom prst="rect">
            <a:avLst/>
          </a:prstGeom>
          <a:noFill/>
        </p:spPr>
        <p:txBody>
          <a:bodyPr wrap="square" lIns="0" tIns="0" rIns="0" bIns="0">
            <a:spAutoFit/>
          </a:bodyPr>
          <a:lstStyle/>
          <a:p>
            <a:r>
              <a:rPr sz="1050" b="1">
                <a:solidFill>
                  <a:srgbClr val="16416E"/>
                </a:solidFill>
                <a:latin typeface="Arial"/>
              </a:rPr>
              <a:t>APPLICATIONS</a:t>
            </a:r>
          </a:p>
        </p:txBody>
      </p:sp>
      <p:sp>
        <p:nvSpPr>
          <p:cNvPr id="3" name="TextBox 2"/>
          <p:cNvSpPr txBox="1"/>
          <p:nvPr/>
        </p:nvSpPr>
        <p:spPr>
          <a:xfrm>
            <a:off x="566928" y="713232"/>
            <a:ext cx="11055096" cy="960120"/>
          </a:xfrm>
          <a:prstGeom prst="rect">
            <a:avLst/>
          </a:prstGeom>
          <a:noFill/>
        </p:spPr>
        <p:txBody>
          <a:bodyPr wrap="square" lIns="0" tIns="0" rIns="0" bIns="0">
            <a:spAutoFit/>
          </a:bodyPr>
          <a:lstStyle/>
          <a:p>
            <a:pPr>
              <a:lnSpc>
                <a:spcPct val="105000"/>
              </a:lnSpc>
            </a:pPr>
            <a:r>
              <a:rPr sz="3000" b="1">
                <a:solidFill>
                  <a:srgbClr val="101823"/>
                </a:solidFill>
                <a:latin typeface="Arial"/>
              </a:rPr>
              <a:t>Where an approximate, camera-free count beats an exact one.</a:t>
            </a:r>
          </a:p>
        </p:txBody>
      </p:sp>
      <p:sp>
        <p:nvSpPr>
          <p:cNvPr id="4" name="Rectangle 3"/>
          <p:cNvSpPr/>
          <p:nvPr/>
        </p:nvSpPr>
        <p:spPr>
          <a:xfrm>
            <a:off x="566928" y="1920240"/>
            <a:ext cx="2560320" cy="2048256"/>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86384" y="2121408"/>
            <a:ext cx="2121408" cy="237744"/>
          </a:xfrm>
          <a:prstGeom prst="rect">
            <a:avLst/>
          </a:prstGeom>
          <a:noFill/>
        </p:spPr>
        <p:txBody>
          <a:bodyPr wrap="square" lIns="0" tIns="0" rIns="0" bIns="0">
            <a:spAutoFit/>
          </a:bodyPr>
          <a:lstStyle/>
          <a:p>
            <a:r>
              <a:rPr sz="1000" b="1">
                <a:solidFill>
                  <a:srgbClr val="16416E"/>
                </a:solidFill>
                <a:latin typeface="Arial"/>
              </a:rPr>
              <a:t>CROWD SAFETY</a:t>
            </a:r>
          </a:p>
        </p:txBody>
      </p:sp>
      <p:sp>
        <p:nvSpPr>
          <p:cNvPr id="6" name="TextBox 5"/>
          <p:cNvSpPr txBox="1"/>
          <p:nvPr/>
        </p:nvSpPr>
        <p:spPr>
          <a:xfrm>
            <a:off x="786384" y="2468880"/>
            <a:ext cx="2121408" cy="1316736"/>
          </a:xfrm>
          <a:prstGeom prst="rect">
            <a:avLst/>
          </a:prstGeom>
          <a:noFill/>
        </p:spPr>
        <p:txBody>
          <a:bodyPr wrap="square" lIns="0" tIns="0" rIns="0" bIns="0">
            <a:spAutoFit/>
          </a:bodyPr>
          <a:lstStyle/>
          <a:p>
            <a:pPr>
              <a:lnSpc>
                <a:spcPct val="115000"/>
              </a:lnSpc>
            </a:pPr>
            <a:r>
              <a:rPr sz="1100" b="0">
                <a:solidFill>
                  <a:srgbClr val="5C6875"/>
                </a:solidFill>
                <a:latin typeface="Calibri"/>
              </a:rPr>
              <a:t>Density at concerts, stations and processions, where the operational question is where pressure is building — not who is standing there.</a:t>
            </a:r>
          </a:p>
        </p:txBody>
      </p:sp>
      <p:sp>
        <p:nvSpPr>
          <p:cNvPr id="7" name="Rectangle 6"/>
          <p:cNvSpPr/>
          <p:nvPr/>
        </p:nvSpPr>
        <p:spPr>
          <a:xfrm>
            <a:off x="3364992" y="1920240"/>
            <a:ext cx="2560320" cy="2048256"/>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3584448" y="2121408"/>
            <a:ext cx="2121408" cy="237744"/>
          </a:xfrm>
          <a:prstGeom prst="rect">
            <a:avLst/>
          </a:prstGeom>
          <a:noFill/>
        </p:spPr>
        <p:txBody>
          <a:bodyPr wrap="square" lIns="0" tIns="0" rIns="0" bIns="0">
            <a:spAutoFit/>
          </a:bodyPr>
          <a:lstStyle/>
          <a:p>
            <a:r>
              <a:rPr sz="1000" b="1">
                <a:solidFill>
                  <a:srgbClr val="16416E"/>
                </a:solidFill>
                <a:latin typeface="Arial"/>
              </a:rPr>
              <a:t>DISASTER RESPONSE</a:t>
            </a:r>
          </a:p>
        </p:txBody>
      </p:sp>
      <p:sp>
        <p:nvSpPr>
          <p:cNvPr id="9" name="TextBox 8"/>
          <p:cNvSpPr txBox="1"/>
          <p:nvPr/>
        </p:nvSpPr>
        <p:spPr>
          <a:xfrm>
            <a:off x="3584448" y="2468880"/>
            <a:ext cx="2121408" cy="1316736"/>
          </a:xfrm>
          <a:prstGeom prst="rect">
            <a:avLst/>
          </a:prstGeom>
          <a:noFill/>
        </p:spPr>
        <p:txBody>
          <a:bodyPr wrap="square" lIns="0" tIns="0" rIns="0" bIns="0">
            <a:spAutoFit/>
          </a:bodyPr>
          <a:lstStyle/>
          <a:p>
            <a:pPr>
              <a:lnSpc>
                <a:spcPct val="115000"/>
              </a:lnSpc>
            </a:pPr>
            <a:r>
              <a:rPr sz="1100" b="0">
                <a:solidFill>
                  <a:srgbClr val="5C6875"/>
                </a:solidFill>
                <a:latin typeface="Calibri"/>
              </a:rPr>
              <a:t>Sweeping a collapsed structure from a UAV for devices still transmitting, in conditions where optical search returns nothing.</a:t>
            </a:r>
          </a:p>
        </p:txBody>
      </p:sp>
      <p:sp>
        <p:nvSpPr>
          <p:cNvPr id="10" name="Rectangle 9"/>
          <p:cNvSpPr/>
          <p:nvPr/>
        </p:nvSpPr>
        <p:spPr>
          <a:xfrm>
            <a:off x="6163056" y="1920240"/>
            <a:ext cx="2560320" cy="2048256"/>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6382512" y="2121408"/>
            <a:ext cx="2121408" cy="237744"/>
          </a:xfrm>
          <a:prstGeom prst="rect">
            <a:avLst/>
          </a:prstGeom>
          <a:noFill/>
        </p:spPr>
        <p:txBody>
          <a:bodyPr wrap="square" lIns="0" tIns="0" rIns="0" bIns="0">
            <a:spAutoFit/>
          </a:bodyPr>
          <a:lstStyle/>
          <a:p>
            <a:r>
              <a:rPr sz="1000" b="1">
                <a:solidFill>
                  <a:srgbClr val="16416E"/>
                </a:solidFill>
                <a:latin typeface="Arial"/>
              </a:rPr>
              <a:t>URBAN ANALYTICS</a:t>
            </a:r>
          </a:p>
        </p:txBody>
      </p:sp>
      <p:sp>
        <p:nvSpPr>
          <p:cNvPr id="12" name="TextBox 11"/>
          <p:cNvSpPr txBox="1"/>
          <p:nvPr/>
        </p:nvSpPr>
        <p:spPr>
          <a:xfrm>
            <a:off x="6382512" y="2468880"/>
            <a:ext cx="2121408" cy="1316736"/>
          </a:xfrm>
          <a:prstGeom prst="rect">
            <a:avLst/>
          </a:prstGeom>
          <a:noFill/>
        </p:spPr>
        <p:txBody>
          <a:bodyPr wrap="square" lIns="0" tIns="0" rIns="0" bIns="0">
            <a:spAutoFit/>
          </a:bodyPr>
          <a:lstStyle/>
          <a:p>
            <a:pPr>
              <a:lnSpc>
                <a:spcPct val="115000"/>
              </a:lnSpc>
            </a:pPr>
            <a:r>
              <a:rPr sz="1100" b="0">
                <a:solidFill>
                  <a:srgbClr val="5C6875"/>
                </a:solidFill>
                <a:latin typeface="Calibri"/>
              </a:rPr>
              <a:t>Pedestrian flow measured over weeks, so infrastructure is sized against observed demand instead of survey estimates.</a:t>
            </a:r>
          </a:p>
        </p:txBody>
      </p:sp>
      <p:sp>
        <p:nvSpPr>
          <p:cNvPr id="13" name="Rectangle 12"/>
          <p:cNvSpPr/>
          <p:nvPr/>
        </p:nvSpPr>
        <p:spPr>
          <a:xfrm>
            <a:off x="8961119" y="1920240"/>
            <a:ext cx="2560320" cy="2048256"/>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9180576" y="2121408"/>
            <a:ext cx="2121408" cy="237744"/>
          </a:xfrm>
          <a:prstGeom prst="rect">
            <a:avLst/>
          </a:prstGeom>
          <a:noFill/>
        </p:spPr>
        <p:txBody>
          <a:bodyPr wrap="square" lIns="0" tIns="0" rIns="0" bIns="0">
            <a:spAutoFit/>
          </a:bodyPr>
          <a:lstStyle/>
          <a:p>
            <a:r>
              <a:rPr sz="1000" b="1">
                <a:solidFill>
                  <a:srgbClr val="16416E"/>
                </a:solidFill>
                <a:latin typeface="Arial"/>
              </a:rPr>
              <a:t>VENUE OPERATIONS</a:t>
            </a:r>
          </a:p>
        </p:txBody>
      </p:sp>
      <p:sp>
        <p:nvSpPr>
          <p:cNvPr id="15" name="TextBox 14"/>
          <p:cNvSpPr txBox="1"/>
          <p:nvPr/>
        </p:nvSpPr>
        <p:spPr>
          <a:xfrm>
            <a:off x="9180576" y="2468880"/>
            <a:ext cx="2121408" cy="1316736"/>
          </a:xfrm>
          <a:prstGeom prst="rect">
            <a:avLst/>
          </a:prstGeom>
          <a:noFill/>
        </p:spPr>
        <p:txBody>
          <a:bodyPr wrap="square" lIns="0" tIns="0" rIns="0" bIns="0">
            <a:spAutoFit/>
          </a:bodyPr>
          <a:lstStyle/>
          <a:p>
            <a:pPr>
              <a:lnSpc>
                <a:spcPct val="115000"/>
              </a:lnSpc>
            </a:pPr>
            <a:r>
              <a:rPr sz="1100" b="0">
                <a:solidFill>
                  <a:srgbClr val="5C6875"/>
                </a:solidFill>
                <a:latin typeface="Calibri"/>
              </a:rPr>
              <a:t>Queue length and bottleneck detection inside a controlled space whose floor plan is already known.</a:t>
            </a:r>
          </a:p>
        </p:txBody>
      </p:sp>
      <p:sp>
        <p:nvSpPr>
          <p:cNvPr id="16" name="TextBox 15"/>
          <p:cNvSpPr txBox="1"/>
          <p:nvPr/>
        </p:nvSpPr>
        <p:spPr>
          <a:xfrm>
            <a:off x="566928" y="4261104"/>
            <a:ext cx="7315200" cy="219456"/>
          </a:xfrm>
          <a:prstGeom prst="rect">
            <a:avLst/>
          </a:prstGeom>
          <a:noFill/>
        </p:spPr>
        <p:txBody>
          <a:bodyPr wrap="square" lIns="0" tIns="0" rIns="0" bIns="0">
            <a:spAutoFit/>
          </a:bodyPr>
          <a:lstStyle/>
          <a:p>
            <a:r>
              <a:rPr sz="1000" b="1">
                <a:solidFill>
                  <a:srgbClr val="5C6875"/>
                </a:solidFill>
                <a:latin typeface="Arial"/>
              </a:rPr>
              <a:t>WHY THIS STACK, AND NOT A CAMERA</a:t>
            </a:r>
          </a:p>
        </p:txBody>
      </p:sp>
      <p:sp>
        <p:nvSpPr>
          <p:cNvPr id="17" name="Rectangle 16"/>
          <p:cNvSpPr/>
          <p:nvPr/>
        </p:nvSpPr>
        <p:spPr>
          <a:xfrm>
            <a:off x="566928" y="4553712"/>
            <a:ext cx="2057400" cy="310896"/>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566928" y="4626864"/>
            <a:ext cx="2057400" cy="219456"/>
          </a:xfrm>
          <a:prstGeom prst="rect">
            <a:avLst/>
          </a:prstGeom>
          <a:noFill/>
        </p:spPr>
        <p:txBody>
          <a:bodyPr wrap="square" lIns="0" tIns="0" rIns="0" bIns="0">
            <a:spAutoFit/>
          </a:bodyPr>
          <a:lstStyle/>
          <a:p>
            <a:pPr algn="ctr"/>
            <a:r>
              <a:rPr sz="1000" b="0">
                <a:solidFill>
                  <a:srgbClr val="101823"/>
                </a:solidFill>
                <a:latin typeface="Consolas"/>
              </a:rPr>
              <a:t>~₹2,000 total</a:t>
            </a:r>
          </a:p>
        </p:txBody>
      </p:sp>
      <p:sp>
        <p:nvSpPr>
          <p:cNvPr id="19" name="Rectangle 18"/>
          <p:cNvSpPr/>
          <p:nvPr/>
        </p:nvSpPr>
        <p:spPr>
          <a:xfrm>
            <a:off x="2816352" y="4553712"/>
            <a:ext cx="2057400" cy="310896"/>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2816352" y="4626864"/>
            <a:ext cx="2057400" cy="219456"/>
          </a:xfrm>
          <a:prstGeom prst="rect">
            <a:avLst/>
          </a:prstGeom>
          <a:noFill/>
        </p:spPr>
        <p:txBody>
          <a:bodyPr wrap="square" lIns="0" tIns="0" rIns="0" bIns="0">
            <a:spAutoFit/>
          </a:bodyPr>
          <a:lstStyle/>
          <a:p>
            <a:pPr algn="ctr"/>
            <a:r>
              <a:rPr sz="1000" b="0">
                <a:solidFill>
                  <a:srgbClr val="101823"/>
                </a:solidFill>
                <a:latin typeface="Consolas"/>
              </a:rPr>
              <a:t>&lt; 200 g airborne</a:t>
            </a:r>
          </a:p>
        </p:txBody>
      </p:sp>
      <p:sp>
        <p:nvSpPr>
          <p:cNvPr id="21" name="Rectangle 20"/>
          <p:cNvSpPr/>
          <p:nvPr/>
        </p:nvSpPr>
        <p:spPr>
          <a:xfrm>
            <a:off x="5065776" y="4553712"/>
            <a:ext cx="2057400" cy="310896"/>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5065776" y="4626864"/>
            <a:ext cx="2057400" cy="219456"/>
          </a:xfrm>
          <a:prstGeom prst="rect">
            <a:avLst/>
          </a:prstGeom>
          <a:noFill/>
        </p:spPr>
        <p:txBody>
          <a:bodyPr wrap="square" lIns="0" tIns="0" rIns="0" bIns="0">
            <a:spAutoFit/>
          </a:bodyPr>
          <a:lstStyle/>
          <a:p>
            <a:pPr algn="ctr"/>
            <a:r>
              <a:rPr sz="1000" b="0">
                <a:solidFill>
                  <a:srgbClr val="101823"/>
                </a:solidFill>
                <a:latin typeface="Consolas"/>
              </a:rPr>
              <a:t>works in darkness</a:t>
            </a:r>
          </a:p>
        </p:txBody>
      </p:sp>
      <p:sp>
        <p:nvSpPr>
          <p:cNvPr id="23" name="Rectangle 22"/>
          <p:cNvSpPr/>
          <p:nvPr/>
        </p:nvSpPr>
        <p:spPr>
          <a:xfrm>
            <a:off x="7315200" y="4553712"/>
            <a:ext cx="2057400" cy="310896"/>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7315200" y="4626864"/>
            <a:ext cx="2057400" cy="219456"/>
          </a:xfrm>
          <a:prstGeom prst="rect">
            <a:avLst/>
          </a:prstGeom>
          <a:noFill/>
        </p:spPr>
        <p:txBody>
          <a:bodyPr wrap="square" lIns="0" tIns="0" rIns="0" bIns="0">
            <a:spAutoFit/>
          </a:bodyPr>
          <a:lstStyle/>
          <a:p>
            <a:pPr algn="ctr"/>
            <a:r>
              <a:rPr sz="1000" b="0">
                <a:solidFill>
                  <a:srgbClr val="101823"/>
                </a:solidFill>
                <a:latin typeface="Consolas"/>
              </a:rPr>
              <a:t>emits nothing</a:t>
            </a:r>
          </a:p>
        </p:txBody>
      </p:sp>
      <p:sp>
        <p:nvSpPr>
          <p:cNvPr id="25" name="Rectangle 24"/>
          <p:cNvSpPr/>
          <p:nvPr/>
        </p:nvSpPr>
        <p:spPr>
          <a:xfrm>
            <a:off x="9564624" y="4553712"/>
            <a:ext cx="2057400" cy="310896"/>
          </a:xfrm>
          <a:prstGeom prst="rect">
            <a:avLst/>
          </a:prstGeom>
          <a:solidFill>
            <a:srgbClr val="F6E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9564624" y="4626864"/>
            <a:ext cx="2057400" cy="219456"/>
          </a:xfrm>
          <a:prstGeom prst="rect">
            <a:avLst/>
          </a:prstGeom>
          <a:noFill/>
        </p:spPr>
        <p:txBody>
          <a:bodyPr wrap="square" lIns="0" tIns="0" rIns="0" bIns="0">
            <a:spAutoFit/>
          </a:bodyPr>
          <a:lstStyle/>
          <a:p>
            <a:pPr algn="ctr"/>
            <a:r>
              <a:rPr sz="1000" b="1">
                <a:solidFill>
                  <a:srgbClr val="B14A20"/>
                </a:solidFill>
                <a:latin typeface="Consolas"/>
              </a:rPr>
              <a:t>no image retained</a:t>
            </a:r>
          </a:p>
        </p:txBody>
      </p:sp>
      <p:sp>
        <p:nvSpPr>
          <p:cNvPr id="27" name="Rectangle 26"/>
          <p:cNvSpPr/>
          <p:nvPr/>
        </p:nvSpPr>
        <p:spPr>
          <a:xfrm>
            <a:off x="566928" y="5175504"/>
            <a:ext cx="11055096" cy="932688"/>
          </a:xfrm>
          <a:prstGeom prst="rect">
            <a:avLst/>
          </a:prstGeom>
          <a:solidFill>
            <a:srgbClr val="F6E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768096" y="5376672"/>
            <a:ext cx="10652760" cy="530352"/>
          </a:xfrm>
          <a:prstGeom prst="rect">
            <a:avLst/>
          </a:prstGeom>
          <a:noFill/>
        </p:spPr>
        <p:txBody>
          <a:bodyPr wrap="square" lIns="0" tIns="0" rIns="0" bIns="0">
            <a:spAutoFit/>
          </a:bodyPr>
          <a:lstStyle/>
          <a:p>
            <a:pPr>
              <a:lnSpc>
                <a:spcPct val="115000"/>
              </a:lnSpc>
            </a:pPr>
            <a:r>
              <a:rPr sz="1250" b="0">
                <a:solidFill>
                  <a:srgbClr val="5C6875"/>
                </a:solidFill>
                <a:latin typeface="Calibri"/>
              </a:rPr>
              <a:t>The trade is deliberate. This system will never tell you that forty-one people are present — it tells you that the north-east corner is three times denser than it was ten minutes ago, which is the number that actually triggers a decision.</a:t>
            </a:r>
          </a:p>
        </p:txBody>
      </p:sp>
      <p:sp>
        <p:nvSpPr>
          <p:cNvPr id="29" name="TextBox 28"/>
          <p:cNvSpPr txBox="1"/>
          <p:nvPr/>
        </p:nvSpPr>
        <p:spPr>
          <a:xfrm>
            <a:off x="10981944" y="6437376"/>
            <a:ext cx="640080" cy="256032"/>
          </a:xfrm>
          <a:prstGeom prst="rect">
            <a:avLst/>
          </a:prstGeom>
          <a:noFill/>
        </p:spPr>
        <p:txBody>
          <a:bodyPr wrap="square" lIns="0" tIns="0" rIns="0" bIns="0">
            <a:spAutoFit/>
          </a:bodyPr>
          <a:lstStyle/>
          <a:p>
            <a:pPr algn="r"/>
            <a:r>
              <a:rPr sz="900" b="0">
                <a:solidFill>
                  <a:srgbClr val="5C6875"/>
                </a:solidFill>
                <a:latin typeface="Arial"/>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84048"/>
            <a:ext cx="11055096" cy="237744"/>
          </a:xfrm>
          <a:prstGeom prst="rect">
            <a:avLst/>
          </a:prstGeom>
          <a:noFill/>
        </p:spPr>
        <p:txBody>
          <a:bodyPr wrap="square" lIns="0" tIns="0" rIns="0" bIns="0">
            <a:spAutoFit/>
          </a:bodyPr>
          <a:lstStyle/>
          <a:p>
            <a:r>
              <a:rPr sz="1050" b="1">
                <a:solidFill>
                  <a:srgbClr val="16416E"/>
                </a:solidFill>
                <a:latin typeface="Arial"/>
              </a:rPr>
              <a:t>FINAL REVIEW  —  CLOSING</a:t>
            </a:r>
          </a:p>
        </p:txBody>
      </p:sp>
      <p:sp>
        <p:nvSpPr>
          <p:cNvPr id="3" name="TextBox 2"/>
          <p:cNvSpPr txBox="1"/>
          <p:nvPr/>
        </p:nvSpPr>
        <p:spPr>
          <a:xfrm>
            <a:off x="566928" y="713232"/>
            <a:ext cx="11055096" cy="868680"/>
          </a:xfrm>
          <a:prstGeom prst="rect">
            <a:avLst/>
          </a:prstGeom>
          <a:noFill/>
        </p:spPr>
        <p:txBody>
          <a:bodyPr wrap="square" lIns="0" tIns="0" rIns="0" bIns="0">
            <a:spAutoFit/>
          </a:bodyPr>
          <a:lstStyle/>
          <a:p>
            <a:pPr>
              <a:lnSpc>
                <a:spcPct val="105000"/>
              </a:lnSpc>
            </a:pPr>
            <a:r>
              <a:rPr sz="3200" b="1">
                <a:solidFill>
                  <a:srgbClr val="101823"/>
                </a:solidFill>
                <a:latin typeface="Arial"/>
              </a:rPr>
              <a:t>What is built, and what a deployment needs next.</a:t>
            </a:r>
          </a:p>
        </p:txBody>
      </p:sp>
      <p:sp>
        <p:nvSpPr>
          <p:cNvPr id="4" name="TextBox 3"/>
          <p:cNvSpPr txBox="1"/>
          <p:nvPr/>
        </p:nvSpPr>
        <p:spPr>
          <a:xfrm>
            <a:off x="566928" y="1700784"/>
            <a:ext cx="5394960" cy="219456"/>
          </a:xfrm>
          <a:prstGeom prst="rect">
            <a:avLst/>
          </a:prstGeom>
          <a:noFill/>
        </p:spPr>
        <p:txBody>
          <a:bodyPr wrap="square" lIns="0" tIns="0" rIns="0" bIns="0">
            <a:spAutoFit/>
          </a:bodyPr>
          <a:lstStyle/>
          <a:p>
            <a:r>
              <a:rPr sz="1000" b="1">
                <a:solidFill>
                  <a:srgbClr val="16416E"/>
                </a:solidFill>
                <a:latin typeface="Arial"/>
              </a:rPr>
              <a:t>BUILT AND RUNNING</a:t>
            </a:r>
          </a:p>
        </p:txBody>
      </p:sp>
      <p:sp>
        <p:nvSpPr>
          <p:cNvPr id="5" name="Rectangle 4"/>
          <p:cNvSpPr/>
          <p:nvPr/>
        </p:nvSpPr>
        <p:spPr>
          <a:xfrm>
            <a:off x="566928" y="1993392"/>
            <a:ext cx="5394960" cy="239572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786384" y="2194560"/>
            <a:ext cx="256032" cy="237744"/>
          </a:xfrm>
          <a:prstGeom prst="rect">
            <a:avLst/>
          </a:prstGeom>
          <a:noFill/>
        </p:spPr>
        <p:txBody>
          <a:bodyPr wrap="square" lIns="0" tIns="0" rIns="0" bIns="0">
            <a:spAutoFit/>
          </a:bodyPr>
          <a:lstStyle/>
          <a:p>
            <a:r>
              <a:rPr sz="1200" b="1">
                <a:solidFill>
                  <a:srgbClr val="16416E"/>
                </a:solidFill>
                <a:latin typeface="Calibri"/>
              </a:rPr>
              <a:t>—</a:t>
            </a:r>
          </a:p>
        </p:txBody>
      </p:sp>
      <p:sp>
        <p:nvSpPr>
          <p:cNvPr id="7" name="TextBox 6"/>
          <p:cNvSpPr txBox="1"/>
          <p:nvPr/>
        </p:nvSpPr>
        <p:spPr>
          <a:xfrm>
            <a:off x="1097280" y="2194560"/>
            <a:ext cx="4626864" cy="457200"/>
          </a:xfrm>
          <a:prstGeom prst="rect">
            <a:avLst/>
          </a:prstGeom>
          <a:noFill/>
        </p:spPr>
        <p:txBody>
          <a:bodyPr wrap="square" lIns="0" tIns="0" rIns="0" bIns="0">
            <a:spAutoFit/>
          </a:bodyPr>
          <a:lstStyle/>
          <a:p>
            <a:pPr>
              <a:lnSpc>
                <a:spcPct val="112000"/>
              </a:lnSpc>
            </a:pPr>
            <a:r>
              <a:rPr sz="1200" b="0">
                <a:solidFill>
                  <a:srgbClr val="5C6875"/>
                </a:solidFill>
                <a:latin typeface="Calibri"/>
              </a:rPr>
              <a:t>Three-node ESP32 firmware streaming each frame's source MAC and RSSI</a:t>
            </a:r>
          </a:p>
        </p:txBody>
      </p:sp>
      <p:sp>
        <p:nvSpPr>
          <p:cNvPr id="8" name="TextBox 7"/>
          <p:cNvSpPr txBox="1"/>
          <p:nvPr/>
        </p:nvSpPr>
        <p:spPr>
          <a:xfrm>
            <a:off x="786384" y="2724912"/>
            <a:ext cx="256032" cy="237744"/>
          </a:xfrm>
          <a:prstGeom prst="rect">
            <a:avLst/>
          </a:prstGeom>
          <a:noFill/>
        </p:spPr>
        <p:txBody>
          <a:bodyPr wrap="square" lIns="0" tIns="0" rIns="0" bIns="0">
            <a:spAutoFit/>
          </a:bodyPr>
          <a:lstStyle/>
          <a:p>
            <a:r>
              <a:rPr sz="1200" b="1">
                <a:solidFill>
                  <a:srgbClr val="16416E"/>
                </a:solidFill>
                <a:latin typeface="Calibri"/>
              </a:rPr>
              <a:t>—</a:t>
            </a:r>
          </a:p>
        </p:txBody>
      </p:sp>
      <p:sp>
        <p:nvSpPr>
          <p:cNvPr id="9" name="TextBox 8"/>
          <p:cNvSpPr txBox="1"/>
          <p:nvPr/>
        </p:nvSpPr>
        <p:spPr>
          <a:xfrm>
            <a:off x="1097280" y="2724912"/>
            <a:ext cx="4626864" cy="457200"/>
          </a:xfrm>
          <a:prstGeom prst="rect">
            <a:avLst/>
          </a:prstGeom>
          <a:noFill/>
        </p:spPr>
        <p:txBody>
          <a:bodyPr wrap="square" lIns="0" tIns="0" rIns="0" bIns="0">
            <a:spAutoFit/>
          </a:bodyPr>
          <a:lstStyle/>
          <a:p>
            <a:pPr>
              <a:lnSpc>
                <a:spcPct val="112000"/>
              </a:lnSpc>
            </a:pPr>
            <a:r>
              <a:rPr sz="1200" b="0">
                <a:solidFill>
                  <a:srgbClr val="5C6875"/>
                </a:solidFill>
                <a:latin typeface="Calibri"/>
              </a:rPr>
              <a:t>Backend with 5-frame RSSI smoothing and a 60 s staleness window</a:t>
            </a:r>
          </a:p>
        </p:txBody>
      </p:sp>
      <p:sp>
        <p:nvSpPr>
          <p:cNvPr id="10" name="TextBox 9"/>
          <p:cNvSpPr txBox="1"/>
          <p:nvPr/>
        </p:nvSpPr>
        <p:spPr>
          <a:xfrm>
            <a:off x="786384" y="3255263"/>
            <a:ext cx="256032" cy="237744"/>
          </a:xfrm>
          <a:prstGeom prst="rect">
            <a:avLst/>
          </a:prstGeom>
          <a:noFill/>
        </p:spPr>
        <p:txBody>
          <a:bodyPr wrap="square" lIns="0" tIns="0" rIns="0" bIns="0">
            <a:spAutoFit/>
          </a:bodyPr>
          <a:lstStyle/>
          <a:p>
            <a:r>
              <a:rPr sz="1200" b="1">
                <a:solidFill>
                  <a:srgbClr val="16416E"/>
                </a:solidFill>
                <a:latin typeface="Calibri"/>
              </a:rPr>
              <a:t>—</a:t>
            </a:r>
          </a:p>
        </p:txBody>
      </p:sp>
      <p:sp>
        <p:nvSpPr>
          <p:cNvPr id="11" name="TextBox 10"/>
          <p:cNvSpPr txBox="1"/>
          <p:nvPr/>
        </p:nvSpPr>
        <p:spPr>
          <a:xfrm>
            <a:off x="1097280" y="3255263"/>
            <a:ext cx="4626864" cy="457200"/>
          </a:xfrm>
          <a:prstGeom prst="rect">
            <a:avLst/>
          </a:prstGeom>
          <a:noFill/>
        </p:spPr>
        <p:txBody>
          <a:bodyPr wrap="square" lIns="0" tIns="0" rIns="0" bIns="0">
            <a:spAutoFit/>
          </a:bodyPr>
          <a:lstStyle/>
          <a:p>
            <a:pPr>
              <a:lnSpc>
                <a:spcPct val="112000"/>
              </a:lnSpc>
            </a:pPr>
            <a:r>
              <a:rPr sz="1200" b="0">
                <a:solidFill>
                  <a:srgbClr val="5C6875"/>
                </a:solidFill>
                <a:latin typeface="Calibri"/>
              </a:rPr>
              <a:t>Weighted least-squares trilateration returning (x, y) in metres</a:t>
            </a:r>
          </a:p>
        </p:txBody>
      </p:sp>
      <p:sp>
        <p:nvSpPr>
          <p:cNvPr id="12" name="TextBox 11"/>
          <p:cNvSpPr txBox="1"/>
          <p:nvPr/>
        </p:nvSpPr>
        <p:spPr>
          <a:xfrm>
            <a:off x="786384" y="3785615"/>
            <a:ext cx="256032" cy="237744"/>
          </a:xfrm>
          <a:prstGeom prst="rect">
            <a:avLst/>
          </a:prstGeom>
          <a:noFill/>
        </p:spPr>
        <p:txBody>
          <a:bodyPr wrap="square" lIns="0" tIns="0" rIns="0" bIns="0">
            <a:spAutoFit/>
          </a:bodyPr>
          <a:lstStyle/>
          <a:p>
            <a:r>
              <a:rPr sz="1200" b="1">
                <a:solidFill>
                  <a:srgbClr val="16416E"/>
                </a:solidFill>
                <a:latin typeface="Calibri"/>
              </a:rPr>
              <a:t>—</a:t>
            </a:r>
          </a:p>
        </p:txBody>
      </p:sp>
      <p:sp>
        <p:nvSpPr>
          <p:cNvPr id="13" name="TextBox 12"/>
          <p:cNvSpPr txBox="1"/>
          <p:nvPr/>
        </p:nvSpPr>
        <p:spPr>
          <a:xfrm>
            <a:off x="1097280" y="3785615"/>
            <a:ext cx="4626864" cy="457200"/>
          </a:xfrm>
          <a:prstGeom prst="rect">
            <a:avLst/>
          </a:prstGeom>
          <a:noFill/>
        </p:spPr>
        <p:txBody>
          <a:bodyPr wrap="square" lIns="0" tIns="0" rIns="0" bIns="0">
            <a:spAutoFit/>
          </a:bodyPr>
          <a:lstStyle/>
          <a:p>
            <a:pPr>
              <a:lnSpc>
                <a:spcPct val="112000"/>
              </a:lnSpc>
            </a:pPr>
            <a:r>
              <a:rPr sz="1200" b="0">
                <a:solidFill>
                  <a:srgbClr val="5C6875"/>
                </a:solidFill>
                <a:latin typeface="Calibri"/>
              </a:rPr>
              <a:t>Live dashboard, plus a full simulation of the three-UAV deployment</a:t>
            </a:r>
          </a:p>
        </p:txBody>
      </p:sp>
      <p:sp>
        <p:nvSpPr>
          <p:cNvPr id="14" name="TextBox 13"/>
          <p:cNvSpPr txBox="1"/>
          <p:nvPr/>
        </p:nvSpPr>
        <p:spPr>
          <a:xfrm>
            <a:off x="6227064" y="1700784"/>
            <a:ext cx="5394960" cy="219456"/>
          </a:xfrm>
          <a:prstGeom prst="rect">
            <a:avLst/>
          </a:prstGeom>
          <a:noFill/>
        </p:spPr>
        <p:txBody>
          <a:bodyPr wrap="square" lIns="0" tIns="0" rIns="0" bIns="0">
            <a:spAutoFit/>
          </a:bodyPr>
          <a:lstStyle/>
          <a:p>
            <a:r>
              <a:rPr sz="1000" b="1">
                <a:solidFill>
                  <a:srgbClr val="B14A20"/>
                </a:solidFill>
                <a:latin typeface="Arial"/>
              </a:rPr>
              <a:t>NEXT, FOR A FIELD DEPLOYMENT</a:t>
            </a:r>
          </a:p>
        </p:txBody>
      </p:sp>
      <p:sp>
        <p:nvSpPr>
          <p:cNvPr id="15" name="Rectangle 14"/>
          <p:cNvSpPr/>
          <p:nvPr/>
        </p:nvSpPr>
        <p:spPr>
          <a:xfrm>
            <a:off x="6227064" y="1993392"/>
            <a:ext cx="5394960" cy="239572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446520" y="2194560"/>
            <a:ext cx="256032" cy="237744"/>
          </a:xfrm>
          <a:prstGeom prst="rect">
            <a:avLst/>
          </a:prstGeom>
          <a:noFill/>
        </p:spPr>
        <p:txBody>
          <a:bodyPr wrap="square" lIns="0" tIns="0" rIns="0" bIns="0">
            <a:spAutoFit/>
          </a:bodyPr>
          <a:lstStyle/>
          <a:p>
            <a:r>
              <a:rPr sz="1200" b="1">
                <a:solidFill>
                  <a:srgbClr val="B14A20"/>
                </a:solidFill>
                <a:latin typeface="Calibri"/>
              </a:rPr>
              <a:t>—</a:t>
            </a:r>
          </a:p>
        </p:txBody>
      </p:sp>
      <p:sp>
        <p:nvSpPr>
          <p:cNvPr id="17" name="TextBox 16"/>
          <p:cNvSpPr txBox="1"/>
          <p:nvPr/>
        </p:nvSpPr>
        <p:spPr>
          <a:xfrm>
            <a:off x="6757416" y="2194560"/>
            <a:ext cx="4626864" cy="457200"/>
          </a:xfrm>
          <a:prstGeom prst="rect">
            <a:avLst/>
          </a:prstGeom>
          <a:noFill/>
        </p:spPr>
        <p:txBody>
          <a:bodyPr wrap="square" lIns="0" tIns="0" rIns="0" bIns="0">
            <a:spAutoFit/>
          </a:bodyPr>
          <a:lstStyle/>
          <a:p>
            <a:pPr>
              <a:lnSpc>
                <a:spcPct val="112000"/>
              </a:lnSpc>
            </a:pPr>
            <a:r>
              <a:rPr sz="1200" b="0">
                <a:solidFill>
                  <a:srgbClr val="5C6875"/>
                </a:solidFill>
                <a:latin typeface="Calibri"/>
              </a:rPr>
              <a:t>On-site calibration of RSSI₀ and n, with measured error bars</a:t>
            </a:r>
          </a:p>
        </p:txBody>
      </p:sp>
      <p:sp>
        <p:nvSpPr>
          <p:cNvPr id="18" name="TextBox 17"/>
          <p:cNvSpPr txBox="1"/>
          <p:nvPr/>
        </p:nvSpPr>
        <p:spPr>
          <a:xfrm>
            <a:off x="6446520" y="2724912"/>
            <a:ext cx="256032" cy="237744"/>
          </a:xfrm>
          <a:prstGeom prst="rect">
            <a:avLst/>
          </a:prstGeom>
          <a:noFill/>
        </p:spPr>
        <p:txBody>
          <a:bodyPr wrap="square" lIns="0" tIns="0" rIns="0" bIns="0">
            <a:spAutoFit/>
          </a:bodyPr>
          <a:lstStyle/>
          <a:p>
            <a:r>
              <a:rPr sz="1200" b="1">
                <a:solidFill>
                  <a:srgbClr val="B14A20"/>
                </a:solidFill>
                <a:latin typeface="Calibri"/>
              </a:rPr>
              <a:t>—</a:t>
            </a:r>
          </a:p>
        </p:txBody>
      </p:sp>
      <p:sp>
        <p:nvSpPr>
          <p:cNvPr id="19" name="TextBox 18"/>
          <p:cNvSpPr txBox="1"/>
          <p:nvPr/>
        </p:nvSpPr>
        <p:spPr>
          <a:xfrm>
            <a:off x="6757416" y="2724912"/>
            <a:ext cx="4626864" cy="457200"/>
          </a:xfrm>
          <a:prstGeom prst="rect">
            <a:avLst/>
          </a:prstGeom>
          <a:noFill/>
        </p:spPr>
        <p:txBody>
          <a:bodyPr wrap="square" lIns="0" tIns="0" rIns="0" bIns="0">
            <a:spAutoFit/>
          </a:bodyPr>
          <a:lstStyle/>
          <a:p>
            <a:pPr>
              <a:lnSpc>
                <a:spcPct val="112000"/>
              </a:lnSpc>
            </a:pPr>
            <a:r>
              <a:rPr sz="1200" b="0">
                <a:solidFill>
                  <a:srgbClr val="5C6875"/>
                </a:solidFill>
                <a:latin typeface="Calibri"/>
              </a:rPr>
              <a:t>Kalman filtering, and clustering to survive MAC randomisation</a:t>
            </a:r>
          </a:p>
        </p:txBody>
      </p:sp>
      <p:sp>
        <p:nvSpPr>
          <p:cNvPr id="20" name="TextBox 19"/>
          <p:cNvSpPr txBox="1"/>
          <p:nvPr/>
        </p:nvSpPr>
        <p:spPr>
          <a:xfrm>
            <a:off x="6446520" y="3255263"/>
            <a:ext cx="256032" cy="237744"/>
          </a:xfrm>
          <a:prstGeom prst="rect">
            <a:avLst/>
          </a:prstGeom>
          <a:noFill/>
        </p:spPr>
        <p:txBody>
          <a:bodyPr wrap="square" lIns="0" tIns="0" rIns="0" bIns="0">
            <a:spAutoFit/>
          </a:bodyPr>
          <a:lstStyle/>
          <a:p>
            <a:r>
              <a:rPr sz="1200" b="1">
                <a:solidFill>
                  <a:srgbClr val="B14A20"/>
                </a:solidFill>
                <a:latin typeface="Calibri"/>
              </a:rPr>
              <a:t>—</a:t>
            </a:r>
          </a:p>
        </p:txBody>
      </p:sp>
      <p:sp>
        <p:nvSpPr>
          <p:cNvPr id="21" name="TextBox 20"/>
          <p:cNvSpPr txBox="1"/>
          <p:nvPr/>
        </p:nvSpPr>
        <p:spPr>
          <a:xfrm>
            <a:off x="6757416" y="3255263"/>
            <a:ext cx="4626864" cy="457200"/>
          </a:xfrm>
          <a:prstGeom prst="rect">
            <a:avLst/>
          </a:prstGeom>
          <a:noFill/>
        </p:spPr>
        <p:txBody>
          <a:bodyPr wrap="square" lIns="0" tIns="0" rIns="0" bIns="0">
            <a:spAutoFit/>
          </a:bodyPr>
          <a:lstStyle/>
          <a:p>
            <a:pPr>
              <a:lnSpc>
                <a:spcPct val="112000"/>
              </a:lnSpc>
            </a:pPr>
            <a:r>
              <a:rPr sz="1200" b="0">
                <a:solidFill>
                  <a:srgbClr val="5C6875"/>
                </a:solidFill>
                <a:latin typeface="Calibri"/>
              </a:rPr>
              <a:t>Field accuracy benchmark against surveyed ground-truth positions</a:t>
            </a:r>
          </a:p>
        </p:txBody>
      </p:sp>
      <p:sp>
        <p:nvSpPr>
          <p:cNvPr id="22" name="TextBox 21"/>
          <p:cNvSpPr txBox="1"/>
          <p:nvPr/>
        </p:nvSpPr>
        <p:spPr>
          <a:xfrm>
            <a:off x="6446520" y="3785615"/>
            <a:ext cx="256032" cy="237744"/>
          </a:xfrm>
          <a:prstGeom prst="rect">
            <a:avLst/>
          </a:prstGeom>
          <a:noFill/>
        </p:spPr>
        <p:txBody>
          <a:bodyPr wrap="square" lIns="0" tIns="0" rIns="0" bIns="0">
            <a:spAutoFit/>
          </a:bodyPr>
          <a:lstStyle/>
          <a:p>
            <a:r>
              <a:rPr sz="1200" b="1">
                <a:solidFill>
                  <a:srgbClr val="B14A20"/>
                </a:solidFill>
                <a:latin typeface="Calibri"/>
              </a:rPr>
              <a:t>—</a:t>
            </a:r>
          </a:p>
        </p:txBody>
      </p:sp>
      <p:sp>
        <p:nvSpPr>
          <p:cNvPr id="23" name="TextBox 22"/>
          <p:cNvSpPr txBox="1"/>
          <p:nvPr/>
        </p:nvSpPr>
        <p:spPr>
          <a:xfrm>
            <a:off x="6757416" y="3785615"/>
            <a:ext cx="4626864" cy="457200"/>
          </a:xfrm>
          <a:prstGeom prst="rect">
            <a:avLst/>
          </a:prstGeom>
          <a:noFill/>
        </p:spPr>
        <p:txBody>
          <a:bodyPr wrap="square" lIns="0" tIns="0" rIns="0" bIns="0">
            <a:spAutoFit/>
          </a:bodyPr>
          <a:lstStyle/>
          <a:p>
            <a:pPr>
              <a:lnSpc>
                <a:spcPct val="112000"/>
              </a:lnSpc>
            </a:pPr>
            <a:r>
              <a:rPr sz="1200" b="0">
                <a:solidFill>
                  <a:srgbClr val="5C6875"/>
                </a:solidFill>
                <a:latin typeface="Calibri"/>
              </a:rPr>
              <a:t>Airborne trial with all three nodes mounted on UAVs</a:t>
            </a:r>
          </a:p>
        </p:txBody>
      </p:sp>
      <p:sp>
        <p:nvSpPr>
          <p:cNvPr id="24" name="Rectangle 23"/>
          <p:cNvSpPr/>
          <p:nvPr/>
        </p:nvSpPr>
        <p:spPr>
          <a:xfrm>
            <a:off x="566928" y="4590288"/>
            <a:ext cx="11055096" cy="1005840"/>
          </a:xfrm>
          <a:prstGeom prst="rect">
            <a:avLst/>
          </a:prstGeom>
          <a:solidFill>
            <a:srgbClr val="F6E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768096" y="4791455"/>
            <a:ext cx="10652760" cy="603504"/>
          </a:xfrm>
          <a:prstGeom prst="rect">
            <a:avLst/>
          </a:prstGeom>
          <a:noFill/>
        </p:spPr>
        <p:txBody>
          <a:bodyPr wrap="square" lIns="0" tIns="0" rIns="0" bIns="0">
            <a:spAutoFit/>
          </a:bodyPr>
          <a:lstStyle/>
          <a:p>
            <a:pPr>
              <a:lnSpc>
                <a:spcPct val="115000"/>
              </a:lnSpc>
            </a:pPr>
            <a:r>
              <a:rPr sz="1350" b="0">
                <a:solidFill>
                  <a:srgbClr val="5C6875"/>
                </a:solidFill>
                <a:latin typeface="Calibri"/>
              </a:rPr>
              <a:t>The chain runs end to end, and in simulation it places a device within about 2.8 m inside the node triangle. The same simulation shows the field number hangs on one constant, n — so calibrating it on site is the first job of any real deployment.</a:t>
            </a:r>
          </a:p>
        </p:txBody>
      </p:sp>
      <p:sp>
        <p:nvSpPr>
          <p:cNvPr id="26" name="Rectangle 25"/>
          <p:cNvSpPr/>
          <p:nvPr/>
        </p:nvSpPr>
        <p:spPr>
          <a:xfrm>
            <a:off x="566928" y="5870448"/>
            <a:ext cx="11055096" cy="10972"/>
          </a:xfrm>
          <a:prstGeom prst="rect">
            <a:avLst/>
          </a:prstGeom>
          <a:solidFill>
            <a:srgbClr val="DF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66928" y="6053328"/>
            <a:ext cx="7315200" cy="256032"/>
          </a:xfrm>
          <a:prstGeom prst="rect">
            <a:avLst/>
          </a:prstGeom>
          <a:noFill/>
        </p:spPr>
        <p:txBody>
          <a:bodyPr wrap="square" lIns="0" tIns="0" rIns="0" bIns="0">
            <a:spAutoFit/>
          </a:bodyPr>
          <a:lstStyle/>
          <a:p>
            <a:r>
              <a:rPr sz="1100" b="0">
                <a:solidFill>
                  <a:srgbClr val="5C6875"/>
                </a:solidFill>
                <a:latin typeface="Calibri"/>
              </a:rPr>
              <a:t>Aryan Kochhar  23BAI1533      ·      Hari Samhita  23BAI1473</a:t>
            </a:r>
          </a:p>
        </p:txBody>
      </p:sp>
      <p:sp>
        <p:nvSpPr>
          <p:cNvPr id="28" name="TextBox 27"/>
          <p:cNvSpPr txBox="1"/>
          <p:nvPr/>
        </p:nvSpPr>
        <p:spPr>
          <a:xfrm>
            <a:off x="7964424" y="6053328"/>
            <a:ext cx="3657600" cy="256032"/>
          </a:xfrm>
          <a:prstGeom prst="rect">
            <a:avLst/>
          </a:prstGeom>
          <a:noFill/>
        </p:spPr>
        <p:txBody>
          <a:bodyPr wrap="square" lIns="0" tIns="0" rIns="0" bIns="0">
            <a:spAutoFit/>
          </a:bodyPr>
          <a:lstStyle/>
          <a:p>
            <a:pPr algn="r"/>
            <a:r>
              <a:rPr sz="1100" b="0">
                <a:solidFill>
                  <a:srgbClr val="5C6875"/>
                </a:solidFill>
                <a:latin typeface="Calibri"/>
              </a:rPr>
              <a:t>Autonomous Drones  ·  Final Review</a:t>
            </a:r>
          </a:p>
        </p:txBody>
      </p:sp>
      <p:sp>
        <p:nvSpPr>
          <p:cNvPr id="29" name="TextBox 28"/>
          <p:cNvSpPr txBox="1"/>
          <p:nvPr/>
        </p:nvSpPr>
        <p:spPr>
          <a:xfrm>
            <a:off x="10981944" y="6437376"/>
            <a:ext cx="640080" cy="256032"/>
          </a:xfrm>
          <a:prstGeom prst="rect">
            <a:avLst/>
          </a:prstGeom>
          <a:noFill/>
        </p:spPr>
        <p:txBody>
          <a:bodyPr wrap="square" lIns="0" tIns="0" rIns="0" bIns="0">
            <a:spAutoFit/>
          </a:bodyPr>
          <a:lstStyle/>
          <a:p>
            <a:pPr algn="r"/>
            <a:r>
              <a:rPr sz="900" b="0">
                <a:solidFill>
                  <a:srgbClr val="5C6875"/>
                </a:solidFill>
                <a:latin typeface="Arial"/>
              </a:rPr>
              <a:t>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3883</Words>
  <Application>Microsoft Office PowerPoint</Application>
  <PresentationFormat>Widescreen</PresentationFormat>
  <Paragraphs>321</Paragraphs>
  <Slides>17</Slides>
  <Notes>17</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Aryan Kochhar</cp:lastModifiedBy>
  <cp:revision>3</cp:revision>
  <dcterms:created xsi:type="dcterms:W3CDTF">2013-01-27T09:14:16Z</dcterms:created>
  <dcterms:modified xsi:type="dcterms:W3CDTF">2026-10-25T05:32:40Z</dcterms:modified>
  <cp:category/>
</cp:coreProperties>
</file>