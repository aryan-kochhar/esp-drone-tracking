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32642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 s] Names, then the one-line idea: we find where people are from the WiFi signals their phones already send, with no cameras anywhere. Move 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[~40 s] Crowd density is a safety number, and the usual way to measure it is cameras, which record everyone's face. An operator only needs how many people, and roughly where. Read the bottom line out loud: WiFi answers 'how many and where' without ever answering 'who'.</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s, plus the live demo] Walk the five stages once, left to right. Then show the hardware: the highlighted stage 02 is the ESP32 on the table, running now (point at its serial output or the dashboard). The drone is the carrier. If asked why the simulation shows three drones: a 2-D fix needs three nodes, so a deployment flies three; the demo is one.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[~60 s] Let it play: 42 seconds, and it loops, so talk over it. The five chips top-right light up in order. Say two things. First: every position on the right is computed by our backend's own trilateration code from simulated signal strengths, so this is the real algorithm running, not an animation of it. Second: left is what is really happening, right is what the system believes, and the gap between them is the error. If asked why the map lags the moving crowd: the backend averages five frames per phone, so it trails by a few probe intervals.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s] Simulated, so say that first: 282,240 runs of our own solver over the whole area, with 4 dB of signal noise per frame. Median error is 2.8 m inside the node triangle and 4.8 m outside it. Land the rust number: if the room really decays at n = 2.7 while the backend assumes 2.0, error jumps to about 35 m. That one constant decides whether the system works, so calibrating it is the first job of a real deployment.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 s] Close on what is real: the nodes capture, the backend solves, the map draws, and the simulation shows the whole deployment with our own solver. Then be direct about what is not done: no field accuracy number yet, because n has not been calibrated on site.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457200"/>
            <a:ext cx="11055096" cy="274320"/>
          </a:xfrm>
          <a:prstGeom prst="rect">
            <a:avLst/>
          </a:prstGeom>
          <a:noFill/>
        </p:spPr>
        <p:txBody>
          <a:bodyPr wrap="square" lIns="0" tIns="0" rIns="0" bIns="0">
            <a:spAutoFit/>
          </a:bodyPr>
          <a:lstStyle/>
          <a:p>
            <a:r>
              <a:rPr sz="1400" b="1">
                <a:solidFill>
                  <a:srgbClr val="16416E"/>
                </a:solidFill>
                <a:latin typeface="Arial"/>
              </a:rPr>
              <a:t>FINAL REVIEW  /  AUTONOMOUS DRONES  /  FALL 2026-27</a:t>
            </a:r>
          </a:p>
        </p:txBody>
      </p:sp>
      <p:sp>
        <p:nvSpPr>
          <p:cNvPr id="3" name="TextBox 2"/>
          <p:cNvSpPr txBox="1"/>
          <p:nvPr/>
        </p:nvSpPr>
        <p:spPr>
          <a:xfrm>
            <a:off x="566928" y="1645920"/>
            <a:ext cx="11055096" cy="868680"/>
          </a:xfrm>
          <a:prstGeom prst="rect">
            <a:avLst/>
          </a:prstGeom>
          <a:noFill/>
        </p:spPr>
        <p:txBody>
          <a:bodyPr wrap="square" lIns="0" tIns="0" rIns="0" bIns="0">
            <a:spAutoFit/>
          </a:bodyPr>
          <a:lstStyle/>
          <a:p>
            <a:r>
              <a:rPr sz="5400" b="1">
                <a:solidFill>
                  <a:srgbClr val="101823"/>
                </a:solidFill>
                <a:latin typeface="Arial"/>
              </a:rPr>
              <a:t>Drone-Based Crowd Monitoring,</a:t>
            </a:r>
          </a:p>
        </p:txBody>
      </p:sp>
      <p:sp>
        <p:nvSpPr>
          <p:cNvPr id="4" name="TextBox 3"/>
          <p:cNvSpPr txBox="1"/>
          <p:nvPr/>
        </p:nvSpPr>
        <p:spPr>
          <a:xfrm>
            <a:off x="566928" y="2487168"/>
            <a:ext cx="11055096" cy="868680"/>
          </a:xfrm>
          <a:prstGeom prst="rect">
            <a:avLst/>
          </a:prstGeom>
          <a:noFill/>
        </p:spPr>
        <p:txBody>
          <a:bodyPr wrap="square" lIns="0" tIns="0" rIns="0" bIns="0">
            <a:spAutoFit/>
          </a:bodyPr>
          <a:lstStyle/>
          <a:p>
            <a:r>
              <a:rPr sz="5400" b="0">
                <a:solidFill>
                  <a:srgbClr val="5C6875"/>
                </a:solidFill>
                <a:latin typeface="Arial"/>
              </a:rPr>
              <a:t>Without a Single Camera</a:t>
            </a:r>
          </a:p>
        </p:txBody>
      </p:sp>
      <p:sp>
        <p:nvSpPr>
          <p:cNvPr id="5" name="TextBox 4"/>
          <p:cNvSpPr txBox="1"/>
          <p:nvPr/>
        </p:nvSpPr>
        <p:spPr>
          <a:xfrm>
            <a:off x="566928" y="3584448"/>
            <a:ext cx="11055096" cy="457200"/>
          </a:xfrm>
          <a:prstGeom prst="rect">
            <a:avLst/>
          </a:prstGeom>
          <a:noFill/>
        </p:spPr>
        <p:txBody>
          <a:bodyPr wrap="square" lIns="0" tIns="0" rIns="0" bIns="0">
            <a:spAutoFit/>
          </a:bodyPr>
          <a:lstStyle/>
          <a:p>
            <a:r>
              <a:rPr sz="2400" b="0">
                <a:solidFill>
                  <a:srgbClr val="5C6875"/>
                </a:solidFill>
                <a:latin typeface="Calibri"/>
              </a:rPr>
              <a:t>Locating people from the WiFi their phones already broadcast.</a:t>
            </a:r>
          </a:p>
        </p:txBody>
      </p:sp>
      <p:sp>
        <p:nvSpPr>
          <p:cNvPr id="6" name="Rectangle 5"/>
          <p:cNvSpPr/>
          <p:nvPr/>
        </p:nvSpPr>
        <p:spPr>
          <a:xfrm>
            <a:off x="566928" y="4846320"/>
            <a:ext cx="11055096" cy="13716"/>
          </a:xfrm>
          <a:prstGeom prst="rect">
            <a:avLst/>
          </a:prstGeom>
          <a:solidFill>
            <a:srgbClr val="DF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5074920"/>
            <a:ext cx="2743200" cy="256032"/>
          </a:xfrm>
          <a:prstGeom prst="rect">
            <a:avLst/>
          </a:prstGeom>
          <a:noFill/>
        </p:spPr>
        <p:txBody>
          <a:bodyPr wrap="square" lIns="0" tIns="0" rIns="0" bIns="0">
            <a:spAutoFit/>
          </a:bodyPr>
          <a:lstStyle/>
          <a:p>
            <a:r>
              <a:rPr sz="1300" b="1">
                <a:solidFill>
                  <a:srgbClr val="5C6875"/>
                </a:solidFill>
                <a:latin typeface="Arial"/>
              </a:rPr>
              <a:t>TEAM</a:t>
            </a:r>
          </a:p>
        </p:txBody>
      </p:sp>
      <p:sp>
        <p:nvSpPr>
          <p:cNvPr id="8" name="TextBox 7"/>
          <p:cNvSpPr txBox="1"/>
          <p:nvPr/>
        </p:nvSpPr>
        <p:spPr>
          <a:xfrm>
            <a:off x="566928" y="5394960"/>
            <a:ext cx="3474720" cy="411480"/>
          </a:xfrm>
          <a:prstGeom prst="rect">
            <a:avLst/>
          </a:prstGeom>
          <a:noFill/>
        </p:spPr>
        <p:txBody>
          <a:bodyPr wrap="square" lIns="0" tIns="0" rIns="0" bIns="0">
            <a:spAutoFit/>
          </a:bodyPr>
          <a:lstStyle/>
          <a:p>
            <a:r>
              <a:rPr sz="2400" b="1">
                <a:solidFill>
                  <a:srgbClr val="101823"/>
                </a:solidFill>
                <a:latin typeface="Calibri"/>
              </a:rPr>
              <a:t>Aryan Kochhar</a:t>
            </a:r>
          </a:p>
        </p:txBody>
      </p:sp>
      <p:sp>
        <p:nvSpPr>
          <p:cNvPr id="9" name="TextBox 8"/>
          <p:cNvSpPr txBox="1"/>
          <p:nvPr/>
        </p:nvSpPr>
        <p:spPr>
          <a:xfrm>
            <a:off x="566928" y="5833872"/>
            <a:ext cx="3474720" cy="320040"/>
          </a:xfrm>
          <a:prstGeom prst="rect">
            <a:avLst/>
          </a:prstGeom>
          <a:noFill/>
        </p:spPr>
        <p:txBody>
          <a:bodyPr wrap="square" lIns="0" tIns="0" rIns="0" bIns="0">
            <a:spAutoFit/>
          </a:bodyPr>
          <a:lstStyle/>
          <a:p>
            <a:r>
              <a:rPr sz="1700" b="0">
                <a:solidFill>
                  <a:srgbClr val="5C6875"/>
                </a:solidFill>
                <a:latin typeface="Consolas"/>
              </a:rPr>
              <a:t>23BAI1533</a:t>
            </a:r>
          </a:p>
        </p:txBody>
      </p:sp>
      <p:sp>
        <p:nvSpPr>
          <p:cNvPr id="10" name="TextBox 9"/>
          <p:cNvSpPr txBox="1"/>
          <p:nvPr/>
        </p:nvSpPr>
        <p:spPr>
          <a:xfrm>
            <a:off x="4224528" y="5394960"/>
            <a:ext cx="3474720" cy="411480"/>
          </a:xfrm>
          <a:prstGeom prst="rect">
            <a:avLst/>
          </a:prstGeom>
          <a:noFill/>
        </p:spPr>
        <p:txBody>
          <a:bodyPr wrap="square" lIns="0" tIns="0" rIns="0" bIns="0">
            <a:spAutoFit/>
          </a:bodyPr>
          <a:lstStyle/>
          <a:p>
            <a:r>
              <a:rPr sz="2400" b="1">
                <a:solidFill>
                  <a:srgbClr val="101823"/>
                </a:solidFill>
                <a:latin typeface="Calibri"/>
              </a:rPr>
              <a:t>Hari Samhita</a:t>
            </a:r>
          </a:p>
        </p:txBody>
      </p:sp>
      <p:sp>
        <p:nvSpPr>
          <p:cNvPr id="11" name="TextBox 10"/>
          <p:cNvSpPr txBox="1"/>
          <p:nvPr/>
        </p:nvSpPr>
        <p:spPr>
          <a:xfrm>
            <a:off x="4224528" y="5833872"/>
            <a:ext cx="3474720" cy="320040"/>
          </a:xfrm>
          <a:prstGeom prst="rect">
            <a:avLst/>
          </a:prstGeom>
          <a:noFill/>
        </p:spPr>
        <p:txBody>
          <a:bodyPr wrap="square" lIns="0" tIns="0" rIns="0" bIns="0">
            <a:spAutoFit/>
          </a:bodyPr>
          <a:lstStyle/>
          <a:p>
            <a:r>
              <a:rPr sz="1700" b="0">
                <a:solidFill>
                  <a:srgbClr val="5C6875"/>
                </a:solidFill>
                <a:latin typeface="Consolas"/>
              </a:rPr>
              <a:t>23BAI1473</a:t>
            </a:r>
          </a:p>
        </p:txBody>
      </p:sp>
      <p:sp>
        <p:nvSpPr>
          <p:cNvPr id="12" name="TextBox 11"/>
          <p:cNvSpPr txBox="1"/>
          <p:nvPr/>
        </p:nvSpPr>
        <p:spPr>
          <a:xfrm>
            <a:off x="10890504" y="6382512"/>
            <a:ext cx="731520" cy="274320"/>
          </a:xfrm>
          <a:prstGeom prst="rect">
            <a:avLst/>
          </a:prstGeom>
          <a:noFill/>
        </p:spPr>
        <p:txBody>
          <a:bodyPr wrap="square" lIns="0" tIns="0" rIns="0" bIns="0">
            <a:spAutoFit/>
          </a:bodyPr>
          <a:lstStyle/>
          <a:p>
            <a:pPr algn="r"/>
            <a:r>
              <a:rPr sz="1100" b="0">
                <a:solidFill>
                  <a:srgbClr val="5C6875"/>
                </a:solidFill>
                <a:latin typeface="Arial"/>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457200"/>
            <a:ext cx="11055096" cy="274320"/>
          </a:xfrm>
          <a:prstGeom prst="rect">
            <a:avLst/>
          </a:prstGeom>
          <a:noFill/>
        </p:spPr>
        <p:txBody>
          <a:bodyPr wrap="square" lIns="0" tIns="0" rIns="0" bIns="0">
            <a:spAutoFit/>
          </a:bodyPr>
          <a:lstStyle/>
          <a:p>
            <a:r>
              <a:rPr sz="1400" b="1">
                <a:solidFill>
                  <a:srgbClr val="16416E"/>
                </a:solidFill>
                <a:latin typeface="Arial"/>
              </a:rPr>
              <a:t>WHY</a:t>
            </a:r>
          </a:p>
        </p:txBody>
      </p:sp>
      <p:sp>
        <p:nvSpPr>
          <p:cNvPr id="3" name="TextBox 2"/>
          <p:cNvSpPr txBox="1"/>
          <p:nvPr/>
        </p:nvSpPr>
        <p:spPr>
          <a:xfrm>
            <a:off x="566928" y="804672"/>
            <a:ext cx="11055096" cy="731520"/>
          </a:xfrm>
          <a:prstGeom prst="rect">
            <a:avLst/>
          </a:prstGeom>
          <a:noFill/>
        </p:spPr>
        <p:txBody>
          <a:bodyPr wrap="square" lIns="0" tIns="0" rIns="0" bIns="0">
            <a:spAutoFit/>
          </a:bodyPr>
          <a:lstStyle/>
          <a:p>
            <a:r>
              <a:rPr sz="4000" b="1">
                <a:solidFill>
                  <a:srgbClr val="101823"/>
                </a:solidFill>
                <a:latin typeface="Arial"/>
              </a:rPr>
              <a:t>Why not just use cameras?</a:t>
            </a:r>
          </a:p>
        </p:txBody>
      </p:sp>
      <p:sp>
        <p:nvSpPr>
          <p:cNvPr id="4" name="Rectangle 3"/>
          <p:cNvSpPr/>
          <p:nvPr/>
        </p:nvSpPr>
        <p:spPr>
          <a:xfrm>
            <a:off x="566928" y="1783080"/>
            <a:ext cx="5394960" cy="3108960"/>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50976" y="2130552"/>
            <a:ext cx="4663440" cy="292608"/>
          </a:xfrm>
          <a:prstGeom prst="rect">
            <a:avLst/>
          </a:prstGeom>
          <a:noFill/>
        </p:spPr>
        <p:txBody>
          <a:bodyPr wrap="square" lIns="0" tIns="0" rIns="0" bIns="0">
            <a:spAutoFit/>
          </a:bodyPr>
          <a:lstStyle/>
          <a:p>
            <a:r>
              <a:rPr sz="1600" b="1">
                <a:solidFill>
                  <a:srgbClr val="16416E"/>
                </a:solidFill>
                <a:latin typeface="Arial"/>
              </a:rPr>
              <a:t>CAMERA</a:t>
            </a:r>
          </a:p>
        </p:txBody>
      </p:sp>
      <p:sp>
        <p:nvSpPr>
          <p:cNvPr id="6" name="TextBox 5"/>
          <p:cNvSpPr txBox="1"/>
          <p:nvPr/>
        </p:nvSpPr>
        <p:spPr>
          <a:xfrm>
            <a:off x="950976" y="2697480"/>
            <a:ext cx="4663440" cy="2011680"/>
          </a:xfrm>
          <a:prstGeom prst="rect">
            <a:avLst/>
          </a:prstGeom>
          <a:noFill/>
        </p:spPr>
        <p:txBody>
          <a:bodyPr wrap="square" lIns="0" tIns="0" rIns="0" bIns="0">
            <a:spAutoFit/>
          </a:bodyPr>
          <a:lstStyle/>
          <a:p>
            <a:pPr>
              <a:spcAft>
                <a:spcPts val="2400"/>
              </a:spcAft>
            </a:pPr>
            <a:r>
              <a:rPr sz="2600" b="0">
                <a:solidFill>
                  <a:srgbClr val="101823"/>
                </a:solidFill>
                <a:latin typeface="Calibri"/>
              </a:rPr>
              <a:t>Counts precisely</a:t>
            </a:r>
          </a:p>
          <a:p>
            <a:pPr>
              <a:spcAft>
                <a:spcPts val="2400"/>
              </a:spcAft>
            </a:pPr>
            <a:r>
              <a:rPr sz="2600" b="0">
                <a:solidFill>
                  <a:srgbClr val="101823"/>
                </a:solidFill>
                <a:latin typeface="Calibri"/>
              </a:rPr>
              <a:t>Records every face</a:t>
            </a:r>
          </a:p>
          <a:p>
            <a:pPr>
              <a:spcAft>
                <a:spcPts val="2400"/>
              </a:spcAft>
            </a:pPr>
            <a:r>
              <a:rPr sz="2600" b="0">
                <a:solidFill>
                  <a:srgbClr val="101823"/>
                </a:solidFill>
                <a:latin typeface="Calibri"/>
              </a:rPr>
              <a:t>Needs light and a clear view</a:t>
            </a:r>
          </a:p>
        </p:txBody>
      </p:sp>
      <p:sp>
        <p:nvSpPr>
          <p:cNvPr id="7" name="Rectangle 6"/>
          <p:cNvSpPr/>
          <p:nvPr/>
        </p:nvSpPr>
        <p:spPr>
          <a:xfrm>
            <a:off x="6227064" y="1783080"/>
            <a:ext cx="5394960" cy="3108960"/>
          </a:xfrm>
          <a:prstGeom prst="rect">
            <a:avLst/>
          </a:prstGeom>
          <a:solidFill>
            <a:srgbClr val="F6E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11112" y="2130552"/>
            <a:ext cx="4663440" cy="292608"/>
          </a:xfrm>
          <a:prstGeom prst="rect">
            <a:avLst/>
          </a:prstGeom>
          <a:noFill/>
        </p:spPr>
        <p:txBody>
          <a:bodyPr wrap="square" lIns="0" tIns="0" rIns="0" bIns="0">
            <a:spAutoFit/>
          </a:bodyPr>
          <a:lstStyle/>
          <a:p>
            <a:r>
              <a:rPr sz="1600" b="1">
                <a:solidFill>
                  <a:srgbClr val="B14A20"/>
                </a:solidFill>
                <a:latin typeface="Arial"/>
              </a:rPr>
              <a:t>PASSIVE WIFI  —  THIS PROJECT</a:t>
            </a:r>
          </a:p>
        </p:txBody>
      </p:sp>
      <p:sp>
        <p:nvSpPr>
          <p:cNvPr id="9" name="TextBox 8"/>
          <p:cNvSpPr txBox="1"/>
          <p:nvPr/>
        </p:nvSpPr>
        <p:spPr>
          <a:xfrm>
            <a:off x="6611112" y="2697480"/>
            <a:ext cx="4663440" cy="2011680"/>
          </a:xfrm>
          <a:prstGeom prst="rect">
            <a:avLst/>
          </a:prstGeom>
          <a:noFill/>
        </p:spPr>
        <p:txBody>
          <a:bodyPr wrap="square" lIns="0" tIns="0" rIns="0" bIns="0">
            <a:spAutoFit/>
          </a:bodyPr>
          <a:lstStyle/>
          <a:p>
            <a:pPr>
              <a:spcAft>
                <a:spcPts val="2400"/>
              </a:spcAft>
            </a:pPr>
            <a:r>
              <a:rPr sz="2600" b="0">
                <a:solidFill>
                  <a:srgbClr val="101823"/>
                </a:solidFill>
                <a:latin typeface="Calibri"/>
              </a:rPr>
              <a:t>Counts approximately</a:t>
            </a:r>
          </a:p>
          <a:p>
            <a:pPr>
              <a:spcAft>
                <a:spcPts val="2400"/>
              </a:spcAft>
            </a:pPr>
            <a:r>
              <a:rPr sz="2600" b="0">
                <a:solidFill>
                  <a:srgbClr val="101823"/>
                </a:solidFill>
                <a:latin typeface="Calibri"/>
              </a:rPr>
              <a:t>Records no image</a:t>
            </a:r>
          </a:p>
          <a:p>
            <a:pPr>
              <a:spcAft>
                <a:spcPts val="2400"/>
              </a:spcAft>
            </a:pPr>
            <a:r>
              <a:rPr sz="2600" b="0">
                <a:solidFill>
                  <a:srgbClr val="101823"/>
                </a:solidFill>
                <a:latin typeface="Calibri"/>
              </a:rPr>
              <a:t>Works in darkness and smoke</a:t>
            </a:r>
          </a:p>
        </p:txBody>
      </p:sp>
      <p:sp>
        <p:nvSpPr>
          <p:cNvPr id="10" name="TextBox 9"/>
          <p:cNvSpPr txBox="1"/>
          <p:nvPr/>
        </p:nvSpPr>
        <p:spPr>
          <a:xfrm>
            <a:off x="566928" y="5303520"/>
            <a:ext cx="11055096" cy="502920"/>
          </a:xfrm>
          <a:prstGeom prst="rect">
            <a:avLst/>
          </a:prstGeom>
          <a:noFill/>
        </p:spPr>
        <p:txBody>
          <a:bodyPr wrap="square" lIns="0" tIns="0" rIns="0" bIns="0">
            <a:spAutoFit/>
          </a:bodyPr>
          <a:lstStyle/>
          <a:p>
            <a:r>
              <a:rPr sz="2400" b="0">
                <a:solidFill>
                  <a:srgbClr val="5C6875"/>
                </a:solidFill>
                <a:latin typeface="Calibri"/>
              </a:rPr>
              <a:t>Both tell you how many, and where. Only the camera also tells you </a:t>
            </a:r>
            <a:r>
              <a:rPr sz="2400" b="1">
                <a:solidFill>
                  <a:srgbClr val="B14A20"/>
                </a:solidFill>
                <a:latin typeface="Calibri"/>
              </a:rPr>
              <a:t>who.</a:t>
            </a:r>
          </a:p>
        </p:txBody>
      </p:sp>
      <p:sp>
        <p:nvSpPr>
          <p:cNvPr id="11" name="TextBox 10"/>
          <p:cNvSpPr txBox="1"/>
          <p:nvPr/>
        </p:nvSpPr>
        <p:spPr>
          <a:xfrm>
            <a:off x="10890504" y="6382512"/>
            <a:ext cx="731520" cy="274320"/>
          </a:xfrm>
          <a:prstGeom prst="rect">
            <a:avLst/>
          </a:prstGeom>
          <a:noFill/>
        </p:spPr>
        <p:txBody>
          <a:bodyPr wrap="square" lIns="0" tIns="0" rIns="0" bIns="0">
            <a:spAutoFit/>
          </a:bodyPr>
          <a:lstStyle/>
          <a:p>
            <a:pPr algn="r"/>
            <a:r>
              <a:rPr sz="1100" b="0">
                <a:solidFill>
                  <a:srgbClr val="5C6875"/>
                </a:solidFill>
                <a:latin typeface="Arial"/>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457200"/>
            <a:ext cx="11055096" cy="274320"/>
          </a:xfrm>
          <a:prstGeom prst="rect">
            <a:avLst/>
          </a:prstGeom>
          <a:noFill/>
        </p:spPr>
        <p:txBody>
          <a:bodyPr wrap="square" lIns="0" tIns="0" rIns="0" bIns="0">
            <a:spAutoFit/>
          </a:bodyPr>
          <a:lstStyle/>
          <a:p>
            <a:r>
              <a:rPr sz="1400" b="1">
                <a:solidFill>
                  <a:srgbClr val="16416E"/>
                </a:solidFill>
                <a:latin typeface="Arial"/>
              </a:rPr>
              <a:t>HOW IT WORKS</a:t>
            </a:r>
          </a:p>
        </p:txBody>
      </p:sp>
      <p:sp>
        <p:nvSpPr>
          <p:cNvPr id="3" name="TextBox 2"/>
          <p:cNvSpPr txBox="1"/>
          <p:nvPr/>
        </p:nvSpPr>
        <p:spPr>
          <a:xfrm>
            <a:off x="566928" y="804672"/>
            <a:ext cx="11055096" cy="731520"/>
          </a:xfrm>
          <a:prstGeom prst="rect">
            <a:avLst/>
          </a:prstGeom>
          <a:noFill/>
        </p:spPr>
        <p:txBody>
          <a:bodyPr wrap="square" lIns="0" tIns="0" rIns="0" bIns="0">
            <a:spAutoFit/>
          </a:bodyPr>
          <a:lstStyle/>
          <a:p>
            <a:r>
              <a:rPr sz="4000" b="1">
                <a:solidFill>
                  <a:srgbClr val="101823"/>
                </a:solidFill>
                <a:latin typeface="Arial"/>
              </a:rPr>
              <a:t>Five stages, from phone to map.</a:t>
            </a:r>
          </a:p>
        </p:txBody>
      </p:sp>
      <p:sp>
        <p:nvSpPr>
          <p:cNvPr id="4" name="Rectangle 3"/>
          <p:cNvSpPr/>
          <p:nvPr/>
        </p:nvSpPr>
        <p:spPr>
          <a:xfrm>
            <a:off x="566928" y="1783080"/>
            <a:ext cx="2028139" cy="2377440"/>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8096" y="2020824"/>
            <a:ext cx="1662379" cy="274320"/>
          </a:xfrm>
          <a:prstGeom prst="rect">
            <a:avLst/>
          </a:prstGeom>
          <a:noFill/>
        </p:spPr>
        <p:txBody>
          <a:bodyPr wrap="square" lIns="0" tIns="0" rIns="0" bIns="0">
            <a:spAutoFit/>
          </a:bodyPr>
          <a:lstStyle/>
          <a:p>
            <a:r>
              <a:rPr sz="1600" b="1">
                <a:solidFill>
                  <a:srgbClr val="16416E"/>
                </a:solidFill>
                <a:latin typeface="Consolas"/>
              </a:rPr>
              <a:t>01</a:t>
            </a:r>
          </a:p>
        </p:txBody>
      </p:sp>
      <p:sp>
        <p:nvSpPr>
          <p:cNvPr id="6" name="TextBox 5"/>
          <p:cNvSpPr txBox="1"/>
          <p:nvPr/>
        </p:nvSpPr>
        <p:spPr>
          <a:xfrm>
            <a:off x="768096" y="2386584"/>
            <a:ext cx="1698955" cy="365760"/>
          </a:xfrm>
          <a:prstGeom prst="rect">
            <a:avLst/>
          </a:prstGeom>
          <a:noFill/>
        </p:spPr>
        <p:txBody>
          <a:bodyPr wrap="square" lIns="0" tIns="0" rIns="0" bIns="0">
            <a:spAutoFit/>
          </a:bodyPr>
          <a:lstStyle/>
          <a:p>
            <a:r>
              <a:rPr sz="1800" b="1">
                <a:solidFill>
                  <a:srgbClr val="101823"/>
                </a:solidFill>
                <a:latin typeface="Arial"/>
              </a:rPr>
              <a:t>PHONES</a:t>
            </a:r>
          </a:p>
        </p:txBody>
      </p:sp>
      <p:sp>
        <p:nvSpPr>
          <p:cNvPr id="7" name="TextBox 6"/>
          <p:cNvSpPr txBox="1"/>
          <p:nvPr/>
        </p:nvSpPr>
        <p:spPr>
          <a:xfrm>
            <a:off x="768096" y="2862072"/>
            <a:ext cx="1662379" cy="1417320"/>
          </a:xfrm>
          <a:prstGeom prst="rect">
            <a:avLst/>
          </a:prstGeom>
          <a:noFill/>
        </p:spPr>
        <p:txBody>
          <a:bodyPr wrap="square" lIns="0" tIns="0" rIns="0" bIns="0">
            <a:spAutoFit/>
          </a:bodyPr>
          <a:lstStyle/>
          <a:p>
            <a:pPr>
              <a:lnSpc>
                <a:spcPct val="108000"/>
              </a:lnSpc>
            </a:pPr>
            <a:r>
              <a:rPr sz="2000" b="0">
                <a:solidFill>
                  <a:srgbClr val="5C6875"/>
                </a:solidFill>
                <a:latin typeface="Calibri"/>
              </a:rPr>
              <a:t>Send WiFi probes on their own</a:t>
            </a:r>
          </a:p>
        </p:txBody>
      </p:sp>
      <p:sp>
        <p:nvSpPr>
          <p:cNvPr id="8" name="TextBox 7"/>
          <p:cNvSpPr txBox="1"/>
          <p:nvPr/>
        </p:nvSpPr>
        <p:spPr>
          <a:xfrm>
            <a:off x="2595067" y="2834639"/>
            <a:ext cx="228600" cy="365760"/>
          </a:xfrm>
          <a:prstGeom prst="rect">
            <a:avLst/>
          </a:prstGeom>
          <a:noFill/>
        </p:spPr>
        <p:txBody>
          <a:bodyPr wrap="square" lIns="0" tIns="0" rIns="0" bIns="0">
            <a:spAutoFit/>
          </a:bodyPr>
          <a:lstStyle/>
          <a:p>
            <a:pPr algn="ctr"/>
            <a:r>
              <a:rPr sz="2200" b="0">
                <a:solidFill>
                  <a:srgbClr val="5C6875"/>
                </a:solidFill>
                <a:latin typeface="Calibri"/>
              </a:rPr>
              <a:t>→</a:t>
            </a:r>
          </a:p>
        </p:txBody>
      </p:sp>
      <p:sp>
        <p:nvSpPr>
          <p:cNvPr id="9" name="Rectangle 8"/>
          <p:cNvSpPr/>
          <p:nvPr/>
        </p:nvSpPr>
        <p:spPr>
          <a:xfrm>
            <a:off x="2823667" y="1783080"/>
            <a:ext cx="2028139" cy="2377440"/>
          </a:xfrm>
          <a:prstGeom prst="rect">
            <a:avLst/>
          </a:prstGeom>
          <a:solidFill>
            <a:srgbClr val="F6E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024835" y="2020824"/>
            <a:ext cx="1662379" cy="274320"/>
          </a:xfrm>
          <a:prstGeom prst="rect">
            <a:avLst/>
          </a:prstGeom>
          <a:noFill/>
        </p:spPr>
        <p:txBody>
          <a:bodyPr wrap="square" lIns="0" tIns="0" rIns="0" bIns="0">
            <a:spAutoFit/>
          </a:bodyPr>
          <a:lstStyle/>
          <a:p>
            <a:r>
              <a:rPr sz="1600" b="1">
                <a:solidFill>
                  <a:srgbClr val="B14A20"/>
                </a:solidFill>
                <a:latin typeface="Consolas"/>
              </a:rPr>
              <a:t>02</a:t>
            </a:r>
          </a:p>
        </p:txBody>
      </p:sp>
      <p:sp>
        <p:nvSpPr>
          <p:cNvPr id="11" name="TextBox 10"/>
          <p:cNvSpPr txBox="1"/>
          <p:nvPr/>
        </p:nvSpPr>
        <p:spPr>
          <a:xfrm>
            <a:off x="3024835" y="2386584"/>
            <a:ext cx="1698955" cy="365760"/>
          </a:xfrm>
          <a:prstGeom prst="rect">
            <a:avLst/>
          </a:prstGeom>
          <a:noFill/>
        </p:spPr>
        <p:txBody>
          <a:bodyPr wrap="square" lIns="0" tIns="0" rIns="0" bIns="0">
            <a:spAutoFit/>
          </a:bodyPr>
          <a:lstStyle/>
          <a:p>
            <a:r>
              <a:rPr sz="1800" b="1">
                <a:solidFill>
                  <a:srgbClr val="101823"/>
                </a:solidFill>
                <a:latin typeface="Arial"/>
              </a:rPr>
              <a:t>ESP32 NODES</a:t>
            </a:r>
          </a:p>
        </p:txBody>
      </p:sp>
      <p:sp>
        <p:nvSpPr>
          <p:cNvPr id="12" name="TextBox 11"/>
          <p:cNvSpPr txBox="1"/>
          <p:nvPr/>
        </p:nvSpPr>
        <p:spPr>
          <a:xfrm>
            <a:off x="3024835" y="2862072"/>
            <a:ext cx="1662379" cy="1417320"/>
          </a:xfrm>
          <a:prstGeom prst="rect">
            <a:avLst/>
          </a:prstGeom>
          <a:noFill/>
        </p:spPr>
        <p:txBody>
          <a:bodyPr wrap="square" lIns="0" tIns="0" rIns="0" bIns="0">
            <a:spAutoFit/>
          </a:bodyPr>
          <a:lstStyle/>
          <a:p>
            <a:pPr>
              <a:lnSpc>
                <a:spcPct val="108000"/>
              </a:lnSpc>
            </a:pPr>
            <a:r>
              <a:rPr sz="2000" b="0">
                <a:solidFill>
                  <a:srgbClr val="5C6875"/>
                </a:solidFill>
                <a:latin typeface="Calibri"/>
              </a:rPr>
              <a:t>Log MAC and signal strength</a:t>
            </a:r>
          </a:p>
        </p:txBody>
      </p:sp>
      <p:sp>
        <p:nvSpPr>
          <p:cNvPr id="13" name="TextBox 12"/>
          <p:cNvSpPr txBox="1"/>
          <p:nvPr/>
        </p:nvSpPr>
        <p:spPr>
          <a:xfrm>
            <a:off x="4851806" y="2834639"/>
            <a:ext cx="228600" cy="365760"/>
          </a:xfrm>
          <a:prstGeom prst="rect">
            <a:avLst/>
          </a:prstGeom>
          <a:noFill/>
        </p:spPr>
        <p:txBody>
          <a:bodyPr wrap="square" lIns="0" tIns="0" rIns="0" bIns="0">
            <a:spAutoFit/>
          </a:bodyPr>
          <a:lstStyle/>
          <a:p>
            <a:pPr algn="ctr"/>
            <a:r>
              <a:rPr sz="2200" b="0">
                <a:solidFill>
                  <a:srgbClr val="5C6875"/>
                </a:solidFill>
                <a:latin typeface="Calibri"/>
              </a:rPr>
              <a:t>→</a:t>
            </a:r>
          </a:p>
        </p:txBody>
      </p:sp>
      <p:sp>
        <p:nvSpPr>
          <p:cNvPr id="14" name="Rectangle 13"/>
          <p:cNvSpPr/>
          <p:nvPr/>
        </p:nvSpPr>
        <p:spPr>
          <a:xfrm>
            <a:off x="5080406" y="1783080"/>
            <a:ext cx="2028139" cy="2377440"/>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281574" y="2020824"/>
            <a:ext cx="1662379" cy="274320"/>
          </a:xfrm>
          <a:prstGeom prst="rect">
            <a:avLst/>
          </a:prstGeom>
          <a:noFill/>
        </p:spPr>
        <p:txBody>
          <a:bodyPr wrap="square" lIns="0" tIns="0" rIns="0" bIns="0">
            <a:spAutoFit/>
          </a:bodyPr>
          <a:lstStyle/>
          <a:p>
            <a:r>
              <a:rPr sz="1600" b="1">
                <a:solidFill>
                  <a:srgbClr val="16416E"/>
                </a:solidFill>
                <a:latin typeface="Consolas"/>
              </a:rPr>
              <a:t>03</a:t>
            </a:r>
          </a:p>
        </p:txBody>
      </p:sp>
      <p:sp>
        <p:nvSpPr>
          <p:cNvPr id="16" name="TextBox 15"/>
          <p:cNvSpPr txBox="1"/>
          <p:nvPr/>
        </p:nvSpPr>
        <p:spPr>
          <a:xfrm>
            <a:off x="5281574" y="2386584"/>
            <a:ext cx="1698955" cy="365760"/>
          </a:xfrm>
          <a:prstGeom prst="rect">
            <a:avLst/>
          </a:prstGeom>
          <a:noFill/>
        </p:spPr>
        <p:txBody>
          <a:bodyPr wrap="square" lIns="0" tIns="0" rIns="0" bIns="0">
            <a:spAutoFit/>
          </a:bodyPr>
          <a:lstStyle/>
          <a:p>
            <a:r>
              <a:rPr sz="1800" b="1">
                <a:solidFill>
                  <a:srgbClr val="101823"/>
                </a:solidFill>
                <a:latin typeface="Arial"/>
              </a:rPr>
              <a:t>BACKEND</a:t>
            </a:r>
          </a:p>
        </p:txBody>
      </p:sp>
      <p:sp>
        <p:nvSpPr>
          <p:cNvPr id="17" name="TextBox 16"/>
          <p:cNvSpPr txBox="1"/>
          <p:nvPr/>
        </p:nvSpPr>
        <p:spPr>
          <a:xfrm>
            <a:off x="5281574" y="2862072"/>
            <a:ext cx="1662379" cy="1417320"/>
          </a:xfrm>
          <a:prstGeom prst="rect">
            <a:avLst/>
          </a:prstGeom>
          <a:noFill/>
        </p:spPr>
        <p:txBody>
          <a:bodyPr wrap="square" lIns="0" tIns="0" rIns="0" bIns="0">
            <a:spAutoFit/>
          </a:bodyPr>
          <a:lstStyle/>
          <a:p>
            <a:pPr>
              <a:lnSpc>
                <a:spcPct val="108000"/>
              </a:lnSpc>
            </a:pPr>
            <a:r>
              <a:rPr sz="2000" b="0">
                <a:solidFill>
                  <a:srgbClr val="5C6875"/>
                </a:solidFill>
                <a:latin typeface="Calibri"/>
              </a:rPr>
              <a:t>Groups the readings by phone</a:t>
            </a:r>
          </a:p>
        </p:txBody>
      </p:sp>
      <p:sp>
        <p:nvSpPr>
          <p:cNvPr id="18" name="TextBox 17"/>
          <p:cNvSpPr txBox="1"/>
          <p:nvPr/>
        </p:nvSpPr>
        <p:spPr>
          <a:xfrm>
            <a:off x="7108545" y="2834639"/>
            <a:ext cx="228600" cy="365760"/>
          </a:xfrm>
          <a:prstGeom prst="rect">
            <a:avLst/>
          </a:prstGeom>
          <a:noFill/>
        </p:spPr>
        <p:txBody>
          <a:bodyPr wrap="square" lIns="0" tIns="0" rIns="0" bIns="0">
            <a:spAutoFit/>
          </a:bodyPr>
          <a:lstStyle/>
          <a:p>
            <a:pPr algn="ctr"/>
            <a:r>
              <a:rPr sz="2200" b="0">
                <a:solidFill>
                  <a:srgbClr val="5C6875"/>
                </a:solidFill>
                <a:latin typeface="Calibri"/>
              </a:rPr>
              <a:t>→</a:t>
            </a:r>
          </a:p>
        </p:txBody>
      </p:sp>
      <p:sp>
        <p:nvSpPr>
          <p:cNvPr id="19" name="Rectangle 18"/>
          <p:cNvSpPr/>
          <p:nvPr/>
        </p:nvSpPr>
        <p:spPr>
          <a:xfrm>
            <a:off x="7337145" y="1783080"/>
            <a:ext cx="2028139" cy="2377440"/>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538313" y="2020824"/>
            <a:ext cx="1662379" cy="274320"/>
          </a:xfrm>
          <a:prstGeom prst="rect">
            <a:avLst/>
          </a:prstGeom>
          <a:noFill/>
        </p:spPr>
        <p:txBody>
          <a:bodyPr wrap="square" lIns="0" tIns="0" rIns="0" bIns="0">
            <a:spAutoFit/>
          </a:bodyPr>
          <a:lstStyle/>
          <a:p>
            <a:r>
              <a:rPr sz="1600" b="1">
                <a:solidFill>
                  <a:srgbClr val="16416E"/>
                </a:solidFill>
                <a:latin typeface="Consolas"/>
              </a:rPr>
              <a:t>04</a:t>
            </a:r>
          </a:p>
        </p:txBody>
      </p:sp>
      <p:sp>
        <p:nvSpPr>
          <p:cNvPr id="21" name="TextBox 20"/>
          <p:cNvSpPr txBox="1"/>
          <p:nvPr/>
        </p:nvSpPr>
        <p:spPr>
          <a:xfrm>
            <a:off x="7538313" y="2386584"/>
            <a:ext cx="1698955" cy="365760"/>
          </a:xfrm>
          <a:prstGeom prst="rect">
            <a:avLst/>
          </a:prstGeom>
          <a:noFill/>
        </p:spPr>
        <p:txBody>
          <a:bodyPr wrap="square" lIns="0" tIns="0" rIns="0" bIns="0">
            <a:spAutoFit/>
          </a:bodyPr>
          <a:lstStyle/>
          <a:p>
            <a:r>
              <a:rPr sz="1800" b="1">
                <a:solidFill>
                  <a:srgbClr val="101823"/>
                </a:solidFill>
                <a:latin typeface="Arial"/>
              </a:rPr>
              <a:t>SOLVER</a:t>
            </a:r>
          </a:p>
        </p:txBody>
      </p:sp>
      <p:sp>
        <p:nvSpPr>
          <p:cNvPr id="22" name="TextBox 21"/>
          <p:cNvSpPr txBox="1"/>
          <p:nvPr/>
        </p:nvSpPr>
        <p:spPr>
          <a:xfrm>
            <a:off x="7538313" y="2862072"/>
            <a:ext cx="1662379" cy="1417320"/>
          </a:xfrm>
          <a:prstGeom prst="rect">
            <a:avLst/>
          </a:prstGeom>
          <a:noFill/>
        </p:spPr>
        <p:txBody>
          <a:bodyPr wrap="square" lIns="0" tIns="0" rIns="0" bIns="0">
            <a:spAutoFit/>
          </a:bodyPr>
          <a:lstStyle/>
          <a:p>
            <a:pPr>
              <a:lnSpc>
                <a:spcPct val="108000"/>
              </a:lnSpc>
            </a:pPr>
            <a:r>
              <a:rPr sz="2000" b="0">
                <a:solidFill>
                  <a:srgbClr val="5C6875"/>
                </a:solidFill>
                <a:latin typeface="Calibri"/>
              </a:rPr>
              <a:t>Turns three distances into one (x, y)</a:t>
            </a:r>
          </a:p>
        </p:txBody>
      </p:sp>
      <p:sp>
        <p:nvSpPr>
          <p:cNvPr id="23" name="TextBox 22"/>
          <p:cNvSpPr txBox="1"/>
          <p:nvPr/>
        </p:nvSpPr>
        <p:spPr>
          <a:xfrm>
            <a:off x="9365284" y="2834639"/>
            <a:ext cx="228600" cy="365760"/>
          </a:xfrm>
          <a:prstGeom prst="rect">
            <a:avLst/>
          </a:prstGeom>
          <a:noFill/>
        </p:spPr>
        <p:txBody>
          <a:bodyPr wrap="square" lIns="0" tIns="0" rIns="0" bIns="0">
            <a:spAutoFit/>
          </a:bodyPr>
          <a:lstStyle/>
          <a:p>
            <a:pPr algn="ctr"/>
            <a:r>
              <a:rPr sz="2200" b="0">
                <a:solidFill>
                  <a:srgbClr val="5C6875"/>
                </a:solidFill>
                <a:latin typeface="Calibri"/>
              </a:rPr>
              <a:t>→</a:t>
            </a:r>
          </a:p>
        </p:txBody>
      </p:sp>
      <p:sp>
        <p:nvSpPr>
          <p:cNvPr id="24" name="Rectangle 23"/>
          <p:cNvSpPr/>
          <p:nvPr/>
        </p:nvSpPr>
        <p:spPr>
          <a:xfrm>
            <a:off x="9593884" y="1783080"/>
            <a:ext cx="2028139" cy="2377440"/>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795052" y="2020824"/>
            <a:ext cx="1662379" cy="274320"/>
          </a:xfrm>
          <a:prstGeom prst="rect">
            <a:avLst/>
          </a:prstGeom>
          <a:noFill/>
        </p:spPr>
        <p:txBody>
          <a:bodyPr wrap="square" lIns="0" tIns="0" rIns="0" bIns="0">
            <a:spAutoFit/>
          </a:bodyPr>
          <a:lstStyle/>
          <a:p>
            <a:r>
              <a:rPr sz="1600" b="1">
                <a:solidFill>
                  <a:srgbClr val="16416E"/>
                </a:solidFill>
                <a:latin typeface="Consolas"/>
              </a:rPr>
              <a:t>05</a:t>
            </a:r>
          </a:p>
        </p:txBody>
      </p:sp>
      <p:sp>
        <p:nvSpPr>
          <p:cNvPr id="26" name="TextBox 25"/>
          <p:cNvSpPr txBox="1"/>
          <p:nvPr/>
        </p:nvSpPr>
        <p:spPr>
          <a:xfrm>
            <a:off x="9795052" y="2386584"/>
            <a:ext cx="1698955" cy="365760"/>
          </a:xfrm>
          <a:prstGeom prst="rect">
            <a:avLst/>
          </a:prstGeom>
          <a:noFill/>
        </p:spPr>
        <p:txBody>
          <a:bodyPr wrap="square" lIns="0" tIns="0" rIns="0" bIns="0">
            <a:spAutoFit/>
          </a:bodyPr>
          <a:lstStyle/>
          <a:p>
            <a:r>
              <a:rPr sz="1800" b="1">
                <a:solidFill>
                  <a:srgbClr val="101823"/>
                </a:solidFill>
                <a:latin typeface="Arial"/>
              </a:rPr>
              <a:t>LIVE MAP</a:t>
            </a:r>
          </a:p>
        </p:txBody>
      </p:sp>
      <p:sp>
        <p:nvSpPr>
          <p:cNvPr id="27" name="TextBox 26"/>
          <p:cNvSpPr txBox="1"/>
          <p:nvPr/>
        </p:nvSpPr>
        <p:spPr>
          <a:xfrm>
            <a:off x="9795052" y="2862072"/>
            <a:ext cx="1662379" cy="1417320"/>
          </a:xfrm>
          <a:prstGeom prst="rect">
            <a:avLst/>
          </a:prstGeom>
          <a:noFill/>
        </p:spPr>
        <p:txBody>
          <a:bodyPr wrap="square" lIns="0" tIns="0" rIns="0" bIns="0">
            <a:spAutoFit/>
          </a:bodyPr>
          <a:lstStyle/>
          <a:p>
            <a:pPr>
              <a:lnSpc>
                <a:spcPct val="108000"/>
              </a:lnSpc>
            </a:pPr>
            <a:r>
              <a:rPr sz="2000" b="0">
                <a:solidFill>
                  <a:srgbClr val="5C6875"/>
                </a:solidFill>
                <a:latin typeface="Calibri"/>
              </a:rPr>
              <a:t>Shows density, every second</a:t>
            </a:r>
          </a:p>
        </p:txBody>
      </p:sp>
      <p:sp>
        <p:nvSpPr>
          <p:cNvPr id="28" name="TextBox 27"/>
          <p:cNvSpPr txBox="1"/>
          <p:nvPr/>
        </p:nvSpPr>
        <p:spPr>
          <a:xfrm>
            <a:off x="566928" y="4663440"/>
            <a:ext cx="11055096" cy="274320"/>
          </a:xfrm>
          <a:prstGeom prst="rect">
            <a:avLst/>
          </a:prstGeom>
          <a:noFill/>
        </p:spPr>
        <p:txBody>
          <a:bodyPr wrap="square" lIns="0" tIns="0" rIns="0" bIns="0">
            <a:spAutoFit/>
          </a:bodyPr>
          <a:lstStyle/>
          <a:p>
            <a:r>
              <a:rPr sz="1500" b="1">
                <a:solidFill>
                  <a:srgbClr val="B14A20"/>
                </a:solidFill>
                <a:latin typeface="Arial"/>
              </a:rPr>
              <a:t>LIVE DEMO</a:t>
            </a:r>
          </a:p>
        </p:txBody>
      </p:sp>
      <p:sp>
        <p:nvSpPr>
          <p:cNvPr id="29" name="TextBox 28"/>
          <p:cNvSpPr txBox="1"/>
          <p:nvPr/>
        </p:nvSpPr>
        <p:spPr>
          <a:xfrm>
            <a:off x="566928" y="5010912"/>
            <a:ext cx="11055096" cy="457200"/>
          </a:xfrm>
          <a:prstGeom prst="rect">
            <a:avLst/>
          </a:prstGeom>
          <a:noFill/>
        </p:spPr>
        <p:txBody>
          <a:bodyPr wrap="square" lIns="0" tIns="0" rIns="0" bIns="0">
            <a:spAutoFit/>
          </a:bodyPr>
          <a:lstStyle/>
          <a:p>
            <a:r>
              <a:rPr sz="2600" b="0">
                <a:solidFill>
                  <a:srgbClr val="101823"/>
                </a:solidFill>
                <a:latin typeface="Calibri"/>
              </a:rPr>
              <a:t>Stage 02 is running on the ESP32 in front of you.</a:t>
            </a:r>
          </a:p>
        </p:txBody>
      </p:sp>
      <p:sp>
        <p:nvSpPr>
          <p:cNvPr id="30" name="TextBox 29"/>
          <p:cNvSpPr txBox="1"/>
          <p:nvPr/>
        </p:nvSpPr>
        <p:spPr>
          <a:xfrm>
            <a:off x="566928" y="5541264"/>
            <a:ext cx="11055096" cy="411480"/>
          </a:xfrm>
          <a:prstGeom prst="rect">
            <a:avLst/>
          </a:prstGeom>
          <a:noFill/>
        </p:spPr>
        <p:txBody>
          <a:bodyPr wrap="square" lIns="0" tIns="0" rIns="0" bIns="0">
            <a:spAutoFit/>
          </a:bodyPr>
          <a:lstStyle/>
          <a:p>
            <a:r>
              <a:rPr sz="2000" b="0">
                <a:solidFill>
                  <a:srgbClr val="5C6875"/>
                </a:solidFill>
                <a:latin typeface="Calibri"/>
              </a:rPr>
              <a:t>In deployment, each of three UAVs carries one node.</a:t>
            </a:r>
          </a:p>
        </p:txBody>
      </p:sp>
      <p:sp>
        <p:nvSpPr>
          <p:cNvPr id="31" name="TextBox 30"/>
          <p:cNvSpPr txBox="1"/>
          <p:nvPr/>
        </p:nvSpPr>
        <p:spPr>
          <a:xfrm>
            <a:off x="10890504" y="6382512"/>
            <a:ext cx="731520" cy="274320"/>
          </a:xfrm>
          <a:prstGeom prst="rect">
            <a:avLst/>
          </a:prstGeom>
          <a:noFill/>
        </p:spPr>
        <p:txBody>
          <a:bodyPr wrap="square" lIns="0" tIns="0" rIns="0" bIns="0">
            <a:spAutoFit/>
          </a:bodyPr>
          <a:lstStyle/>
          <a:p>
            <a:pPr algn="r"/>
            <a:r>
              <a:rPr sz="1100" b="0">
                <a:solidFill>
                  <a:srgbClr val="5C6875"/>
                </a:solidFill>
                <a:latin typeface="Arial"/>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imulation video" descr="Simulation of a three-UAV ESP32 deployment: drones take formation, phones broadcast, RSSI ranging, least-squares fixes, and a live density map that flags a stage-front hotspot.">
            <a:hlinkClick r:id="" action="ppaction://media"/>
            <a:extLst>
              <a:ext uri="{FF2B5EF4-FFF2-40B4-BE49-F238E27FC236}">
                <a16:creationId xmlns:a16="http://schemas.microsoft.com/office/drawing/2014/main" id="{B289B503-7FA2-22E9-E25F-9FB945DD093E}"/>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2000" cy="6858000"/>
          </a:xfrm>
          <a:prstGeom prst="rect">
            <a:avLst/>
          </a:prstGeom>
        </p:spPr>
      </p:pic>
      <p:sp>
        <p:nvSpPr>
          <p:cNvPr id="2" name="TextBox 1"/>
          <p:cNvSpPr txBox="1"/>
          <p:nvPr/>
        </p:nvSpPr>
        <p:spPr>
          <a:xfrm>
            <a:off x="10890504" y="6382512"/>
            <a:ext cx="731520" cy="274320"/>
          </a:xfrm>
          <a:prstGeom prst="rect">
            <a:avLst/>
          </a:prstGeom>
          <a:noFill/>
        </p:spPr>
        <p:txBody>
          <a:bodyPr wrap="square" lIns="0" tIns="0" rIns="0" bIns="0">
            <a:spAutoFit/>
          </a:bodyPr>
          <a:lstStyle/>
          <a:p>
            <a:pPr algn="r"/>
            <a:r>
              <a:rPr sz="1100" b="0">
                <a:solidFill>
                  <a:srgbClr val="5C6875"/>
                </a:solidFill>
                <a:latin typeface="Arial"/>
              </a:rPr>
              <a:t>04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457200"/>
            <a:ext cx="11055096" cy="274320"/>
          </a:xfrm>
          <a:prstGeom prst="rect">
            <a:avLst/>
          </a:prstGeom>
          <a:noFill/>
        </p:spPr>
        <p:txBody>
          <a:bodyPr wrap="square" lIns="0" tIns="0" rIns="0" bIns="0">
            <a:spAutoFit/>
          </a:bodyPr>
          <a:lstStyle/>
          <a:p>
            <a:r>
              <a:rPr sz="1400" b="1">
                <a:solidFill>
                  <a:srgbClr val="16416E"/>
                </a:solidFill>
                <a:latin typeface="Arial"/>
              </a:rPr>
              <a:t>SIMULATION RESULTS</a:t>
            </a:r>
          </a:p>
        </p:txBody>
      </p:sp>
      <p:sp>
        <p:nvSpPr>
          <p:cNvPr id="3" name="TextBox 2"/>
          <p:cNvSpPr txBox="1"/>
          <p:nvPr/>
        </p:nvSpPr>
        <p:spPr>
          <a:xfrm>
            <a:off x="566928" y="804672"/>
            <a:ext cx="11055096" cy="731520"/>
          </a:xfrm>
          <a:prstGeom prst="rect">
            <a:avLst/>
          </a:prstGeom>
          <a:noFill/>
        </p:spPr>
        <p:txBody>
          <a:bodyPr wrap="square" lIns="0" tIns="0" rIns="0" bIns="0">
            <a:spAutoFit/>
          </a:bodyPr>
          <a:lstStyle/>
          <a:p>
            <a:r>
              <a:rPr sz="4000" b="1">
                <a:solidFill>
                  <a:srgbClr val="101823"/>
                </a:solidFill>
                <a:latin typeface="Arial"/>
              </a:rPr>
              <a:t>The solver lands within 2.8 m.</a:t>
            </a:r>
          </a:p>
        </p:txBody>
      </p:sp>
      <p:pic>
        <p:nvPicPr>
          <p:cNvPr id="4" name="Picture 3" descr="accuracy_map_big.png"/>
          <p:cNvPicPr>
            <a:picLocks noChangeAspect="1"/>
          </p:cNvPicPr>
          <p:nvPr/>
        </p:nvPicPr>
        <p:blipFill>
          <a:blip r:embed="rId3"/>
          <a:stretch>
            <a:fillRect/>
          </a:stretch>
        </p:blipFill>
        <p:spPr>
          <a:xfrm>
            <a:off x="566928" y="1627632"/>
            <a:ext cx="5852160" cy="4160520"/>
          </a:xfrm>
          <a:prstGeom prst="rect">
            <a:avLst/>
          </a:prstGeom>
        </p:spPr>
      </p:pic>
      <p:sp>
        <p:nvSpPr>
          <p:cNvPr id="5" name="TextBox 4"/>
          <p:cNvSpPr txBox="1"/>
          <p:nvPr/>
        </p:nvSpPr>
        <p:spPr>
          <a:xfrm>
            <a:off x="566928" y="5870448"/>
            <a:ext cx="6035040" cy="292608"/>
          </a:xfrm>
          <a:prstGeom prst="rect">
            <a:avLst/>
          </a:prstGeom>
          <a:noFill/>
        </p:spPr>
        <p:txBody>
          <a:bodyPr wrap="square" lIns="0" tIns="0" rIns="0" bIns="0">
            <a:spAutoFit/>
          </a:bodyPr>
          <a:lstStyle/>
          <a:p>
            <a:r>
              <a:rPr sz="1400" b="0">
                <a:solidFill>
                  <a:srgbClr val="5C6875"/>
                </a:solidFill>
                <a:latin typeface="Calibri"/>
              </a:rPr>
              <a:t>282,240 simulated solves  ·  4 dB signal noise  ·  backend defaults (−40 dBm, n = 2.0)</a:t>
            </a:r>
          </a:p>
        </p:txBody>
      </p:sp>
      <p:sp>
        <p:nvSpPr>
          <p:cNvPr id="6" name="TextBox 5"/>
          <p:cNvSpPr txBox="1"/>
          <p:nvPr/>
        </p:nvSpPr>
        <p:spPr>
          <a:xfrm>
            <a:off x="6858000" y="1700784"/>
            <a:ext cx="4764024" cy="868680"/>
          </a:xfrm>
          <a:prstGeom prst="rect">
            <a:avLst/>
          </a:prstGeom>
          <a:noFill/>
        </p:spPr>
        <p:txBody>
          <a:bodyPr wrap="square" lIns="0" tIns="0" rIns="0" bIns="0">
            <a:spAutoFit/>
          </a:bodyPr>
          <a:lstStyle/>
          <a:p>
            <a:r>
              <a:rPr sz="6000" b="1">
                <a:solidFill>
                  <a:srgbClr val="16416E"/>
                </a:solidFill>
                <a:latin typeface="Arial"/>
              </a:rPr>
              <a:t>2.8 m</a:t>
            </a:r>
          </a:p>
        </p:txBody>
      </p:sp>
      <p:sp>
        <p:nvSpPr>
          <p:cNvPr id="7" name="TextBox 6"/>
          <p:cNvSpPr txBox="1"/>
          <p:nvPr/>
        </p:nvSpPr>
        <p:spPr>
          <a:xfrm>
            <a:off x="6858000" y="2596896"/>
            <a:ext cx="4764024" cy="384048"/>
          </a:xfrm>
          <a:prstGeom prst="rect">
            <a:avLst/>
          </a:prstGeom>
          <a:noFill/>
        </p:spPr>
        <p:txBody>
          <a:bodyPr wrap="square" lIns="0" tIns="0" rIns="0" bIns="0">
            <a:spAutoFit/>
          </a:bodyPr>
          <a:lstStyle/>
          <a:p>
            <a:r>
              <a:rPr sz="2200" b="0">
                <a:solidFill>
                  <a:srgbClr val="5C6875"/>
                </a:solidFill>
                <a:latin typeface="Calibri"/>
              </a:rPr>
              <a:t>inside the node triangle</a:t>
            </a:r>
          </a:p>
        </p:txBody>
      </p:sp>
      <p:sp>
        <p:nvSpPr>
          <p:cNvPr id="8" name="Rectangle 7"/>
          <p:cNvSpPr/>
          <p:nvPr/>
        </p:nvSpPr>
        <p:spPr>
          <a:xfrm>
            <a:off x="6858000" y="3026664"/>
            <a:ext cx="4764024" cy="13716"/>
          </a:xfrm>
          <a:prstGeom prst="rect">
            <a:avLst/>
          </a:prstGeom>
          <a:solidFill>
            <a:srgbClr val="DF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0" y="3182112"/>
            <a:ext cx="4764024" cy="868680"/>
          </a:xfrm>
          <a:prstGeom prst="rect">
            <a:avLst/>
          </a:prstGeom>
          <a:noFill/>
        </p:spPr>
        <p:txBody>
          <a:bodyPr wrap="square" lIns="0" tIns="0" rIns="0" bIns="0">
            <a:spAutoFit/>
          </a:bodyPr>
          <a:lstStyle/>
          <a:p>
            <a:r>
              <a:rPr sz="6000" b="1">
                <a:solidFill>
                  <a:srgbClr val="16416E"/>
                </a:solidFill>
                <a:latin typeface="Arial"/>
              </a:rPr>
              <a:t>4.8 m</a:t>
            </a:r>
          </a:p>
        </p:txBody>
      </p:sp>
      <p:sp>
        <p:nvSpPr>
          <p:cNvPr id="10" name="TextBox 9"/>
          <p:cNvSpPr txBox="1"/>
          <p:nvPr/>
        </p:nvSpPr>
        <p:spPr>
          <a:xfrm>
            <a:off x="6858000" y="4078224"/>
            <a:ext cx="4764024" cy="384048"/>
          </a:xfrm>
          <a:prstGeom prst="rect">
            <a:avLst/>
          </a:prstGeom>
          <a:noFill/>
        </p:spPr>
        <p:txBody>
          <a:bodyPr wrap="square" lIns="0" tIns="0" rIns="0" bIns="0">
            <a:spAutoFit/>
          </a:bodyPr>
          <a:lstStyle/>
          <a:p>
            <a:r>
              <a:rPr sz="2200" b="0">
                <a:solidFill>
                  <a:srgbClr val="5C6875"/>
                </a:solidFill>
                <a:latin typeface="Calibri"/>
              </a:rPr>
              <a:t>outside it — so fly over the crowd</a:t>
            </a:r>
          </a:p>
        </p:txBody>
      </p:sp>
      <p:sp>
        <p:nvSpPr>
          <p:cNvPr id="11" name="Rectangle 10"/>
          <p:cNvSpPr/>
          <p:nvPr/>
        </p:nvSpPr>
        <p:spPr>
          <a:xfrm>
            <a:off x="6858000" y="4507992"/>
            <a:ext cx="4764024" cy="13716"/>
          </a:xfrm>
          <a:prstGeom prst="rect">
            <a:avLst/>
          </a:prstGeom>
          <a:solidFill>
            <a:srgbClr val="DF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58000" y="4663440"/>
            <a:ext cx="4764024" cy="868680"/>
          </a:xfrm>
          <a:prstGeom prst="rect">
            <a:avLst/>
          </a:prstGeom>
          <a:noFill/>
        </p:spPr>
        <p:txBody>
          <a:bodyPr wrap="square" lIns="0" tIns="0" rIns="0" bIns="0">
            <a:spAutoFit/>
          </a:bodyPr>
          <a:lstStyle/>
          <a:p>
            <a:r>
              <a:rPr sz="6000" b="1">
                <a:solidFill>
                  <a:srgbClr val="B14A20"/>
                </a:solidFill>
                <a:latin typeface="Arial"/>
              </a:rPr>
              <a:t>~35 m</a:t>
            </a:r>
          </a:p>
        </p:txBody>
      </p:sp>
      <p:sp>
        <p:nvSpPr>
          <p:cNvPr id="13" name="TextBox 12"/>
          <p:cNvSpPr txBox="1"/>
          <p:nvPr/>
        </p:nvSpPr>
        <p:spPr>
          <a:xfrm>
            <a:off x="6858000" y="5559552"/>
            <a:ext cx="4764024" cy="384048"/>
          </a:xfrm>
          <a:prstGeom prst="rect">
            <a:avLst/>
          </a:prstGeom>
          <a:noFill/>
        </p:spPr>
        <p:txBody>
          <a:bodyPr wrap="square" lIns="0" tIns="0" rIns="0" bIns="0">
            <a:spAutoFit/>
          </a:bodyPr>
          <a:lstStyle/>
          <a:p>
            <a:r>
              <a:rPr sz="2200" b="0">
                <a:solidFill>
                  <a:srgbClr val="5C6875"/>
                </a:solidFill>
                <a:latin typeface="Calibri"/>
              </a:rPr>
              <a:t>if n is wrong — so calibrate on site</a:t>
            </a:r>
          </a:p>
        </p:txBody>
      </p:sp>
      <p:sp>
        <p:nvSpPr>
          <p:cNvPr id="14" name="TextBox 13"/>
          <p:cNvSpPr txBox="1"/>
          <p:nvPr/>
        </p:nvSpPr>
        <p:spPr>
          <a:xfrm>
            <a:off x="10890504" y="6382512"/>
            <a:ext cx="731520" cy="274320"/>
          </a:xfrm>
          <a:prstGeom prst="rect">
            <a:avLst/>
          </a:prstGeom>
          <a:noFill/>
        </p:spPr>
        <p:txBody>
          <a:bodyPr wrap="square" lIns="0" tIns="0" rIns="0" bIns="0">
            <a:spAutoFit/>
          </a:bodyPr>
          <a:lstStyle/>
          <a:p>
            <a:pPr algn="r"/>
            <a:r>
              <a:rPr sz="1100" b="0">
                <a:solidFill>
                  <a:srgbClr val="5C6875"/>
                </a:solidFill>
                <a:latin typeface="Arial"/>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457200"/>
            <a:ext cx="11055096" cy="274320"/>
          </a:xfrm>
          <a:prstGeom prst="rect">
            <a:avLst/>
          </a:prstGeom>
          <a:noFill/>
        </p:spPr>
        <p:txBody>
          <a:bodyPr wrap="square" lIns="0" tIns="0" rIns="0" bIns="0">
            <a:spAutoFit/>
          </a:bodyPr>
          <a:lstStyle/>
          <a:p>
            <a:r>
              <a:rPr sz="1400" b="1">
                <a:solidFill>
                  <a:srgbClr val="16416E"/>
                </a:solidFill>
                <a:latin typeface="Arial"/>
              </a:rPr>
              <a:t>WHERE IT STANDS</a:t>
            </a:r>
          </a:p>
        </p:txBody>
      </p:sp>
      <p:sp>
        <p:nvSpPr>
          <p:cNvPr id="3" name="TextBox 2"/>
          <p:cNvSpPr txBox="1"/>
          <p:nvPr/>
        </p:nvSpPr>
        <p:spPr>
          <a:xfrm>
            <a:off x="566928" y="804672"/>
            <a:ext cx="11055096" cy="731520"/>
          </a:xfrm>
          <a:prstGeom prst="rect">
            <a:avLst/>
          </a:prstGeom>
          <a:noFill/>
        </p:spPr>
        <p:txBody>
          <a:bodyPr wrap="square" lIns="0" tIns="0" rIns="0" bIns="0">
            <a:spAutoFit/>
          </a:bodyPr>
          <a:lstStyle/>
          <a:p>
            <a:r>
              <a:rPr sz="4000" b="1">
                <a:solidFill>
                  <a:srgbClr val="101823"/>
                </a:solidFill>
                <a:latin typeface="Arial"/>
              </a:rPr>
              <a:t>Built, and what comes next.</a:t>
            </a:r>
          </a:p>
        </p:txBody>
      </p:sp>
      <p:sp>
        <p:nvSpPr>
          <p:cNvPr id="4" name="Rectangle 3"/>
          <p:cNvSpPr/>
          <p:nvPr/>
        </p:nvSpPr>
        <p:spPr>
          <a:xfrm>
            <a:off x="566928" y="1783080"/>
            <a:ext cx="5394960" cy="2880360"/>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50976" y="2103120"/>
            <a:ext cx="4663440" cy="292608"/>
          </a:xfrm>
          <a:prstGeom prst="rect">
            <a:avLst/>
          </a:prstGeom>
          <a:noFill/>
        </p:spPr>
        <p:txBody>
          <a:bodyPr wrap="square" lIns="0" tIns="0" rIns="0" bIns="0">
            <a:spAutoFit/>
          </a:bodyPr>
          <a:lstStyle/>
          <a:p>
            <a:r>
              <a:rPr sz="1600" b="1">
                <a:solidFill>
                  <a:srgbClr val="16416E"/>
                </a:solidFill>
                <a:latin typeface="Arial"/>
              </a:rPr>
              <a:t>BUILT</a:t>
            </a:r>
          </a:p>
        </p:txBody>
      </p:sp>
      <p:sp>
        <p:nvSpPr>
          <p:cNvPr id="6" name="TextBox 5"/>
          <p:cNvSpPr txBox="1"/>
          <p:nvPr/>
        </p:nvSpPr>
        <p:spPr>
          <a:xfrm>
            <a:off x="950976" y="2651760"/>
            <a:ext cx="4754880" cy="2377440"/>
          </a:xfrm>
          <a:prstGeom prst="rect">
            <a:avLst/>
          </a:prstGeom>
          <a:noFill/>
        </p:spPr>
        <p:txBody>
          <a:bodyPr wrap="square" lIns="0" tIns="0" rIns="0" bIns="0">
            <a:spAutoFit/>
          </a:bodyPr>
          <a:lstStyle/>
          <a:p>
            <a:pPr>
              <a:spcAft>
                <a:spcPts val="1600"/>
              </a:spcAft>
            </a:pPr>
            <a:r>
              <a:rPr sz="2400" b="1">
                <a:solidFill>
                  <a:srgbClr val="16416E"/>
                </a:solidFill>
                <a:latin typeface="Calibri"/>
              </a:rPr>
              <a:t>—   </a:t>
            </a:r>
            <a:r>
              <a:rPr sz="2400" b="0">
                <a:solidFill>
                  <a:srgbClr val="101823"/>
                </a:solidFill>
                <a:latin typeface="Calibri"/>
              </a:rPr>
              <a:t>ESP32 nodes capturing live</a:t>
            </a:r>
          </a:p>
          <a:p>
            <a:pPr>
              <a:spcAft>
                <a:spcPts val="1600"/>
              </a:spcAft>
            </a:pPr>
            <a:r>
              <a:rPr sz="2400" b="1">
                <a:solidFill>
                  <a:srgbClr val="16416E"/>
                </a:solidFill>
                <a:latin typeface="Calibri"/>
              </a:rPr>
              <a:t>—   </a:t>
            </a:r>
            <a:r>
              <a:rPr sz="2400" b="0">
                <a:solidFill>
                  <a:srgbClr val="101823"/>
                </a:solidFill>
                <a:latin typeface="Calibri"/>
              </a:rPr>
              <a:t>Least-squares backend</a:t>
            </a:r>
          </a:p>
          <a:p>
            <a:pPr>
              <a:spcAft>
                <a:spcPts val="1600"/>
              </a:spcAft>
            </a:pPr>
            <a:r>
              <a:rPr sz="2400" b="1">
                <a:solidFill>
                  <a:srgbClr val="16416E"/>
                </a:solidFill>
                <a:latin typeface="Calibri"/>
              </a:rPr>
              <a:t>—   </a:t>
            </a:r>
            <a:r>
              <a:rPr sz="2400" b="0">
                <a:solidFill>
                  <a:srgbClr val="101823"/>
                </a:solidFill>
                <a:latin typeface="Calibri"/>
              </a:rPr>
              <a:t>Live map and full simulation</a:t>
            </a:r>
          </a:p>
        </p:txBody>
      </p:sp>
      <p:sp>
        <p:nvSpPr>
          <p:cNvPr id="7" name="Rectangle 6"/>
          <p:cNvSpPr/>
          <p:nvPr/>
        </p:nvSpPr>
        <p:spPr>
          <a:xfrm>
            <a:off x="6227064" y="1783080"/>
            <a:ext cx="5394960" cy="2880360"/>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11112" y="2103120"/>
            <a:ext cx="4663440" cy="292608"/>
          </a:xfrm>
          <a:prstGeom prst="rect">
            <a:avLst/>
          </a:prstGeom>
          <a:noFill/>
        </p:spPr>
        <p:txBody>
          <a:bodyPr wrap="square" lIns="0" tIns="0" rIns="0" bIns="0">
            <a:spAutoFit/>
          </a:bodyPr>
          <a:lstStyle/>
          <a:p>
            <a:r>
              <a:rPr sz="1600" b="1">
                <a:solidFill>
                  <a:srgbClr val="B14A20"/>
                </a:solidFill>
                <a:latin typeface="Arial"/>
              </a:rPr>
              <a:t>NEXT</a:t>
            </a:r>
          </a:p>
        </p:txBody>
      </p:sp>
      <p:sp>
        <p:nvSpPr>
          <p:cNvPr id="9" name="TextBox 8"/>
          <p:cNvSpPr txBox="1"/>
          <p:nvPr/>
        </p:nvSpPr>
        <p:spPr>
          <a:xfrm>
            <a:off x="6611112" y="2651760"/>
            <a:ext cx="4754880" cy="2377440"/>
          </a:xfrm>
          <a:prstGeom prst="rect">
            <a:avLst/>
          </a:prstGeom>
          <a:noFill/>
        </p:spPr>
        <p:txBody>
          <a:bodyPr wrap="square" lIns="0" tIns="0" rIns="0" bIns="0">
            <a:spAutoFit/>
          </a:bodyPr>
          <a:lstStyle/>
          <a:p>
            <a:pPr>
              <a:spcAft>
                <a:spcPts val="1600"/>
              </a:spcAft>
            </a:pPr>
            <a:r>
              <a:rPr sz="2400" b="1">
                <a:solidFill>
                  <a:srgbClr val="B14A20"/>
                </a:solidFill>
                <a:latin typeface="Calibri"/>
              </a:rPr>
              <a:t>—   </a:t>
            </a:r>
            <a:r>
              <a:rPr sz="2400" b="0">
                <a:solidFill>
                  <a:srgbClr val="101823"/>
                </a:solidFill>
                <a:latin typeface="Calibri"/>
              </a:rPr>
              <a:t>Calibrate n on site</a:t>
            </a:r>
          </a:p>
          <a:p>
            <a:pPr>
              <a:spcAft>
                <a:spcPts val="1600"/>
              </a:spcAft>
            </a:pPr>
            <a:r>
              <a:rPr sz="2400" b="1">
                <a:solidFill>
                  <a:srgbClr val="B14A20"/>
                </a:solidFill>
                <a:latin typeface="Calibri"/>
              </a:rPr>
              <a:t>—   </a:t>
            </a:r>
            <a:r>
              <a:rPr sz="2400" b="0">
                <a:solidFill>
                  <a:srgbClr val="101823"/>
                </a:solidFill>
                <a:latin typeface="Calibri"/>
              </a:rPr>
              <a:t>Field accuracy test</a:t>
            </a:r>
          </a:p>
          <a:p>
            <a:pPr>
              <a:spcAft>
                <a:spcPts val="1600"/>
              </a:spcAft>
            </a:pPr>
            <a:r>
              <a:rPr sz="2400" b="1">
                <a:solidFill>
                  <a:srgbClr val="B14A20"/>
                </a:solidFill>
                <a:latin typeface="Calibri"/>
              </a:rPr>
              <a:t>—   </a:t>
            </a:r>
            <a:r>
              <a:rPr sz="2400" b="0">
                <a:solidFill>
                  <a:srgbClr val="101823"/>
                </a:solidFill>
                <a:latin typeface="Calibri"/>
              </a:rPr>
              <a:t>Fly three nodes on UAVs</a:t>
            </a:r>
          </a:p>
        </p:txBody>
      </p:sp>
      <p:sp>
        <p:nvSpPr>
          <p:cNvPr id="10" name="Rectangle 9"/>
          <p:cNvSpPr/>
          <p:nvPr/>
        </p:nvSpPr>
        <p:spPr>
          <a:xfrm>
            <a:off x="566928" y="5074920"/>
            <a:ext cx="11055096" cy="13716"/>
          </a:xfrm>
          <a:prstGeom prst="rect">
            <a:avLst/>
          </a:prstGeom>
          <a:solidFill>
            <a:srgbClr val="DF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 y="5349240"/>
            <a:ext cx="6858000" cy="365760"/>
          </a:xfrm>
          <a:prstGeom prst="rect">
            <a:avLst/>
          </a:prstGeom>
          <a:noFill/>
        </p:spPr>
        <p:txBody>
          <a:bodyPr wrap="square" lIns="0" tIns="0" rIns="0" bIns="0">
            <a:spAutoFit/>
          </a:bodyPr>
          <a:lstStyle/>
          <a:p>
            <a:r>
              <a:rPr sz="1800" b="0">
                <a:solidFill>
                  <a:srgbClr val="5C6875"/>
                </a:solidFill>
                <a:latin typeface="Calibri"/>
              </a:rPr>
              <a:t>Aryan Kochhar  23BAI1533        Hari Samhita  23BAI1473</a:t>
            </a:r>
          </a:p>
        </p:txBody>
      </p:sp>
      <p:sp>
        <p:nvSpPr>
          <p:cNvPr id="12" name="TextBox 11"/>
          <p:cNvSpPr txBox="1"/>
          <p:nvPr/>
        </p:nvSpPr>
        <p:spPr>
          <a:xfrm>
            <a:off x="7507224" y="5230368"/>
            <a:ext cx="4114800" cy="548640"/>
          </a:xfrm>
          <a:prstGeom prst="rect">
            <a:avLst/>
          </a:prstGeom>
          <a:noFill/>
        </p:spPr>
        <p:txBody>
          <a:bodyPr wrap="square" lIns="0" tIns="0" rIns="0" bIns="0">
            <a:spAutoFit/>
          </a:bodyPr>
          <a:lstStyle/>
          <a:p>
            <a:pPr algn="r"/>
            <a:r>
              <a:rPr sz="3000" b="1">
                <a:solidFill>
                  <a:srgbClr val="16416E"/>
                </a:solidFill>
                <a:latin typeface="Arial"/>
              </a:rPr>
              <a:t>Thank you.</a:t>
            </a:r>
          </a:p>
        </p:txBody>
      </p:sp>
      <p:sp>
        <p:nvSpPr>
          <p:cNvPr id="13" name="TextBox 12"/>
          <p:cNvSpPr txBox="1"/>
          <p:nvPr/>
        </p:nvSpPr>
        <p:spPr>
          <a:xfrm>
            <a:off x="10890504" y="6382512"/>
            <a:ext cx="731520" cy="274320"/>
          </a:xfrm>
          <a:prstGeom prst="rect">
            <a:avLst/>
          </a:prstGeom>
          <a:noFill/>
        </p:spPr>
        <p:txBody>
          <a:bodyPr wrap="square" lIns="0" tIns="0" rIns="0" bIns="0">
            <a:spAutoFit/>
          </a:bodyPr>
          <a:lstStyle/>
          <a:p>
            <a:pPr algn="r"/>
            <a:r>
              <a:rPr sz="1100" b="0">
                <a:solidFill>
                  <a:srgbClr val="5C6875"/>
                </a:solidFill>
                <a:latin typeface="Arial"/>
              </a:rPr>
              <a:t>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721</Words>
  <Application>Microsoft Office PowerPoint</Application>
  <PresentationFormat>Widescreen</PresentationFormat>
  <Paragraphs>77</Paragraphs>
  <Slides>6</Slides>
  <Notes>6</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Aryan Kochhar</cp:lastModifiedBy>
  <cp:revision>2</cp:revision>
  <dcterms:created xsi:type="dcterms:W3CDTF">2013-01-27T09:14:16Z</dcterms:created>
  <dcterms:modified xsi:type="dcterms:W3CDTF">2026-10-25T06:23:23Z</dcterms:modified>
  <cp:category/>
</cp:coreProperties>
</file>